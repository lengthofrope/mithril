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71D303-0D3B-4CE8-8352-27F9BD8500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3EE1F4-03EE-4C8D-AA67-3A6806D02F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E12D44-A4C0-4CC4-A810-3B750E576C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0A2356-8732-43ED-B217-C973BC3BB9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EE16EE-56D1-45F5-92CD-1933C8C4F0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37B668-0315-4825-B6D2-EB095DACB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0B7C13-F16A-4ED9-9835-E5558BE543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349386-75A9-467C-9C08-790F817A8C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D3CA92-1360-48D2-8CCB-95A569F679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E1AC8C-B238-4A2F-BEA1-9F816D70F0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9BC6DE-360D-48D1-84CB-53B0B0C36E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1371600" y="1371600"/>
            <a:ext cx="91436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TDD, ADR &amp;</a:t>
            </a:r>
            <a:br>
              <a:rPr sz="5200"/>
            </a:b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AI-Assisted Development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371600" y="3840480"/>
            <a:ext cx="7314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Hoe je voorkomt dat je AI-assistent je codebase sloopt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1371600" y="4754880"/>
            <a:ext cx="1828440" cy="36360"/>
          </a:xfrm>
          <a:prstGeom prst="rect">
            <a:avLst/>
          </a:prstGeom>
          <a:solidFill>
            <a:srgbClr val="c49a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502920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Case study: Mithril</a:t>
            </a:r>
            <a:br>
              <a:rPr sz="1800"/>
            </a:br>
            <a:r>
              <a:rPr lang="en-US" sz="18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418 commits  |  1091 tests  |  28 ADRs  |  3 weken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914400" y="5486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Oval 3"/>
          <p:cNvSpPr/>
          <p:nvPr/>
        </p:nvSpPr>
        <p:spPr>
          <a:xfrm>
            <a:off x="1371600" y="1645920"/>
            <a:ext cx="639720" cy="6397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2286000" y="164592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Het Probleem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2286000" y="201168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Context Rot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Oval 6"/>
          <p:cNvSpPr/>
          <p:nvPr/>
        </p:nvSpPr>
        <p:spPr>
          <a:xfrm>
            <a:off x="1371600" y="2743200"/>
            <a:ext cx="639720" cy="6397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2286000" y="274320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Vier Lagen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2286000" y="310896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PRD, Plan, TDD, ADR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Oval 9"/>
          <p:cNvSpPr/>
          <p:nvPr/>
        </p:nvSpPr>
        <p:spPr>
          <a:xfrm>
            <a:off x="1371600" y="3840480"/>
            <a:ext cx="639720" cy="6397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2286000" y="384048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Toepassen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2286000" y="42062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Lessen en valkuilen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Oval 12"/>
          <p:cNvSpPr/>
          <p:nvPr/>
        </p:nvSpPr>
        <p:spPr>
          <a:xfrm>
            <a:off x="1371600" y="4937760"/>
            <a:ext cx="639720" cy="6397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3"/>
          <p:cNvSpPr/>
          <p:nvPr/>
        </p:nvSpPr>
        <p:spPr>
          <a:xfrm>
            <a:off x="2286000" y="493776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ANVIL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4"/>
          <p:cNvSpPr/>
          <p:nvPr/>
        </p:nvSpPr>
        <p:spPr>
          <a:xfrm>
            <a:off x="2286000" y="53035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Automatisering van de 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1371600" y="1828800"/>
            <a:ext cx="9143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1371600" y="2468880"/>
            <a:ext cx="9143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Het Probleem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1371600" y="393192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Context Rot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heeft geheugenverlies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AI werkt binnen een context window; een beperkt geheugen. Elke chat begint blanco.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4"/>
          <p:cNvSpPr/>
          <p:nvPr/>
        </p:nvSpPr>
        <p:spPr>
          <a:xfrm>
            <a:off x="914400" y="2103120"/>
            <a:ext cx="320004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188720" y="228600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Context compressie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1188720" y="2743200"/>
            <a:ext cx="2651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Oudere berichten worden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samengevat of weggelaten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Nuances en afspraken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verdwijnen stilletjes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7"/>
          <p:cNvSpPr/>
          <p:nvPr/>
        </p:nvSpPr>
        <p:spPr>
          <a:xfrm>
            <a:off x="4572000" y="2103120"/>
            <a:ext cx="320004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4846320" y="228600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Attention decay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4846320" y="2743200"/>
            <a:ext cx="2651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Meer tekst = minder gewicht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voor oudere informatie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Instructies van 20 berichten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geleden zijn effectief vergeten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10"/>
          <p:cNvSpPr/>
          <p:nvPr/>
        </p:nvSpPr>
        <p:spPr>
          <a:xfrm>
            <a:off x="8229600" y="2103120"/>
            <a:ext cx="320004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8503920" y="228600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Hallucinaties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2"/>
          <p:cNvSpPr/>
          <p:nvPr/>
        </p:nvSpPr>
        <p:spPr>
          <a:xfrm>
            <a:off x="8503920" y="2743200"/>
            <a:ext cx="2651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vult gaten met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plausibele maar onjuiste info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Weet niet dat hij het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niet meer weet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3"/>
          <p:cNvSpPr/>
          <p:nvPr/>
        </p:nvSpPr>
        <p:spPr>
          <a:xfrm>
            <a:off x="914400" y="566928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"Stel je voor dat je een collega hebt die scherp begint, maar gedurende de dag</a:t>
            </a:r>
            <a:br>
              <a:rPr sz="1800"/>
            </a:b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steeds meer vergeet; en het ergste is dat hij niet doorheeft dat hij dingen vergeet."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Context Rot in de praktijk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914400" y="1645920"/>
            <a:ext cx="914364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Architectuurbeslissingen gaan verloren of raken verdund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AI maakt dezelfde fouten opnieuw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Code wordt inconsistent; patronen worden vergeten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"Waarom is dit zo?" is niet meer te beantwoorden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stelt code voor die ingaat tegen eerdere afspraken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oplossing: externaliseer context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AI vergeet, maar bestanden in je repository niet.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914400" y="2286000"/>
            <a:ext cx="2559960" cy="347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1188720" y="24688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1188720" y="320040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Wat &amp; Waarom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1188720" y="3840480"/>
            <a:ext cx="2011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Feature-eisen, doelen,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acceptatiecriteria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3749040" y="2286000"/>
            <a:ext cx="2559960" cy="347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9"/>
          <p:cNvSpPr/>
          <p:nvPr/>
        </p:nvSpPr>
        <p:spPr>
          <a:xfrm>
            <a:off x="4023360" y="24688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023360" y="320040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Hoe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023360" y="3840480"/>
            <a:ext cx="2011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Technische scope,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fases en voortgang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6583680" y="2286000"/>
            <a:ext cx="2559960" cy="347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6858000" y="24688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TDD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6858000" y="320040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Werkt het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6858000" y="3840480"/>
            <a:ext cx="2011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Gedrag, contracten,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regressiebeveiliging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9418320" y="2286000"/>
            <a:ext cx="2559960" cy="3474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ounded Rectangle 17"/>
          <p:cNvSpPr/>
          <p:nvPr/>
        </p:nvSpPr>
        <p:spPr>
          <a:xfrm>
            <a:off x="9692640" y="24688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9692640" y="320040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Waarom zo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9692640" y="3840480"/>
            <a:ext cx="2011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Architectuurbeslissingen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en onderbouwing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1371600" y="1828800"/>
            <a:ext cx="9143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1371600" y="2468880"/>
            <a:ext cx="9143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Vier Lagen in de Praktijk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1: PRDs; de opdracht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Wat gaan we bouwen en waarom?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914400" y="228600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Doel; welk probleem lost dit op?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Scope; wat is in en out of scope?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Acceptatiecriteria; wanneer is het klaar?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ounded Rectangle 5"/>
          <p:cNvSpPr/>
          <p:nvPr/>
        </p:nvSpPr>
        <p:spPr>
          <a:xfrm>
            <a:off x="914400" y="4572000"/>
            <a:ext cx="10058040" cy="137124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1188720" y="4754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Een PRD hoeft niet zwaar te zijn. Zelfs een half A4 met doel, scope en</a:t>
            </a:r>
            <a:br>
              <a:rPr sz="2000"/>
            </a:b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5 acceptatiecriteria bespaart uren aan verkeerde implementatie.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2: Het Plan; de vertaling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Vertaalt PRD-criteria naar technische specs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4"/>
          <p:cNvSpPr/>
          <p:nvPr/>
        </p:nvSpPr>
        <p:spPr>
          <a:xfrm>
            <a:off x="914400" y="2286000"/>
            <a:ext cx="91436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Deelt werk op in fases die in een sessie passen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Maakt elke spec testbaar (directe input voor TDD)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Houdt voortgang bij; legt vast wat out of scope is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Levend document; wordt bijgewerkt tijdens implementatie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5"/>
          <p:cNvSpPr/>
          <p:nvPr/>
        </p:nvSpPr>
        <p:spPr>
          <a:xfrm>
            <a:off x="914400" y="4572000"/>
            <a:ext cx="10058040" cy="137124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1188720" y="4754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Voorbeeld: TDD ontdekte een event dispatch gap; plan werd bijgewerkt</a:t>
            </a:r>
            <a:br>
              <a:rPr sz="2000"/>
            </a:b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met een nieuwe Phase 0, en ADR-013 geschreven.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3: TDD; het veiligheidsnet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Geen "nice to have"; het veiligheidsnet dat voorkomt dat de AI je codebase sloopt.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4"/>
          <p:cNvSpPr/>
          <p:nvPr/>
        </p:nvSpPr>
        <p:spPr>
          <a:xfrm>
            <a:off x="914400" y="2286000"/>
            <a:ext cx="329148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5"/>
          <p:cNvSpPr/>
          <p:nvPr/>
        </p:nvSpPr>
        <p:spPr>
          <a:xfrm>
            <a:off x="914400" y="2286000"/>
            <a:ext cx="3291480" cy="63972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188720" y="3200400"/>
            <a:ext cx="27428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een falende test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het gewenste gedrag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beschrijft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7"/>
          <p:cNvSpPr/>
          <p:nvPr/>
        </p:nvSpPr>
        <p:spPr>
          <a:xfrm>
            <a:off x="4663440" y="2286000"/>
            <a:ext cx="329148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8"/>
          <p:cNvSpPr/>
          <p:nvPr/>
        </p:nvSpPr>
        <p:spPr>
          <a:xfrm>
            <a:off x="4663440" y="2286000"/>
            <a:ext cx="3291480" cy="639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GREEN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9"/>
          <p:cNvSpPr/>
          <p:nvPr/>
        </p:nvSpPr>
        <p:spPr>
          <a:xfrm>
            <a:off x="4937760" y="3200400"/>
            <a:ext cx="27428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de minimale code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om de test te laten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slagen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0"/>
          <p:cNvSpPr/>
          <p:nvPr/>
        </p:nvSpPr>
        <p:spPr>
          <a:xfrm>
            <a:off x="8412480" y="2286000"/>
            <a:ext cx="329148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2980b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11"/>
          <p:cNvSpPr/>
          <p:nvPr/>
        </p:nvSpPr>
        <p:spPr>
          <a:xfrm>
            <a:off x="8412480" y="2286000"/>
            <a:ext cx="3291480" cy="639720"/>
          </a:xfrm>
          <a:prstGeom prst="rect">
            <a:avLst/>
          </a:prstGeom>
          <a:solidFill>
            <a:srgbClr val="2980b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REFACTOR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8686800" y="3200400"/>
            <a:ext cx="27428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Verbeter de code met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het vangnet van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groene tests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3"/>
          <p:cNvSpPr/>
          <p:nvPr/>
        </p:nvSpPr>
        <p:spPr>
          <a:xfrm>
            <a:off x="4023360" y="30175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&gt;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4"/>
          <p:cNvSpPr/>
          <p:nvPr/>
        </p:nvSpPr>
        <p:spPr>
          <a:xfrm>
            <a:off x="7772400" y="30175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&gt;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Case Study: HasFollowUp trait (ADR-001)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3"/>
          <p:cNvSpPr/>
          <p:nvPr/>
        </p:nvSpPr>
        <p:spPr>
          <a:xfrm>
            <a:off x="914400" y="1463040"/>
            <a:ext cx="484596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4"/>
          <p:cNvSpPr/>
          <p:nvPr/>
        </p:nvSpPr>
        <p:spPr>
          <a:xfrm>
            <a:off x="1188720" y="16459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Het probleem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1188720" y="2103120"/>
            <a:ext cx="42973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HasFollowUp trait bevroeg kolommen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follow_up_date en status direct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kolommen bestaan alleen op 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follow_ups tabel; niet op tasks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Runtime SQL errors gegarandeerd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6"/>
          <p:cNvSpPr/>
          <p:nvPr/>
        </p:nvSpPr>
        <p:spPr>
          <a:xfrm>
            <a:off x="6400800" y="1463040"/>
            <a:ext cx="484596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6675120" y="16459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 oplossing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6675120" y="2103120"/>
            <a:ext cx="42973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Test faalde: niet de implementatie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was fout, maar het hele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Scopes herschreven naar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whereHas-based queries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Bug gevonden voor productcode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9"/>
          <p:cNvSpPr/>
          <p:nvPr/>
        </p:nvSpPr>
        <p:spPr>
          <a:xfrm>
            <a:off x="914400" y="4754880"/>
            <a:ext cx="10058040" cy="118836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1188720" y="4937760"/>
            <a:ext cx="9509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De tests vonden de bug. Niet de AI, niet code review, niet QA.</a:t>
            </a:r>
            <a:br>
              <a:rPr sz="2200"/>
            </a:b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De falende test dwong een redesign af.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4: ADRs; het geheugen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Documenteert beslissingen die afwijken van het plan of niet-triviale trade-offs bevatten.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4"/>
          <p:cNvSpPr/>
          <p:nvPr/>
        </p:nvSpPr>
        <p:spPr>
          <a:xfrm>
            <a:off x="914400" y="2286000"/>
            <a:ext cx="329148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1188720" y="24688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Context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6"/>
          <p:cNvSpPr/>
          <p:nvPr/>
        </p:nvSpPr>
        <p:spPr>
          <a:xfrm>
            <a:off x="1188720" y="301752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was het probleem?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7"/>
          <p:cNvSpPr/>
          <p:nvPr/>
        </p:nvSpPr>
        <p:spPr>
          <a:xfrm>
            <a:off x="4663440" y="2286000"/>
            <a:ext cx="329148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937760" y="24688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Decision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9"/>
          <p:cNvSpPr/>
          <p:nvPr/>
        </p:nvSpPr>
        <p:spPr>
          <a:xfrm>
            <a:off x="4937760" y="301752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is er besloten</a:t>
            </a:r>
            <a:br>
              <a:rPr sz="2000"/>
            </a:b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en waarom?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10"/>
          <p:cNvSpPr/>
          <p:nvPr/>
        </p:nvSpPr>
        <p:spPr>
          <a:xfrm>
            <a:off x="8412480" y="2286000"/>
            <a:ext cx="329148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1"/>
          <p:cNvSpPr/>
          <p:nvPr/>
        </p:nvSpPr>
        <p:spPr>
          <a:xfrm>
            <a:off x="8686800" y="24688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Consequences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2"/>
          <p:cNvSpPr/>
          <p:nvPr/>
        </p:nvSpPr>
        <p:spPr>
          <a:xfrm>
            <a:off x="8686800" y="301752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verandert 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13"/>
          <p:cNvSpPr/>
          <p:nvPr/>
        </p:nvSpPr>
        <p:spPr>
          <a:xfrm>
            <a:off x="914400" y="4754880"/>
            <a:ext cx="10058040" cy="118836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14"/>
          <p:cNvSpPr/>
          <p:nvPr/>
        </p:nvSpPr>
        <p:spPr>
          <a:xfrm>
            <a:off x="1188720" y="4937760"/>
            <a:ext cx="9509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Vuistregel: Als iemand later zou kunnen vragen "waarom is dit zo?"; schrijf een ADR.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Case Study: Event Dispatch Gap (ADR-013)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3"/>
          <p:cNvSpPr/>
          <p:nvPr/>
        </p:nvSpPr>
        <p:spPr>
          <a:xfrm>
            <a:off x="914400" y="1463040"/>
            <a:ext cx="48459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4"/>
          <p:cNvSpPr/>
          <p:nvPr/>
        </p:nvSpPr>
        <p:spPr>
          <a:xfrm>
            <a:off x="1188720" y="16459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Het probleem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5"/>
          <p:cNvSpPr/>
          <p:nvPr/>
        </p:nvSpPr>
        <p:spPr>
          <a:xfrm>
            <a:off x="1188720" y="2103120"/>
            <a:ext cx="4297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TaskStatusChanged event alleen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gefired vanuit expliciete dispatch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3 andere code paths updaten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zonder event te dispatchen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6"/>
          <p:cNvSpPr/>
          <p:nvPr/>
        </p:nvSpPr>
        <p:spPr>
          <a:xfrm>
            <a:off x="6400800" y="1463040"/>
            <a:ext cx="48459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6675120" y="16459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 oplossing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8"/>
          <p:cNvSpPr/>
          <p:nvPr/>
        </p:nvSpPr>
        <p:spPr>
          <a:xfrm>
            <a:off x="6675120" y="2103120"/>
            <a:ext cx="4297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TaskObserver dispatcht event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automatisch bij elke statuswijziging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Handmatige dispatches verwijderd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Loste ook pre-bestaand probleem 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9"/>
          <p:cNvSpPr/>
          <p:nvPr/>
        </p:nvSpPr>
        <p:spPr>
          <a:xfrm>
            <a:off x="914400" y="41148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Zonder ADR zou een volgende sessie niet weten: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0"/>
          <p:cNvSpPr/>
          <p:nvPr/>
        </p:nvSpPr>
        <p:spPr>
          <a:xfrm>
            <a:off x="914400" y="466344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er bewust een Observer is gekozen boven handmatige dispatch calls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handmatige dispatches bewust zijn verwijderd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Welke alternatieven zijn afgewezen en waarom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Feedback Loop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3"/>
          <p:cNvSpPr/>
          <p:nvPr/>
        </p:nvSpPr>
        <p:spPr>
          <a:xfrm>
            <a:off x="64008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 definieert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wat en waarom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4"/>
          <p:cNvSpPr/>
          <p:nvPr/>
        </p:nvSpPr>
        <p:spPr>
          <a:xfrm>
            <a:off x="2331720" y="21488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5"/>
          <p:cNvSpPr/>
          <p:nvPr/>
        </p:nvSpPr>
        <p:spPr>
          <a:xfrm>
            <a:off x="256032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Plan vertaalt naar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technische specs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4251960" y="21488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ounded Rectangle 7"/>
          <p:cNvSpPr/>
          <p:nvPr/>
        </p:nvSpPr>
        <p:spPr>
          <a:xfrm>
            <a:off x="448056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Specs worden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tests (TDD)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8"/>
          <p:cNvSpPr/>
          <p:nvPr/>
        </p:nvSpPr>
        <p:spPr>
          <a:xfrm>
            <a:off x="6172200" y="21488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9"/>
          <p:cNvSpPr/>
          <p:nvPr/>
        </p:nvSpPr>
        <p:spPr>
          <a:xfrm>
            <a:off x="640080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Tests ontdekken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problemen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8092440" y="21488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11"/>
          <p:cNvSpPr/>
          <p:nvPr/>
        </p:nvSpPr>
        <p:spPr>
          <a:xfrm>
            <a:off x="832104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Problemen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triggeren ADRs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10012680" y="21488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ounded Rectangle 13"/>
          <p:cNvSpPr/>
          <p:nvPr/>
        </p:nvSpPr>
        <p:spPr>
          <a:xfrm>
            <a:off x="10241280" y="1828800"/>
            <a:ext cx="1691280" cy="1279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ADRs informeren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volgende sessies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14"/>
          <p:cNvGraphicFramePr/>
          <p:nvPr/>
        </p:nvGraphicFramePr>
        <p:xfrm>
          <a:off x="1371600" y="3657600"/>
          <a:ext cx="9143640" cy="27432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Probleem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Oplossing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vergeet vorige sessie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+ plan overleven sessies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breekt bestaande code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Tests vangen regressies direct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gebruikt andere patronen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Plan + codebase scan dwingen af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voegt ongeplande features toe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Plan met "Out of Scope" sectie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draait bewuste keuzes terug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documenteren het waarom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/>
          <p:nvPr/>
        </p:nvSpPr>
        <p:spPr>
          <a:xfrm>
            <a:off x="1371600" y="1828800"/>
            <a:ext cx="9143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"/>
          <p:cNvSpPr/>
          <p:nvPr/>
        </p:nvSpPr>
        <p:spPr>
          <a:xfrm>
            <a:off x="1371600" y="2468880"/>
            <a:ext cx="9143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Toepassen en Valkuilen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vijf belangrijkste lessen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Oval 3"/>
          <p:cNvSpPr/>
          <p:nvPr/>
        </p:nvSpPr>
        <p:spPr>
          <a:xfrm>
            <a:off x="914400" y="1417320"/>
            <a:ext cx="502560" cy="50256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1645920" y="137160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Als het niet in een bestand staat, bestaat het niet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1645920" y="178308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Elke AI-sessie begint leeg. Context die alleen in je hoofd zit, gaat verloren.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6"/>
          <p:cNvSpPr/>
          <p:nvPr/>
        </p:nvSpPr>
        <p:spPr>
          <a:xfrm>
            <a:off x="914400" y="2468880"/>
            <a:ext cx="502560" cy="50256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7"/>
          <p:cNvSpPr/>
          <p:nvPr/>
        </p:nvSpPr>
        <p:spPr>
          <a:xfrm>
            <a:off x="1645920" y="242316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 specs testbaar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8"/>
          <p:cNvSpPr/>
          <p:nvPr/>
        </p:nvSpPr>
        <p:spPr>
          <a:xfrm>
            <a:off x="1645920" y="2834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Als je het niet in een test kunt uitdrukken, is de spec te vaag.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914400" y="3520440"/>
            <a:ext cx="502560" cy="50256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0"/>
          <p:cNvSpPr/>
          <p:nvPr/>
        </p:nvSpPr>
        <p:spPr>
          <a:xfrm>
            <a:off x="1645920" y="347472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ADRs op het moment van de beslissing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11"/>
          <p:cNvSpPr/>
          <p:nvPr/>
        </p:nvSpPr>
        <p:spPr>
          <a:xfrm>
            <a:off x="1645920" y="388620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Achteraf mis je de alternatieven die je hebt overwogen.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914400" y="4572000"/>
            <a:ext cx="502560" cy="50256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13"/>
          <p:cNvSpPr/>
          <p:nvPr/>
        </p:nvSpPr>
        <p:spPr>
          <a:xfrm>
            <a:off x="1645920" y="452628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 sessies klein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4"/>
          <p:cNvSpPr/>
          <p:nvPr/>
        </p:nvSpPr>
        <p:spPr>
          <a:xfrm>
            <a:off x="1645920" y="493776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Kleine fases houden sessies beheersbaar en voorkomen context compressie.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914400" y="5623560"/>
            <a:ext cx="502560" cy="50256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6"/>
          <p:cNvSpPr/>
          <p:nvPr/>
        </p:nvSpPr>
        <p:spPr>
          <a:xfrm>
            <a:off x="1645920" y="5577840"/>
            <a:ext cx="9143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Jij blijft de architect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7"/>
          <p:cNvSpPr/>
          <p:nvPr/>
        </p:nvSpPr>
        <p:spPr>
          <a:xfrm>
            <a:off x="1645920" y="59893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Review, denk mee, stel vragen. Blind vertrouwen leidt tot blinde vlekken.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Hoe begin je?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Je hebt geen speciale tooling nodig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4"/>
          <p:cNvSpPr/>
          <p:nvPr/>
        </p:nvSpPr>
        <p:spPr>
          <a:xfrm>
            <a:off x="914400" y="2286000"/>
            <a:ext cx="1005804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Start elke AI-sessie met context laden; geef relevante ADRs, het plan, en laat tests lezen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Gebruik een CLAUDE.md (of equivalent); conventies, actieve plannen, verwijzingen naar ADRs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 ADRs klein; een ADR per beslissing, niet een mega-document per feature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Gebruik het plan als communicatiemiddel; niet alleen voor de AI, maar ook voor je team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Mithril in cijfers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3"/>
          <p:cNvSpPr/>
          <p:nvPr/>
        </p:nvSpPr>
        <p:spPr>
          <a:xfrm>
            <a:off x="914400" y="11887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Gebouwd met consistente architectuur ondanks tientallen sessiewisselingen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ounded Rectangle 4"/>
          <p:cNvSpPr/>
          <p:nvPr/>
        </p:nvSpPr>
        <p:spPr>
          <a:xfrm>
            <a:off x="91440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100584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418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6"/>
          <p:cNvSpPr/>
          <p:nvPr/>
        </p:nvSpPr>
        <p:spPr>
          <a:xfrm>
            <a:off x="100584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Commits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7"/>
          <p:cNvSpPr/>
          <p:nvPr/>
        </p:nvSpPr>
        <p:spPr>
          <a:xfrm>
            <a:off x="278892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8"/>
          <p:cNvSpPr/>
          <p:nvPr/>
        </p:nvSpPr>
        <p:spPr>
          <a:xfrm>
            <a:off x="288036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187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9"/>
          <p:cNvSpPr/>
          <p:nvPr/>
        </p:nvSpPr>
        <p:spPr>
          <a:xfrm>
            <a:off x="288036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Testbestanden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ounded Rectangle 10"/>
          <p:cNvSpPr/>
          <p:nvPr/>
        </p:nvSpPr>
        <p:spPr>
          <a:xfrm>
            <a:off x="466344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1"/>
          <p:cNvSpPr/>
          <p:nvPr/>
        </p:nvSpPr>
        <p:spPr>
          <a:xfrm>
            <a:off x="475488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1091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2"/>
          <p:cNvSpPr/>
          <p:nvPr/>
        </p:nvSpPr>
        <p:spPr>
          <a:xfrm>
            <a:off x="475488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13"/>
          <p:cNvSpPr/>
          <p:nvPr/>
        </p:nvSpPr>
        <p:spPr>
          <a:xfrm>
            <a:off x="653796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14"/>
          <p:cNvSpPr/>
          <p:nvPr/>
        </p:nvSpPr>
        <p:spPr>
          <a:xfrm>
            <a:off x="662940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28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5"/>
          <p:cNvSpPr/>
          <p:nvPr/>
        </p:nvSpPr>
        <p:spPr>
          <a:xfrm>
            <a:off x="662940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ADRs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16"/>
          <p:cNvSpPr/>
          <p:nvPr/>
        </p:nvSpPr>
        <p:spPr>
          <a:xfrm>
            <a:off x="841248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17"/>
          <p:cNvSpPr/>
          <p:nvPr/>
        </p:nvSpPr>
        <p:spPr>
          <a:xfrm>
            <a:off x="850392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19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8"/>
          <p:cNvSpPr/>
          <p:nvPr/>
        </p:nvSpPr>
        <p:spPr>
          <a:xfrm>
            <a:off x="850392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Plannen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ounded Rectangle 19"/>
          <p:cNvSpPr/>
          <p:nvPr/>
        </p:nvSpPr>
        <p:spPr>
          <a:xfrm>
            <a:off x="10287000" y="2286000"/>
            <a:ext cx="164556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20"/>
          <p:cNvSpPr/>
          <p:nvPr/>
        </p:nvSpPr>
        <p:spPr>
          <a:xfrm>
            <a:off x="10378440" y="2651760"/>
            <a:ext cx="1462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1"/>
          <p:cNvSpPr/>
          <p:nvPr/>
        </p:nvSpPr>
        <p:spPr>
          <a:xfrm>
            <a:off x="10378440" y="365760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Weken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1371600" y="1828800"/>
            <a:ext cx="9143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1371600" y="2468880"/>
            <a:ext cx="91436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ANVIL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3"/>
          <p:cNvSpPr/>
          <p:nvPr/>
        </p:nvSpPr>
        <p:spPr>
          <a:xfrm>
            <a:off x="1371600" y="393192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Automated Nexus for Verified Iterative Lifecycles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Van handmatig naar georchestreerd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vier lagen werken, maar vereisen discipline. Onder tijdsdruk slipt dat.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4"/>
          <p:cNvSpPr/>
          <p:nvPr/>
        </p:nvSpPr>
        <p:spPr>
          <a:xfrm>
            <a:off x="731520" y="2560320"/>
            <a:ext cx="1919880" cy="146268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Research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Analyst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651760" y="29260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ounded Rectangle 6"/>
          <p:cNvSpPr/>
          <p:nvPr/>
        </p:nvSpPr>
        <p:spPr>
          <a:xfrm>
            <a:off x="3017520" y="2560320"/>
            <a:ext cx="1919880" cy="146268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Specifier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"/>
          <p:cNvSpPr/>
          <p:nvPr/>
        </p:nvSpPr>
        <p:spPr>
          <a:xfrm>
            <a:off x="4937760" y="29260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5303520" y="2560320"/>
            <a:ext cx="1919880" cy="146268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Architect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9"/>
          <p:cNvSpPr/>
          <p:nvPr/>
        </p:nvSpPr>
        <p:spPr>
          <a:xfrm>
            <a:off x="7223760" y="29260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ounded Rectangle 10"/>
          <p:cNvSpPr/>
          <p:nvPr/>
        </p:nvSpPr>
        <p:spPr>
          <a:xfrm>
            <a:off x="7589520" y="2560320"/>
            <a:ext cx="1919880" cy="146268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Builder (TDD)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9509760" y="29260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ounded Rectangle 12"/>
          <p:cNvSpPr/>
          <p:nvPr/>
        </p:nvSpPr>
        <p:spPr>
          <a:xfrm>
            <a:off x="9875520" y="2560320"/>
            <a:ext cx="1919880" cy="146268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ADRs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Automatisch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3"/>
          <p:cNvSpPr/>
          <p:nvPr/>
        </p:nvSpPr>
        <p:spPr>
          <a:xfrm>
            <a:off x="914400" y="45720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Elke rol is een AI-agent met specifieke opdracht en regels.</a:t>
            </a:r>
            <a:br>
              <a:rPr sz="2000"/>
            </a:b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orchestrator stuurt aan, bewaakt voortgang, en houdt de gebruiker in controle.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Zes gespecialiseerde rollen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3"/>
          <p:cNvSpPr/>
          <p:nvPr/>
        </p:nvSpPr>
        <p:spPr>
          <a:xfrm>
            <a:off x="914400" y="146304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4"/>
          <p:cNvSpPr/>
          <p:nvPr/>
        </p:nvSpPr>
        <p:spPr>
          <a:xfrm>
            <a:off x="1188720" y="16459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Analyst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5"/>
          <p:cNvSpPr/>
          <p:nvPr/>
        </p:nvSpPr>
        <p:spPr>
          <a:xfrm>
            <a:off x="1188720" y="219456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Haalt requirements op uit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externe bronnen (bijv. Jira)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6"/>
          <p:cNvSpPr/>
          <p:nvPr/>
        </p:nvSpPr>
        <p:spPr>
          <a:xfrm>
            <a:off x="4572000" y="146304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7"/>
          <p:cNvSpPr/>
          <p:nvPr/>
        </p:nvSpPr>
        <p:spPr>
          <a:xfrm>
            <a:off x="4846320" y="16459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Specifier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8"/>
          <p:cNvSpPr/>
          <p:nvPr/>
        </p:nvSpPr>
        <p:spPr>
          <a:xfrm>
            <a:off x="4846320" y="219456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Schrijft en reviewt PRDs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ounded Rectangle 9"/>
          <p:cNvSpPr/>
          <p:nvPr/>
        </p:nvSpPr>
        <p:spPr>
          <a:xfrm>
            <a:off x="8229600" y="146304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10"/>
          <p:cNvSpPr/>
          <p:nvPr/>
        </p:nvSpPr>
        <p:spPr>
          <a:xfrm>
            <a:off x="8503920" y="16459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Architect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11"/>
          <p:cNvSpPr/>
          <p:nvPr/>
        </p:nvSpPr>
        <p:spPr>
          <a:xfrm>
            <a:off x="8503920" y="219456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Maakt implementatieplannen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met fases en specs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12"/>
          <p:cNvSpPr/>
          <p:nvPr/>
        </p:nvSpPr>
        <p:spPr>
          <a:xfrm>
            <a:off x="914400" y="402336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13"/>
          <p:cNvSpPr/>
          <p:nvPr/>
        </p:nvSpPr>
        <p:spPr>
          <a:xfrm>
            <a:off x="1188720" y="42062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Builder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4"/>
          <p:cNvSpPr/>
          <p:nvPr/>
        </p:nvSpPr>
        <p:spPr>
          <a:xfrm>
            <a:off x="1188720" y="475488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Bouwt via TDD, kan parallel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werken in agent teams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ounded Rectangle 15"/>
          <p:cNvSpPr/>
          <p:nvPr/>
        </p:nvSpPr>
        <p:spPr>
          <a:xfrm>
            <a:off x="4572000" y="402336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16"/>
          <p:cNvSpPr/>
          <p:nvPr/>
        </p:nvSpPr>
        <p:spPr>
          <a:xfrm>
            <a:off x="4846320" y="42062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Auditor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7"/>
          <p:cNvSpPr/>
          <p:nvPr/>
        </p:nvSpPr>
        <p:spPr>
          <a:xfrm>
            <a:off x="4846320" y="475488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OWASP security scans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op de codebase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ounded Rectangle 18"/>
          <p:cNvSpPr/>
          <p:nvPr/>
        </p:nvSpPr>
        <p:spPr>
          <a:xfrm>
            <a:off x="8229600" y="4023360"/>
            <a:ext cx="32000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19"/>
          <p:cNvSpPr/>
          <p:nvPr/>
        </p:nvSpPr>
        <p:spPr>
          <a:xfrm>
            <a:off x="8503920" y="42062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Scribe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0"/>
          <p:cNvSpPr/>
          <p:nvPr/>
        </p:nvSpPr>
        <p:spPr>
          <a:xfrm>
            <a:off x="8503920" y="475488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Genereert documenten vanuit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opgeleverde resultaten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Automatische bewaking via Hooks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3"/>
          <p:cNvSpPr/>
          <p:nvPr/>
        </p:nvSpPr>
        <p:spPr>
          <a:xfrm>
            <a:off x="914400" y="12801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Twee PostToolUse hooks die real-time afdwingen wat anders op discipline leunt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ounded Rectangle 4"/>
          <p:cNvSpPr/>
          <p:nvPr/>
        </p:nvSpPr>
        <p:spPr>
          <a:xfrm>
            <a:off x="914400" y="2103120"/>
            <a:ext cx="4845960" cy="2925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5"/>
          <p:cNvSpPr/>
          <p:nvPr/>
        </p:nvSpPr>
        <p:spPr>
          <a:xfrm>
            <a:off x="1188720" y="22860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TDD Enforce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6"/>
          <p:cNvSpPr/>
          <p:nvPr/>
        </p:nvSpPr>
        <p:spPr>
          <a:xfrm>
            <a:off x="1188720" y="2743200"/>
            <a:ext cx="42973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Waarschuwt wanneer bronbestand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gewijzigd wordt zonder testwijzigingen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Dwingt Red-Green volgorde af: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eerst tests, dan implementatie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Melding op moment van edit,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niet pas bij commit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7"/>
          <p:cNvSpPr/>
          <p:nvPr/>
        </p:nvSpPr>
        <p:spPr>
          <a:xfrm>
            <a:off x="6400800" y="2103120"/>
            <a:ext cx="4845960" cy="2925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8"/>
          <p:cNvSpPr/>
          <p:nvPr/>
        </p:nvSpPr>
        <p:spPr>
          <a:xfrm>
            <a:off x="6675120" y="22860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ADR Watch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9"/>
          <p:cNvSpPr/>
          <p:nvPr/>
        </p:nvSpPr>
        <p:spPr>
          <a:xfrm>
            <a:off x="6675120" y="2743200"/>
            <a:ext cx="42973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Waarschuwt wanneer bestand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buiten actief plan wordt gewijzigd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Voorkomt onbewuste scope creep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Informatief; blokkeert niet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0"/>
          <p:cNvSpPr/>
          <p:nvPr/>
        </p:nvSpPr>
        <p:spPr>
          <a:xfrm>
            <a:off x="914400" y="54864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Beide hooks zijn informatief (ze blokkeren niet) en worden automatisch geinstalleerd.</a:t>
            </a:r>
            <a:br>
              <a:rPr sz="1800"/>
            </a:b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Dit zijn mechanische checks die onafhankelijk van de AI draaien.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Hoe ANVIL context rot minimaliseert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3"/>
          <p:cNvSpPr/>
          <p:nvPr/>
        </p:nvSpPr>
        <p:spPr>
          <a:xfrm>
            <a:off x="914400" y="1645920"/>
            <a:ext cx="32914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Oval 4"/>
          <p:cNvSpPr/>
          <p:nvPr/>
        </p:nvSpPr>
        <p:spPr>
          <a:xfrm>
            <a:off x="1097280" y="1828800"/>
            <a:ext cx="456840" cy="45684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5"/>
          <p:cNvSpPr/>
          <p:nvPr/>
        </p:nvSpPr>
        <p:spPr>
          <a:xfrm>
            <a:off x="1645920" y="182880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State op disk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6"/>
          <p:cNvSpPr/>
          <p:nvPr/>
        </p:nvSpPr>
        <p:spPr>
          <a:xfrm>
            <a:off x="1188720" y="246888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Lifecycle state afgeleid uit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bestanden, niet uit geheugen.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Session handoff bij einde sessie.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7"/>
          <p:cNvSpPr/>
          <p:nvPr/>
        </p:nvSpPr>
        <p:spPr>
          <a:xfrm>
            <a:off x="4663440" y="1645920"/>
            <a:ext cx="32914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Oval 8"/>
          <p:cNvSpPr/>
          <p:nvPr/>
        </p:nvSpPr>
        <p:spPr>
          <a:xfrm>
            <a:off x="4846320" y="1828800"/>
            <a:ext cx="456840" cy="45684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9"/>
          <p:cNvSpPr/>
          <p:nvPr/>
        </p:nvSpPr>
        <p:spPr>
          <a:xfrm>
            <a:off x="5394960" y="182880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Kleine, gefocuste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10"/>
          <p:cNvSpPr/>
          <p:nvPr/>
        </p:nvSpPr>
        <p:spPr>
          <a:xfrm>
            <a:off x="4937760" y="246888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Elke agent krijgt alleen wat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hij nodig heeft. Kort window =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minder attention decay.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8412480" y="1645920"/>
            <a:ext cx="32914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Oval 12"/>
          <p:cNvSpPr/>
          <p:nvPr/>
        </p:nvSpPr>
        <p:spPr>
          <a:xfrm>
            <a:off x="8595360" y="1828800"/>
            <a:ext cx="456840" cy="45684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3"/>
          <p:cNvSpPr/>
          <p:nvPr/>
        </p:nvSpPr>
        <p:spPr>
          <a:xfrm>
            <a:off x="9144000" y="182880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Mechanische bewaking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14"/>
          <p:cNvSpPr/>
          <p:nvPr/>
        </p:nvSpPr>
        <p:spPr>
          <a:xfrm>
            <a:off x="8686800" y="246888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Hooks vangen fouten door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context rot op het moment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ze gebeuren.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15"/>
          <p:cNvGraphicFramePr/>
          <p:nvPr/>
        </p:nvGraphicFramePr>
        <p:xfrm>
          <a:off x="914400" y="4572000"/>
          <a:ext cx="10058040" cy="2102760"/>
        </p:xfrm>
        <a:graphic>
          <a:graphicData uri="http://schemas.openxmlformats.org/drawingml/2006/table">
            <a:tbl>
              <a:tblPr/>
              <a:tblGrid>
                <a:gridCol w="5029200"/>
                <a:gridCol w="5029200"/>
              </a:tblGrid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Context rot probleem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ANVIL oplossing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Sessiewissel verliest voortgang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Session handoff + state op disk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Lang window; attention decay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Kleine agents met gefocuste context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vergeet eigen regels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Hooks onafhankelijk van de AI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herhaalt afgewezen keuzes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geladen in elke agent prompt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Scope creep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 Watch detecteert out-of-plan edits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2"/>
          <p:cNvSpPr/>
          <p:nvPr/>
        </p:nvSpPr>
        <p:spPr>
          <a:xfrm>
            <a:off x="91440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kern blijft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ounded Rectangle 3"/>
          <p:cNvSpPr/>
          <p:nvPr/>
        </p:nvSpPr>
        <p:spPr>
          <a:xfrm>
            <a:off x="1371600" y="1828800"/>
            <a:ext cx="9143640" cy="2742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4"/>
          <p:cNvSpPr/>
          <p:nvPr/>
        </p:nvSpPr>
        <p:spPr>
          <a:xfrm>
            <a:off x="1828800" y="228600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ANVIL automatiseert de flow, maar de principes zijn dezelfde:</a:t>
            </a:r>
            <a:br>
              <a:rPr sz="2600"/>
            </a:b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PRDs, plannen, tests en beslissingen; vastgelegd in bestanden</a:t>
            </a:r>
            <a:br>
              <a:rPr sz="2600"/>
            </a:b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elke sessie overleven.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"/>
          <p:cNvSpPr/>
          <p:nvPr/>
        </p:nvSpPr>
        <p:spPr>
          <a:xfrm>
            <a:off x="1828800" y="347472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tooling maakt het makkelijker om de discipline vol te houden,</a:t>
            </a:r>
            <a:br>
              <a:rPr sz="2000"/>
            </a:b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maar je kunt dezelfde aanpak toepassen met elk AI-hulpmiddel</a:t>
            </a:r>
            <a:br>
              <a:rPr sz="2000"/>
            </a:b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en een teksteditor.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Box 1"/>
          <p:cNvSpPr/>
          <p:nvPr/>
        </p:nvSpPr>
        <p:spPr>
          <a:xfrm>
            <a:off x="1371600" y="13716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Discussie / Q&amp;A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Rectangle 2"/>
          <p:cNvSpPr/>
          <p:nvPr/>
        </p:nvSpPr>
        <p:spPr>
          <a:xfrm>
            <a:off x="1371600" y="2743200"/>
            <a:ext cx="1828440" cy="36360"/>
          </a:xfrm>
          <a:prstGeom prst="rect">
            <a:avLst/>
          </a:prstGeom>
          <a:solidFill>
            <a:srgbClr val="c49a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3"/>
          <p:cNvSpPr/>
          <p:nvPr/>
        </p:nvSpPr>
        <p:spPr>
          <a:xfrm>
            <a:off x="1371600" y="3200400"/>
            <a:ext cx="82292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Hoe past dit in jullie huidige workflow?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Welke onderdelen zijn direct toepasbaar; ook zonder AI?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Wat is de overhead vs. de tijdsbesparing?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LibreOffice/25.8.5.2$Linux_X86_64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2026-03-25T15:18:20Z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