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mov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the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D8A397C-CA78-446E-98CA-68875703E97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&amp;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FE3DF3-B0D1-4393-BBB6-3E0B6A3DDBA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(1) het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probleem;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rot,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(2) 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oplossing;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 lagen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voorbeelde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uit Mithril,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(3)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praktisch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toepassen;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vijf lessen, 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(4) ANVIL;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automatiser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ing van 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Automated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Nexus for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Verified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Iterative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Lifecycles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Requireme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nts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Driven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Developme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1E7D9D-C0D3-4D3A-BCFE-87A72A18B6C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hebben het inmiddels allemaal wel ervaren. AI gaat hallucineren; doet domme dingen; implementeert voor de vijfde keer dezelfde functionaliteit in een ander jasje; etc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Hoe komt dit toch? Waarom lijkt AI zo goed in het begin en wordt het alleen maar slechter naarmate een project vordert. </a:t>
            </a:r>
            <a:br>
              <a:rPr sz="2000"/>
            </a:b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7D82D8-F3D9-4A5F-8511-64DC09BFB78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werkt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binnen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beperkt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geheuge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n. Elke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begint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blanco.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manieren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waarop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degradee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rt, ook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binnen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sessie: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oudere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berichten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samenge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vat of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weggelat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Nuances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verdwijne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stilletjes.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decay: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tekst =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minder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gewicht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voor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oudere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informatie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Instructie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van 20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berichten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geleden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zijn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effectief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vergeten.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Hallucinat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ies: de AI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vult gaten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plausibel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maar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onjuiste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info,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zonder te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beseffen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 hij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2F3526-D3B9-44FE-B201-983F777B7F9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 resultaat: context rot.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Architectuurbeslissingen gaan verloren,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AI maakt dezelfde fouten opnieuw,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- patronen worden vergeten,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AI stelt code voor die ingaat tegen eerder gemaakte afspraken.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587922-13B3-4D02-A9A3-95477F2B9FB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oplossing: externaliseer context in bestanden die elke sessie overleven.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 lagen: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PRDs (beantwoord wat en waarom),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- plannen (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hoe),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- TDD (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werkt het),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- ADRs (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waarom is het zo gebouwd).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lopen ze nu stuk voor stuk door.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= Artificial Intelligence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1CE436-D248-412D-A082-78FFEAC79C2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vier lagen in de praktijk.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DAC822-D656-443E-A039-DF3DDBBF0D2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Laag 1: PRDs. Doel, scope en acceptatiecriteria vastleggen voordat er gebouwd wordt.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Zonder PRD bouwt de AI op aannames. Een half A4 met vijf acceptatiecriteria bespaart al uren.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C34C7B-ADA3-4857-9FB8-632BBC3E0C1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Laag 2: het plan; de vertaling naar specs.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 plan vertaalt PRD-criteria naar technische specs, deelt werk op in fases die behapbaar zijn voor AI, maakt de specs testbaar als input voor TDD, en houdt voortgang bij.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 plan is een levend document. Bij Mithril werd door een falende test bijv een event dispatch gap ontdekt; het plan werd bijgewerkt met Phase 0 en ADR-013 werd geschreven.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B35902-2BAB-4672-AA73-2F63B6212FA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Laag 3: TDD.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 veiligheidsnet dat voorkomt dat de AI je codebase sloopt. Zonder TDD merk je niet dat sessie 5 iets heeft gebroken uit sessie 2.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cyclus: Red (falende test), Green (minimale code), Refactor (verbeteren met groene tests).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E83628-2DAE-4A25-84B7-19AD332271D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Case study: HasFollowUp trait. Scopes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bevroegen direct kolommen die alleen op 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follow_ups tabel bestonden; gegarandeerde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SQL errors.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onderving dit; de test faalde niet op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implementatie maar op het hele design omdat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ik tijdens de planningsfase niet goed genoeg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 opgelet. De scope werd herschreven naar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whereHas-queries.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Les: de tests vonden de bug. Niet de AI, niet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review, niet QA. De falende test dwong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een redesign af. 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QA = Quality Assurance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SQL = Structured Query Language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CF3C83-2C39-4E86-AA0F-E3207806EFD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Laag 4: ADRs.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Documenteert beslissingen met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context (probleem),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decision (wat en waarom), en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consequences (wat is er verandert).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Zonder ADRs kan de AI een bewust gemaakte beslissing terugdraaien of een eerder afgewezen alternatief opnieuw voorstellen.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Vuistregel: als iemand later "waarom is dit zo?" zou kunnen vragen; schrijf een ADR.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32AC48-8051-4D21-A88A-33802163346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Case study: event dispatch gap.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 TaskStatusChanged event werd alleen afgevuurd vanuit een expliciete dispatch call, maar drie andere code paths updaten status zonder het event af te vuren.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Oplossing: Een TaskObserver voor automatische dispatch. Handmatige dispatches werden bewust verwijderd.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Zonder ADR-013 zou een volgende sessie niet weten dat de Observer bewust is gekozen, dat handmatige dispatches bewust zijn verwijderd, en welke alternatieven zijn afgewezen.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896EFB-B2E6-42DF-92E3-235EEE44754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vier lagen vormen een feedback loop: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-&gt; Plan -&gt; Tests (TDD) -&gt; Problemen -&gt;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ADRs -&gt; Volgende sessies.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AI vergeet, maar ADRs overleven.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AI breekt code, maar tests vangen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regressies.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AI wijkt af, maar plan en codebase scans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dwingen patronen af.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C0266E-AC78-4AE1-808A-E52E5376ED6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Deel drie: praktisch toepassen.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379E6F-7A55-4987-B93C-A5DB5E48943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Vijf lessen: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Niet in een bestand = bestaat niet. Elke sessie begint leeg.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Maak specs testbaar. Niet testbaar = te vaag.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Schrijf ADRs direct bij de beslissing. Achteraf mis je de alternatieven.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- 4. Houd sessies klein. Kleine fases voorkomen context compressie.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- 5. Jij blijft de architect. Review, denk mee, stel vragen.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C16033-568E-4F08-B7F5-88C02815DCE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speciale tooling nodig.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sessies met context laden (ADRs, plan, tests). Gebruik CLAUDE.md voor conventies en verwijzingen.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Houd ADRs klein; één per beslissing. Gebruik het plan als communicatiemiddel voor AI en de rest van je team.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0908F8-D688-4E5C-861D-14DBEB7AAEA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cijfers van Mithril: gebouwd in de avond (en nachturen) in 3 weken tijd. Het resultaat: consistente architectuur ondanks tientallen sessiewisselingen.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 wil overigens niet zeggen een goede architectuur, want ik heb dit vooral voor mezelf gemaakt en ik ben van nature lui :)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79FEBE-6A34-460B-B4BB-AC3D0430011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Deel vier: ANVIL. Van handmatig naar geautomatiseerd deze werkwijze afdwingen.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Automated Nexus for Verified Iterative Lifecycles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B74344-D780-4B46-8B78-61F1BF8FCF9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vier lagen werken voor mij, maar vereisen discipline die onder tijdsdruk slipt. ANVIL automatiseert de flow via gespecialiseerde AI-agent rollen: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Analyst (research),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Specifier (PRD),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Architect (plan),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Builder (TDD),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Auditor (security),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Scribe (documenten).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natuurlijk de orchestrator die deze agents aan stuurt en mij in controle laat.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Automated Nexus for Verified Iterative Lifecycles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7D787C-1A50-408F-9833-5AAC69A832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Zes rollen: Analyst (requirements uit externe bronnen), Specifier (PRDs), Architect (plannen met fases), Builder (TDD, parallel in agent teams), Auditor (OWASP security scans), Scribe (documentgeneratie).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OWASP = Open Worldwide Application Security Project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29A535-1791-42FE-BD6B-D387066201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Twee PostToolUse hooks in Claude Code: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Enforce: een shell script dat de AI actief waarschuwt bij een bronbestand-edit zonder dat hiervoor een testwijzigingen in de changelog staat. Melding op moment van edit, niet bij commit.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Watch: een shell script die waarschuwt bij edits buiten het actieve plan waarmee we een AI scope creep proberen te voorkomen.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Beide zijn informatief voor de AI (ze blokkeren niet) en worden als je ANVIL gebruikt automatisch geinstalleerd. Mechanische checks, onafhankelijk van de AI.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 = Test-Driven Development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24D25C-3518-4D28-8175-F5E27722D8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Drie mechanismen tegen context rot: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State op disk: lifecycle state afgeleid uit bestanden, session handoff bij einde sessie.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Kleine agents: kort, gefocust window = minder attention decay (oudere berichten minder belangrijk), minder tokens, lagere kosten.</a:t>
            </a:r>
            <a:br>
              <a:rPr sz="2000"/>
            </a:b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Mechanische bewaking: hooks vangen fouten op het moment dat ze gebeuren.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Automated Nexus for Verified Iterative Lifecycles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E06837-3ED4-4ACC-9128-A019A8602F5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automatiseert de flow, maar de principes blijven: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PRDs,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plannen,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tests en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beslissingen gedurende development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Allemaal vastgelegd in bestanden. Toepasbaar met elk AI-hulpmiddel en een teksteditor.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is in ontwikkeling en zal ik voor wie interesse heeft beschikbaar stellen binnen Proud Nerds.</a:t>
            </a:r>
            <a:br>
              <a:rPr sz="2000"/>
            </a:b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Automated Nexus for Verified Iterative Lifecycles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549BB7-ECD8-4E2B-A044-A59549E2B74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560" cy="342756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Discussie en vragen.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Mogelijke gesprekspunten: hoe past dit in jullie workflow?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 vs. tijdsbesparing?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OWASP = Open Worldwide Application Security Project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= Product Requirements Document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TDD = Test-Driven Development</a:t>
            </a:r>
            <a:br>
              <a:rPr sz="2000"/>
            </a:b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ADR = Architecture Decision Record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ANVIL = Automated Nexus for Verified Iterative Lifecycles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AB84D9-99A7-406D-A314-25F3AD59A6C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600" cy="5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600" cy="80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2A74268-BB17-4A94-9C7A-F1AA47CB98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600" cy="146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DDDAAEB-ABD8-4161-955D-33B82BD09D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5E9516F-F80D-49E7-ABA2-0E3E9A776B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60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12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87DA13F-9BD7-40F1-9C20-A8FEAB2F6F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D2849C5-7510-4F42-8393-35303FAC4F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60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6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EC840B1-42C2-4791-97B1-90529046C6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E4735EF-AF53-45E7-BF2E-1E88766300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48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48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92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92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3218232-E1BA-4571-897B-51D2C3779D9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419BDE5-E628-4555-AC78-3ADD31E686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5FAEFA3-2097-4071-9C99-2E3F0DC459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0640" cy="114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360" cy="116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840" cy="58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36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7D46011-CC72-4C15-8D3C-BD2DE196BD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1371600" y="1371600"/>
            <a:ext cx="91422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TDD, ADR &amp;</a:t>
            </a:r>
            <a:br>
              <a:rPr sz="5200"/>
            </a:b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AI-Assisted Development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371600" y="3840480"/>
            <a:ext cx="7313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Hoe je voorkomt dat je AI-assistent je codebase sloopt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1371600" y="4754880"/>
            <a:ext cx="1827000" cy="34920"/>
          </a:xfrm>
          <a:prstGeom prst="rect">
            <a:avLst/>
          </a:prstGeom>
          <a:solidFill>
            <a:srgbClr val="c49a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1371600" y="5029200"/>
            <a:ext cx="731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Case study: Mithril</a:t>
            </a:r>
            <a:br>
              <a:rPr sz="1800"/>
            </a:br>
            <a:r>
              <a:rPr lang="en-US" sz="18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418 commits  |  2142 tests  |  28 ADRs  |  3 weken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914400" y="548640"/>
            <a:ext cx="9142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Oval 3"/>
          <p:cNvSpPr/>
          <p:nvPr/>
        </p:nvSpPr>
        <p:spPr>
          <a:xfrm>
            <a:off x="1371600" y="1645920"/>
            <a:ext cx="638280" cy="63828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"/>
          <p:cNvSpPr/>
          <p:nvPr/>
        </p:nvSpPr>
        <p:spPr>
          <a:xfrm>
            <a:off x="2286000" y="1645920"/>
            <a:ext cx="4570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Het Probleem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2286000" y="2011680"/>
            <a:ext cx="4570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Context Rot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Oval 6"/>
          <p:cNvSpPr/>
          <p:nvPr/>
        </p:nvSpPr>
        <p:spPr>
          <a:xfrm>
            <a:off x="1371600" y="2743200"/>
            <a:ext cx="638280" cy="63828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2286000" y="2743200"/>
            <a:ext cx="4570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Vier Lagen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8"/>
          <p:cNvSpPr/>
          <p:nvPr/>
        </p:nvSpPr>
        <p:spPr>
          <a:xfrm>
            <a:off x="2286000" y="3108960"/>
            <a:ext cx="4570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PRD, Plan, TDD, ADR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Oval 9"/>
          <p:cNvSpPr/>
          <p:nvPr/>
        </p:nvSpPr>
        <p:spPr>
          <a:xfrm>
            <a:off x="1371600" y="3840480"/>
            <a:ext cx="638280" cy="63828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2286000" y="3840480"/>
            <a:ext cx="4570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Toepassen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1"/>
          <p:cNvSpPr/>
          <p:nvPr/>
        </p:nvSpPr>
        <p:spPr>
          <a:xfrm>
            <a:off x="2286000" y="4206240"/>
            <a:ext cx="4570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Lessen en valkuilen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Oval 12"/>
          <p:cNvSpPr/>
          <p:nvPr/>
        </p:nvSpPr>
        <p:spPr>
          <a:xfrm>
            <a:off x="1371600" y="4937760"/>
            <a:ext cx="638280" cy="63828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2286000" y="4937760"/>
            <a:ext cx="4570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ANVIL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4"/>
          <p:cNvSpPr/>
          <p:nvPr/>
        </p:nvSpPr>
        <p:spPr>
          <a:xfrm>
            <a:off x="2286000" y="5303520"/>
            <a:ext cx="4570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Automatisering van de 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1371600" y="1828800"/>
            <a:ext cx="9142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1371600" y="2468880"/>
            <a:ext cx="9142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Het Probleem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1371600" y="3931920"/>
            <a:ext cx="7313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Context Rot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heeft geheugenverlies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AI werkt binnen een context window; een beperkt geheugen. Elke chat begint blanco.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4"/>
          <p:cNvSpPr/>
          <p:nvPr/>
        </p:nvSpPr>
        <p:spPr>
          <a:xfrm>
            <a:off x="914400" y="2103120"/>
            <a:ext cx="3198600" cy="31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1188720" y="2286000"/>
            <a:ext cx="264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Context compressie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1188720" y="2743200"/>
            <a:ext cx="264996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Oudere berichten worden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samengevat of weggelaten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Nuances en afspraken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verdwijnen stilletjes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7"/>
          <p:cNvSpPr/>
          <p:nvPr/>
        </p:nvSpPr>
        <p:spPr>
          <a:xfrm>
            <a:off x="4572000" y="2103120"/>
            <a:ext cx="3198600" cy="31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8"/>
          <p:cNvSpPr/>
          <p:nvPr/>
        </p:nvSpPr>
        <p:spPr>
          <a:xfrm>
            <a:off x="4846320" y="2286000"/>
            <a:ext cx="264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Attention decay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"/>
          <p:cNvSpPr/>
          <p:nvPr/>
        </p:nvSpPr>
        <p:spPr>
          <a:xfrm>
            <a:off x="4846320" y="2743200"/>
            <a:ext cx="264996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Meer tekst = minder gewicht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voor oudere informatie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Instructies van 20 berichten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geleden zijn effectief vergeten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10"/>
          <p:cNvSpPr/>
          <p:nvPr/>
        </p:nvSpPr>
        <p:spPr>
          <a:xfrm>
            <a:off x="8229600" y="2103120"/>
            <a:ext cx="3198600" cy="3198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1"/>
          <p:cNvSpPr/>
          <p:nvPr/>
        </p:nvSpPr>
        <p:spPr>
          <a:xfrm>
            <a:off x="8503920" y="2286000"/>
            <a:ext cx="264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Hallucinaties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2"/>
          <p:cNvSpPr/>
          <p:nvPr/>
        </p:nvSpPr>
        <p:spPr>
          <a:xfrm>
            <a:off x="8503920" y="2743200"/>
            <a:ext cx="264996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vult gaten met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plausibele maar onjuiste info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Weet niet dat hij het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niet meer weet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914400" y="5669280"/>
            <a:ext cx="10056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"Stel je voor dat je een collega hebt die scherp begint, maar gedurende de dag</a:t>
            </a:r>
            <a:br>
              <a:rPr sz="1800"/>
            </a:b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steeds meer vergeet; en het ergste is dat hij niet doorheeft dat hij dingen vergeet."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Context Rot in de praktijk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914400" y="1645920"/>
            <a:ext cx="914220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Architectuurbeslissingen gaan verloren of raken verdund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AI maakt dezelfde fouten opnieuw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Code wordt inconsistent; patronen worden vergeten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"Waarom is dit zo?" is niet meer te beantwoorden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800"/>
              </a:spcAft>
            </a:pPr>
            <a:r>
              <a:rPr lang="en-US" sz="24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AI stelt code voor die ingaat tegen eerdere afspraken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oplossing: externaliseer context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AI vergeet, maar bestanden in je repository niet.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4"/>
          <p:cNvSpPr/>
          <p:nvPr/>
        </p:nvSpPr>
        <p:spPr>
          <a:xfrm>
            <a:off x="914400" y="2286000"/>
            <a:ext cx="2558520" cy="3472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ounded Rectangle 5"/>
          <p:cNvSpPr/>
          <p:nvPr/>
        </p:nvSpPr>
        <p:spPr>
          <a:xfrm>
            <a:off x="1188720" y="246888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6"/>
          <p:cNvSpPr/>
          <p:nvPr/>
        </p:nvSpPr>
        <p:spPr>
          <a:xfrm>
            <a:off x="1188720" y="320040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Wat &amp; Waarom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1188720" y="3840480"/>
            <a:ext cx="2009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Feature-eisen, doelen,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acceptatiecriteria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8"/>
          <p:cNvSpPr/>
          <p:nvPr/>
        </p:nvSpPr>
        <p:spPr>
          <a:xfrm>
            <a:off x="3749040" y="2286000"/>
            <a:ext cx="2558520" cy="3472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ounded Rectangle 9"/>
          <p:cNvSpPr/>
          <p:nvPr/>
        </p:nvSpPr>
        <p:spPr>
          <a:xfrm>
            <a:off x="4023360" y="246888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4023360" y="320040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Hoe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4023360" y="3840480"/>
            <a:ext cx="2009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Technische scope,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fases en voortgang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ounded Rectangle 12"/>
          <p:cNvSpPr/>
          <p:nvPr/>
        </p:nvSpPr>
        <p:spPr>
          <a:xfrm>
            <a:off x="6583680" y="2286000"/>
            <a:ext cx="2558520" cy="3472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ounded Rectangle 13"/>
          <p:cNvSpPr/>
          <p:nvPr/>
        </p:nvSpPr>
        <p:spPr>
          <a:xfrm>
            <a:off x="6858000" y="246888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TDD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4"/>
          <p:cNvSpPr/>
          <p:nvPr/>
        </p:nvSpPr>
        <p:spPr>
          <a:xfrm>
            <a:off x="6858000" y="320040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Werkt het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5"/>
          <p:cNvSpPr/>
          <p:nvPr/>
        </p:nvSpPr>
        <p:spPr>
          <a:xfrm>
            <a:off x="6858000" y="3840480"/>
            <a:ext cx="2009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Gedrag, contracten,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regressiebeveiliging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ounded Rectangle 16"/>
          <p:cNvSpPr/>
          <p:nvPr/>
        </p:nvSpPr>
        <p:spPr>
          <a:xfrm>
            <a:off x="9418320" y="2286000"/>
            <a:ext cx="2558520" cy="3472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Rounded Rectangle 17"/>
          <p:cNvSpPr/>
          <p:nvPr/>
        </p:nvSpPr>
        <p:spPr>
          <a:xfrm>
            <a:off x="9692640" y="246888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8"/>
          <p:cNvSpPr/>
          <p:nvPr/>
        </p:nvSpPr>
        <p:spPr>
          <a:xfrm>
            <a:off x="9692640" y="3200400"/>
            <a:ext cx="200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Beantwoordt: Waarom zo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9"/>
          <p:cNvSpPr/>
          <p:nvPr/>
        </p:nvSpPr>
        <p:spPr>
          <a:xfrm>
            <a:off x="9692640" y="3840480"/>
            <a:ext cx="2009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Architectuurbeslissingen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en onderbouwing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1371600" y="1828800"/>
            <a:ext cx="9142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1371600" y="2468880"/>
            <a:ext cx="9142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 Vier Lagen in de Praktijk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1: PRDs; de opdracht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Wat gaan we bouwen en waarom?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4"/>
          <p:cNvSpPr/>
          <p:nvPr/>
        </p:nvSpPr>
        <p:spPr>
          <a:xfrm>
            <a:off x="914400" y="2286000"/>
            <a:ext cx="50274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Doel; welk probleem lost dit op?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Scope; wat is in en out of scope?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Acceptatiecriteria; wanneer is het klaar?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ounded Rectangle 5"/>
          <p:cNvSpPr/>
          <p:nvPr/>
        </p:nvSpPr>
        <p:spPr>
          <a:xfrm>
            <a:off x="914400" y="4572000"/>
            <a:ext cx="10056600" cy="136980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1188720" y="4754880"/>
            <a:ext cx="9507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Een PRD hoeft niet zwaar te zijn. Zelfs een half A4 met doel, scope en</a:t>
            </a:r>
            <a:br>
              <a:rPr sz="2000"/>
            </a:b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5 acceptatiecriteria bespaart uren aan verkeerde implementatie.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2: Het Plan; de vertaling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Vertaalt PRD-criteria naar technische specs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914400" y="2286000"/>
            <a:ext cx="9142200" cy="27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Deelt werk op in fases die in een sessie passen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Maakt elke spec testbaar (directe input voor TDD)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Houdt voortgang bij; legt vast wat out of scope is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599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Levend document; wordt bijgewerkt tijdens implementatie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5"/>
          <p:cNvSpPr/>
          <p:nvPr/>
        </p:nvSpPr>
        <p:spPr>
          <a:xfrm>
            <a:off x="914400" y="4572000"/>
            <a:ext cx="10056600" cy="136980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188720" y="4754880"/>
            <a:ext cx="9507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Voorbeeld: TDD ontdekte een event dispatch gap; plan werd bijgewerkt</a:t>
            </a:r>
            <a:br>
              <a:rPr sz="2000"/>
            </a:br>
            <a:r>
              <a:rPr lang="en-US" sz="2000" b="0" i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met een nieuwe Phase 0, en ADR-013 geschreven.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3: TDD; het veiligheidsnet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Geen "nice to have"; het veiligheidsnet dat voorkomt dat de AI je codebase sloopt.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4"/>
          <p:cNvSpPr/>
          <p:nvPr/>
        </p:nvSpPr>
        <p:spPr>
          <a:xfrm>
            <a:off x="914400" y="228600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5"/>
          <p:cNvSpPr/>
          <p:nvPr/>
        </p:nvSpPr>
        <p:spPr>
          <a:xfrm>
            <a:off x="914400" y="2286000"/>
            <a:ext cx="3290040" cy="6382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6"/>
          <p:cNvSpPr/>
          <p:nvPr/>
        </p:nvSpPr>
        <p:spPr>
          <a:xfrm>
            <a:off x="1188720" y="3200400"/>
            <a:ext cx="27414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een falende test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het gewenste gedrag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beschrijft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ounded Rectangle 7"/>
          <p:cNvSpPr/>
          <p:nvPr/>
        </p:nvSpPr>
        <p:spPr>
          <a:xfrm>
            <a:off x="4663440" y="228600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ectangle 8"/>
          <p:cNvSpPr/>
          <p:nvPr/>
        </p:nvSpPr>
        <p:spPr>
          <a:xfrm>
            <a:off x="4663440" y="2286000"/>
            <a:ext cx="3290040" cy="638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GREEN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9"/>
          <p:cNvSpPr/>
          <p:nvPr/>
        </p:nvSpPr>
        <p:spPr>
          <a:xfrm>
            <a:off x="4937760" y="3200400"/>
            <a:ext cx="27414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de minimale code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om de test te laten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slagen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ounded Rectangle 10"/>
          <p:cNvSpPr/>
          <p:nvPr/>
        </p:nvSpPr>
        <p:spPr>
          <a:xfrm>
            <a:off x="8412480" y="228600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2980b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11"/>
          <p:cNvSpPr/>
          <p:nvPr/>
        </p:nvSpPr>
        <p:spPr>
          <a:xfrm>
            <a:off x="8412480" y="2286000"/>
            <a:ext cx="3290040" cy="638280"/>
          </a:xfrm>
          <a:prstGeom prst="rect">
            <a:avLst/>
          </a:prstGeom>
          <a:solidFill>
            <a:srgbClr val="2980b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REFACTOR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2"/>
          <p:cNvSpPr/>
          <p:nvPr/>
        </p:nvSpPr>
        <p:spPr>
          <a:xfrm>
            <a:off x="8686800" y="3200400"/>
            <a:ext cx="2741400" cy="164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Verbeter de code met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het vangnet van</a:t>
            </a:r>
            <a:br>
              <a:rPr sz="1800"/>
            </a:b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groene tests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3"/>
          <p:cNvSpPr/>
          <p:nvPr/>
        </p:nvSpPr>
        <p:spPr>
          <a:xfrm>
            <a:off x="4023360" y="301752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&gt;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4"/>
          <p:cNvSpPr/>
          <p:nvPr/>
        </p:nvSpPr>
        <p:spPr>
          <a:xfrm>
            <a:off x="7772400" y="3017520"/>
            <a:ext cx="455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&gt;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Case Study: HasFollowUp trait (ADR-001)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3"/>
          <p:cNvSpPr/>
          <p:nvPr/>
        </p:nvSpPr>
        <p:spPr>
          <a:xfrm>
            <a:off x="914400" y="1463040"/>
            <a:ext cx="484452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4"/>
          <p:cNvSpPr/>
          <p:nvPr/>
        </p:nvSpPr>
        <p:spPr>
          <a:xfrm>
            <a:off x="1188720" y="164592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Het probleem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1188720" y="2031120"/>
            <a:ext cx="4295880" cy="210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HasFollowUp trait bevroeg kolommen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‘follow_up_date’ en ‘status’ rechtstreeks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kolommen bestonden echter alleen op 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follow_ups tabel; niet op tasks tabel.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Runtime SQL errors gegarandeerd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6"/>
          <p:cNvSpPr/>
          <p:nvPr/>
        </p:nvSpPr>
        <p:spPr>
          <a:xfrm>
            <a:off x="6400800" y="1463040"/>
            <a:ext cx="484452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7"/>
          <p:cNvSpPr/>
          <p:nvPr/>
        </p:nvSpPr>
        <p:spPr>
          <a:xfrm>
            <a:off x="6675120" y="164592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 oplossing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675120" y="2031120"/>
            <a:ext cx="4295880" cy="170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test faalde: niet de implementatie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was fout, maar het hele design was flawed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scope werd herschreven naar whereHas-based queries en de bug was gevonden en opgelost voor de development ervan klaar was.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9"/>
          <p:cNvSpPr/>
          <p:nvPr/>
        </p:nvSpPr>
        <p:spPr>
          <a:xfrm>
            <a:off x="914400" y="4754880"/>
            <a:ext cx="10056600" cy="118692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10"/>
          <p:cNvSpPr/>
          <p:nvPr/>
        </p:nvSpPr>
        <p:spPr>
          <a:xfrm>
            <a:off x="1188720" y="4937760"/>
            <a:ext cx="9507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De tests vonden de bug. Niet de AI, niet code review, niet QA.</a:t>
            </a:r>
            <a:br>
              <a:rPr sz="2200"/>
            </a:b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De falende test dwong een redesign af.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Laag 4: ADRs; het geheugen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Documenteert beslissingen die afwijken van het plan of niet-triviale trade-offs bevatten.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4"/>
          <p:cNvSpPr/>
          <p:nvPr/>
        </p:nvSpPr>
        <p:spPr>
          <a:xfrm>
            <a:off x="914400" y="2286000"/>
            <a:ext cx="3290040" cy="182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1188720" y="246888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Context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1188720" y="3017520"/>
            <a:ext cx="2741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was het probleem?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7"/>
          <p:cNvSpPr/>
          <p:nvPr/>
        </p:nvSpPr>
        <p:spPr>
          <a:xfrm>
            <a:off x="4663440" y="2286000"/>
            <a:ext cx="3290040" cy="182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4937760" y="246888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Decision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4937760" y="3017520"/>
            <a:ext cx="2741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is er besloten</a:t>
            </a:r>
            <a:br>
              <a:rPr sz="2000"/>
            </a:b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en waarom?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10"/>
          <p:cNvSpPr/>
          <p:nvPr/>
        </p:nvSpPr>
        <p:spPr>
          <a:xfrm>
            <a:off x="8412480" y="2286000"/>
            <a:ext cx="3290040" cy="182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Box 11"/>
          <p:cNvSpPr/>
          <p:nvPr/>
        </p:nvSpPr>
        <p:spPr>
          <a:xfrm>
            <a:off x="8686800" y="246888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Consequences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8686800" y="3017520"/>
            <a:ext cx="27414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Wat verandert 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13"/>
          <p:cNvSpPr/>
          <p:nvPr/>
        </p:nvSpPr>
        <p:spPr>
          <a:xfrm>
            <a:off x="914400" y="4754880"/>
            <a:ext cx="10056600" cy="1186920"/>
          </a:xfrm>
          <a:prstGeom prst="roundRect">
            <a:avLst>
              <a:gd name="adj" fmla="val 16667"/>
            </a:avLst>
          </a:prstGeom>
          <a:solidFill>
            <a:srgbClr val="e8f0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14"/>
          <p:cNvSpPr/>
          <p:nvPr/>
        </p:nvSpPr>
        <p:spPr>
          <a:xfrm>
            <a:off x="1188720" y="4937760"/>
            <a:ext cx="9507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2a5f4a"/>
                </a:solidFill>
                <a:effectLst/>
                <a:uFillTx/>
                <a:latin typeface="Calibri"/>
              </a:rPr>
              <a:t>Vuistregel: Als iemand later zou kunnen vragen "waarom is dit zo?"; schrijf een ADR.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Case Study: Event Dispatch Gap (ADR-013)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3"/>
          <p:cNvSpPr/>
          <p:nvPr/>
        </p:nvSpPr>
        <p:spPr>
          <a:xfrm>
            <a:off x="914400" y="1463040"/>
            <a:ext cx="48445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"/>
          <p:cNvSpPr/>
          <p:nvPr/>
        </p:nvSpPr>
        <p:spPr>
          <a:xfrm>
            <a:off x="1188720" y="164592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Het probleem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5"/>
          <p:cNvSpPr/>
          <p:nvPr/>
        </p:nvSpPr>
        <p:spPr>
          <a:xfrm>
            <a:off x="1188720" y="2103120"/>
            <a:ext cx="4295880" cy="12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TaskStatusChanged event werd alleen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Afgevuurd vanuit een expliciete route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3 andere code paths updaten de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zonder event te dispatchen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6"/>
          <p:cNvSpPr/>
          <p:nvPr/>
        </p:nvSpPr>
        <p:spPr>
          <a:xfrm>
            <a:off x="6400800" y="1463040"/>
            <a:ext cx="48445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7"/>
          <p:cNvSpPr/>
          <p:nvPr/>
        </p:nvSpPr>
        <p:spPr>
          <a:xfrm>
            <a:off x="6675120" y="164592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De oplossing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8"/>
          <p:cNvSpPr/>
          <p:nvPr/>
        </p:nvSpPr>
        <p:spPr>
          <a:xfrm>
            <a:off x="6675120" y="2103120"/>
            <a:ext cx="4295880" cy="12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TaskObserver dispatcht event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automatisch bij elke statuswijziging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Handmatige dispatches verwijderd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Loste ook een reeds bestaand probleem op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9"/>
          <p:cNvSpPr/>
          <p:nvPr/>
        </p:nvSpPr>
        <p:spPr>
          <a:xfrm>
            <a:off x="914400" y="4114800"/>
            <a:ext cx="100566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Zonder ADR zou een volgende sessie niet weten: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0"/>
          <p:cNvSpPr/>
          <p:nvPr/>
        </p:nvSpPr>
        <p:spPr>
          <a:xfrm>
            <a:off x="914400" y="4663440"/>
            <a:ext cx="10056600" cy="11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er bewust een Observer is gekozen boven handmatige dispatch calls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handmatige dispatches bewust zijn verwijderd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Welke alternatieven zijn afgewezen en waarom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Feedback Loop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3"/>
          <p:cNvSpPr/>
          <p:nvPr/>
        </p:nvSpPr>
        <p:spPr>
          <a:xfrm>
            <a:off x="64008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 definieert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wat en waarom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4"/>
          <p:cNvSpPr/>
          <p:nvPr/>
        </p:nvSpPr>
        <p:spPr>
          <a:xfrm>
            <a:off x="2331720" y="2148840"/>
            <a:ext cx="27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5"/>
          <p:cNvSpPr/>
          <p:nvPr/>
        </p:nvSpPr>
        <p:spPr>
          <a:xfrm>
            <a:off x="256032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Plan vertaalt naar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technische specs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4251960" y="2148840"/>
            <a:ext cx="27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ounded Rectangle 7"/>
          <p:cNvSpPr/>
          <p:nvPr/>
        </p:nvSpPr>
        <p:spPr>
          <a:xfrm>
            <a:off x="448056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Specs worden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tests (TDD)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6172200" y="2148840"/>
            <a:ext cx="27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ounded Rectangle 9"/>
          <p:cNvSpPr/>
          <p:nvPr/>
        </p:nvSpPr>
        <p:spPr>
          <a:xfrm>
            <a:off x="640080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Tests ontdekken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problemen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10"/>
          <p:cNvSpPr/>
          <p:nvPr/>
        </p:nvSpPr>
        <p:spPr>
          <a:xfrm>
            <a:off x="8092440" y="2148840"/>
            <a:ext cx="27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ounded Rectangle 11"/>
          <p:cNvSpPr/>
          <p:nvPr/>
        </p:nvSpPr>
        <p:spPr>
          <a:xfrm>
            <a:off x="832104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Problemen</a:t>
            </a:r>
            <a:br>
              <a:rPr sz="1400"/>
            </a:b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triggeren ADRs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2"/>
          <p:cNvSpPr/>
          <p:nvPr/>
        </p:nvSpPr>
        <p:spPr>
          <a:xfrm>
            <a:off x="10012680" y="2148840"/>
            <a:ext cx="2725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13"/>
          <p:cNvSpPr/>
          <p:nvPr/>
        </p:nvSpPr>
        <p:spPr>
          <a:xfrm>
            <a:off x="10241280" y="1828800"/>
            <a:ext cx="1689840" cy="1278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ADRs informeren</a:t>
            </a:r>
            <a:br>
              <a:rPr sz="1400"/>
            </a:br>
            <a:r>
              <a:rPr lang="en-US" sz="1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volgende sessies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8" name="Table 14"/>
          <p:cNvGraphicFramePr/>
          <p:nvPr/>
        </p:nvGraphicFramePr>
        <p:xfrm>
          <a:off x="1371600" y="3657600"/>
          <a:ext cx="9143640" cy="2743200"/>
        </p:xfrm>
        <a:graphic>
          <a:graphicData uri="http://schemas.openxmlformats.org/drawingml/2006/table">
            <a:tbl>
              <a:tblPr/>
              <a:tblGrid>
                <a:gridCol w="4572000"/>
                <a:gridCol w="45720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Probleem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Oplossing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vergeet vorige sessie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+ plan overleven sessies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breekt bestaande code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Tests vangen regressies direct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gebruikt andere patronen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Plan + codebase scan dwingen af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voegt ongeplande features toe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Plan met "Out of Scope" sectie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draait bewuste keuzes terug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documenteren het waarom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Box 1"/>
          <p:cNvSpPr/>
          <p:nvPr/>
        </p:nvSpPr>
        <p:spPr>
          <a:xfrm>
            <a:off x="1371600" y="1828800"/>
            <a:ext cx="9142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2"/>
          <p:cNvSpPr/>
          <p:nvPr/>
        </p:nvSpPr>
        <p:spPr>
          <a:xfrm>
            <a:off x="1371600" y="2468880"/>
            <a:ext cx="9142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Toepassen en Valkuilen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vijf belangrijkste lessen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3"/>
          <p:cNvSpPr/>
          <p:nvPr/>
        </p:nvSpPr>
        <p:spPr>
          <a:xfrm>
            <a:off x="914400" y="1417320"/>
            <a:ext cx="501120" cy="5011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1645920" y="1371600"/>
            <a:ext cx="914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Als het niet in een bestand staat, bestaat het niet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5"/>
          <p:cNvSpPr/>
          <p:nvPr/>
        </p:nvSpPr>
        <p:spPr>
          <a:xfrm>
            <a:off x="1645920" y="1783080"/>
            <a:ext cx="914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Elke AI-sessie begint leeg. Context die alleen in je hoofd zit, gaat verloren.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Oval 6"/>
          <p:cNvSpPr/>
          <p:nvPr/>
        </p:nvSpPr>
        <p:spPr>
          <a:xfrm>
            <a:off x="914400" y="2468880"/>
            <a:ext cx="501120" cy="5011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7"/>
          <p:cNvSpPr/>
          <p:nvPr/>
        </p:nvSpPr>
        <p:spPr>
          <a:xfrm>
            <a:off x="1645920" y="2423160"/>
            <a:ext cx="914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 specs testbaar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8"/>
          <p:cNvSpPr/>
          <p:nvPr/>
        </p:nvSpPr>
        <p:spPr>
          <a:xfrm>
            <a:off x="1645920" y="2834640"/>
            <a:ext cx="914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Als je het niet in een test kunt uitdrukken, is de spec te vaag.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Oval 9"/>
          <p:cNvSpPr/>
          <p:nvPr/>
        </p:nvSpPr>
        <p:spPr>
          <a:xfrm>
            <a:off x="914400" y="3520440"/>
            <a:ext cx="501120" cy="5011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0"/>
          <p:cNvSpPr/>
          <p:nvPr/>
        </p:nvSpPr>
        <p:spPr>
          <a:xfrm>
            <a:off x="1645920" y="3474720"/>
            <a:ext cx="914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 ADRs op het moment van de beslissing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1"/>
          <p:cNvSpPr/>
          <p:nvPr/>
        </p:nvSpPr>
        <p:spPr>
          <a:xfrm>
            <a:off x="1645920" y="3886200"/>
            <a:ext cx="914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Achteraf mis je de alternatieven die je hebt overwogen.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Oval 12"/>
          <p:cNvSpPr/>
          <p:nvPr/>
        </p:nvSpPr>
        <p:spPr>
          <a:xfrm>
            <a:off x="914400" y="4572000"/>
            <a:ext cx="501120" cy="5011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1645920" y="4526280"/>
            <a:ext cx="914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 sessies klein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1645920" y="4937760"/>
            <a:ext cx="914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Kleine fases houden sessies beheersbaar en voorkomen context compressie.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Oval 15"/>
          <p:cNvSpPr/>
          <p:nvPr/>
        </p:nvSpPr>
        <p:spPr>
          <a:xfrm>
            <a:off x="914400" y="5623560"/>
            <a:ext cx="501120" cy="50112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6"/>
          <p:cNvSpPr/>
          <p:nvPr/>
        </p:nvSpPr>
        <p:spPr>
          <a:xfrm>
            <a:off x="1645920" y="5577840"/>
            <a:ext cx="9142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Jij blijft de architect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7"/>
          <p:cNvSpPr/>
          <p:nvPr/>
        </p:nvSpPr>
        <p:spPr>
          <a:xfrm>
            <a:off x="1645920" y="5989320"/>
            <a:ext cx="914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Review, denk mee, stel vragen. Blind vertrouwen leidt tot blinde vlekken.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Hoe begin je?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Je hebt geen speciale tooling nodig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4"/>
          <p:cNvSpPr/>
          <p:nvPr/>
        </p:nvSpPr>
        <p:spPr>
          <a:xfrm>
            <a:off x="914400" y="2286000"/>
            <a:ext cx="10056600" cy="365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Start elke AI-sessie met context laden; geef relevante ADRs, het plan, en laat tests lezen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Gebruik een CLAUDE.md (of equivalent); conventies, actieve plannen, verwijzingen naar ADRs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Houd ADRs klein; een ADR per beslissing, niet een mega-document per feature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2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Gebruik het plan als communicatiemiddel; niet alleen voor de AI, maar ook voor je team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Mithril in cijfers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3"/>
          <p:cNvSpPr/>
          <p:nvPr/>
        </p:nvSpPr>
        <p:spPr>
          <a:xfrm>
            <a:off x="914400" y="1188720"/>
            <a:ext cx="100566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Gebouwd met consistente architectuur ondanks tientallen sessiewisselingen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ounded Rectangle 4"/>
          <p:cNvSpPr/>
          <p:nvPr/>
        </p:nvSpPr>
        <p:spPr>
          <a:xfrm>
            <a:off x="91440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5"/>
          <p:cNvSpPr/>
          <p:nvPr/>
        </p:nvSpPr>
        <p:spPr>
          <a:xfrm>
            <a:off x="100584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418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6"/>
          <p:cNvSpPr/>
          <p:nvPr/>
        </p:nvSpPr>
        <p:spPr>
          <a:xfrm>
            <a:off x="100584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Commits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7"/>
          <p:cNvSpPr/>
          <p:nvPr/>
        </p:nvSpPr>
        <p:spPr>
          <a:xfrm>
            <a:off x="278892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8"/>
          <p:cNvSpPr/>
          <p:nvPr/>
        </p:nvSpPr>
        <p:spPr>
          <a:xfrm>
            <a:off x="288036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4602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9"/>
          <p:cNvSpPr/>
          <p:nvPr/>
        </p:nvSpPr>
        <p:spPr>
          <a:xfrm>
            <a:off x="288036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Assertions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ounded Rectangle 10"/>
          <p:cNvSpPr/>
          <p:nvPr/>
        </p:nvSpPr>
        <p:spPr>
          <a:xfrm>
            <a:off x="466344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11"/>
          <p:cNvSpPr/>
          <p:nvPr/>
        </p:nvSpPr>
        <p:spPr>
          <a:xfrm>
            <a:off x="475488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2142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2"/>
          <p:cNvSpPr/>
          <p:nvPr/>
        </p:nvSpPr>
        <p:spPr>
          <a:xfrm>
            <a:off x="475488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Tests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ounded Rectangle 13"/>
          <p:cNvSpPr/>
          <p:nvPr/>
        </p:nvSpPr>
        <p:spPr>
          <a:xfrm>
            <a:off x="653796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14"/>
          <p:cNvSpPr/>
          <p:nvPr/>
        </p:nvSpPr>
        <p:spPr>
          <a:xfrm>
            <a:off x="662940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28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15"/>
          <p:cNvSpPr/>
          <p:nvPr/>
        </p:nvSpPr>
        <p:spPr>
          <a:xfrm>
            <a:off x="662940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ADRs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ounded Rectangle 16"/>
          <p:cNvSpPr/>
          <p:nvPr/>
        </p:nvSpPr>
        <p:spPr>
          <a:xfrm>
            <a:off x="841248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7"/>
          <p:cNvSpPr/>
          <p:nvPr/>
        </p:nvSpPr>
        <p:spPr>
          <a:xfrm>
            <a:off x="850392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19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18"/>
          <p:cNvSpPr/>
          <p:nvPr/>
        </p:nvSpPr>
        <p:spPr>
          <a:xfrm>
            <a:off x="850392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Plannen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ounded Rectangle 19"/>
          <p:cNvSpPr/>
          <p:nvPr/>
        </p:nvSpPr>
        <p:spPr>
          <a:xfrm>
            <a:off x="10287000" y="2286000"/>
            <a:ext cx="1644120" cy="2284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20"/>
          <p:cNvSpPr/>
          <p:nvPr/>
        </p:nvSpPr>
        <p:spPr>
          <a:xfrm>
            <a:off x="10378440" y="2651760"/>
            <a:ext cx="14612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21"/>
          <p:cNvSpPr/>
          <p:nvPr/>
        </p:nvSpPr>
        <p:spPr>
          <a:xfrm>
            <a:off x="10378440" y="3657600"/>
            <a:ext cx="14612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Weken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extBox 1"/>
          <p:cNvSpPr/>
          <p:nvPr/>
        </p:nvSpPr>
        <p:spPr>
          <a:xfrm>
            <a:off x="1371600" y="1828800"/>
            <a:ext cx="9142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DEEL 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2"/>
          <p:cNvSpPr/>
          <p:nvPr/>
        </p:nvSpPr>
        <p:spPr>
          <a:xfrm>
            <a:off x="1371600" y="2468880"/>
            <a:ext cx="91422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ANVIL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3"/>
          <p:cNvSpPr/>
          <p:nvPr/>
        </p:nvSpPr>
        <p:spPr>
          <a:xfrm>
            <a:off x="1371600" y="3931920"/>
            <a:ext cx="7313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Automated Nexus for Verified Iterative Lifecycles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Van handmatig naar georchestreerd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vier lagen werken, maar vereisen discipline. Onder tijdsdruk slipt dat.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ounded Rectangle 4"/>
          <p:cNvSpPr/>
          <p:nvPr/>
        </p:nvSpPr>
        <p:spPr>
          <a:xfrm>
            <a:off x="731520" y="2560320"/>
            <a:ext cx="1918440" cy="146124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Research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Analyst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5"/>
          <p:cNvSpPr/>
          <p:nvPr/>
        </p:nvSpPr>
        <p:spPr>
          <a:xfrm>
            <a:off x="2651760" y="2926080"/>
            <a:ext cx="363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ounded Rectangle 6"/>
          <p:cNvSpPr/>
          <p:nvPr/>
        </p:nvSpPr>
        <p:spPr>
          <a:xfrm>
            <a:off x="3017520" y="2560320"/>
            <a:ext cx="1918440" cy="146124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Specifier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7"/>
          <p:cNvSpPr/>
          <p:nvPr/>
        </p:nvSpPr>
        <p:spPr>
          <a:xfrm>
            <a:off x="4937760" y="2926080"/>
            <a:ext cx="363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ounded Rectangle 8"/>
          <p:cNvSpPr/>
          <p:nvPr/>
        </p:nvSpPr>
        <p:spPr>
          <a:xfrm>
            <a:off x="5303520" y="2560320"/>
            <a:ext cx="1918440" cy="146124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Plan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Architect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9"/>
          <p:cNvSpPr/>
          <p:nvPr/>
        </p:nvSpPr>
        <p:spPr>
          <a:xfrm>
            <a:off x="7223760" y="2926080"/>
            <a:ext cx="363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unded Rectangle 10"/>
          <p:cNvSpPr/>
          <p:nvPr/>
        </p:nvSpPr>
        <p:spPr>
          <a:xfrm>
            <a:off x="7589520" y="2560320"/>
            <a:ext cx="1918440" cy="146124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Builder (TDD)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1"/>
          <p:cNvSpPr/>
          <p:nvPr/>
        </p:nvSpPr>
        <p:spPr>
          <a:xfrm>
            <a:off x="9509760" y="2926080"/>
            <a:ext cx="363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&gt;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ounded Rectangle 12"/>
          <p:cNvSpPr/>
          <p:nvPr/>
        </p:nvSpPr>
        <p:spPr>
          <a:xfrm>
            <a:off x="9875520" y="2560320"/>
            <a:ext cx="1918440" cy="1461240"/>
          </a:xfrm>
          <a:prstGeom prst="roundRect">
            <a:avLst>
              <a:gd name="adj" fmla="val 16667"/>
            </a:avLst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ADRs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Automatisch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13"/>
          <p:cNvSpPr/>
          <p:nvPr/>
        </p:nvSpPr>
        <p:spPr>
          <a:xfrm>
            <a:off x="914400" y="4572000"/>
            <a:ext cx="1005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Elke rol is een AI-agent met specifieke opdracht en regels.</a:t>
            </a:r>
            <a:br>
              <a:rPr sz="2000"/>
            </a:br>
            <a:r>
              <a:rPr lang="en-US" sz="20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orchestrator stuurt aan, bewaakt voortgang, en houdt de gebruiker in controle.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Zes gespecialiseerde rollen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ounded Rectangle 3"/>
          <p:cNvSpPr/>
          <p:nvPr/>
        </p:nvSpPr>
        <p:spPr>
          <a:xfrm>
            <a:off x="914400" y="146304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4"/>
          <p:cNvSpPr/>
          <p:nvPr/>
        </p:nvSpPr>
        <p:spPr>
          <a:xfrm>
            <a:off x="1188720" y="164592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Analyst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5"/>
          <p:cNvSpPr/>
          <p:nvPr/>
        </p:nvSpPr>
        <p:spPr>
          <a:xfrm>
            <a:off x="1188720" y="219456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Haalt requirements op uit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externe bronnen (bijv. Jira)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6"/>
          <p:cNvSpPr/>
          <p:nvPr/>
        </p:nvSpPr>
        <p:spPr>
          <a:xfrm>
            <a:off x="4572000" y="146304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7"/>
          <p:cNvSpPr/>
          <p:nvPr/>
        </p:nvSpPr>
        <p:spPr>
          <a:xfrm>
            <a:off x="4846320" y="164592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Specifier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8"/>
          <p:cNvSpPr/>
          <p:nvPr/>
        </p:nvSpPr>
        <p:spPr>
          <a:xfrm>
            <a:off x="4846320" y="219456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Schrijft en reviewt PRDs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8229600" y="146304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8503920" y="164592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Architect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8503920" y="219456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Maakt implementatieplannen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met fases en specs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ounded Rectangle 12"/>
          <p:cNvSpPr/>
          <p:nvPr/>
        </p:nvSpPr>
        <p:spPr>
          <a:xfrm>
            <a:off x="914400" y="402336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13"/>
          <p:cNvSpPr/>
          <p:nvPr/>
        </p:nvSpPr>
        <p:spPr>
          <a:xfrm>
            <a:off x="1188720" y="420624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Builder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14"/>
          <p:cNvSpPr/>
          <p:nvPr/>
        </p:nvSpPr>
        <p:spPr>
          <a:xfrm>
            <a:off x="1188720" y="475488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Bouwt via TDD, kan parallel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werken in agent teams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15"/>
          <p:cNvSpPr/>
          <p:nvPr/>
        </p:nvSpPr>
        <p:spPr>
          <a:xfrm>
            <a:off x="4572000" y="402336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16"/>
          <p:cNvSpPr/>
          <p:nvPr/>
        </p:nvSpPr>
        <p:spPr>
          <a:xfrm>
            <a:off x="4846320" y="420624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Auditor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7"/>
          <p:cNvSpPr/>
          <p:nvPr/>
        </p:nvSpPr>
        <p:spPr>
          <a:xfrm>
            <a:off x="4846320" y="475488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OWASP security scans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op de codebase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ounded Rectangle 18"/>
          <p:cNvSpPr/>
          <p:nvPr/>
        </p:nvSpPr>
        <p:spPr>
          <a:xfrm>
            <a:off x="8229600" y="4023360"/>
            <a:ext cx="3198600" cy="2009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19"/>
          <p:cNvSpPr/>
          <p:nvPr/>
        </p:nvSpPr>
        <p:spPr>
          <a:xfrm>
            <a:off x="8503920" y="4206240"/>
            <a:ext cx="2741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3d8b6b"/>
                </a:solidFill>
                <a:effectLst/>
                <a:uFillTx/>
                <a:latin typeface="Calibri"/>
              </a:rPr>
              <a:t>Scribe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20"/>
          <p:cNvSpPr/>
          <p:nvPr/>
        </p:nvSpPr>
        <p:spPr>
          <a:xfrm>
            <a:off x="8503920" y="4754880"/>
            <a:ext cx="27414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Genereert documenten vanuit</a:t>
            </a:r>
            <a:br>
              <a:rPr sz="1700"/>
            </a:br>
            <a:r>
              <a:rPr lang="en-US" sz="17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opgeleverde resultaten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Automatische bewaking via Hooks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"/>
          <p:cNvSpPr/>
          <p:nvPr/>
        </p:nvSpPr>
        <p:spPr>
          <a:xfrm>
            <a:off x="914400" y="1280160"/>
            <a:ext cx="1005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Twee PostToolUse hooks die real-time afdwingen wat anders op discipline leunt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ounded Rectangle 4"/>
          <p:cNvSpPr/>
          <p:nvPr/>
        </p:nvSpPr>
        <p:spPr>
          <a:xfrm>
            <a:off x="914400" y="2103120"/>
            <a:ext cx="4844520" cy="292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5"/>
          <p:cNvSpPr/>
          <p:nvPr/>
        </p:nvSpPr>
        <p:spPr>
          <a:xfrm>
            <a:off x="1188720" y="228600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TDD Enforce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6"/>
          <p:cNvSpPr/>
          <p:nvPr/>
        </p:nvSpPr>
        <p:spPr>
          <a:xfrm>
            <a:off x="1188720" y="2743200"/>
            <a:ext cx="429588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Waarschuwt wanneer bronbestand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gewijzigd wordt zonder testwijzigingen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Dwingt Red-Green volgorde af: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eerst tests, dan implementatie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Melding op moment van edit,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niet pas bij commit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7"/>
          <p:cNvSpPr/>
          <p:nvPr/>
        </p:nvSpPr>
        <p:spPr>
          <a:xfrm>
            <a:off x="6400800" y="2103120"/>
            <a:ext cx="4844520" cy="292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d3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Box 8"/>
          <p:cNvSpPr/>
          <p:nvPr/>
        </p:nvSpPr>
        <p:spPr>
          <a:xfrm>
            <a:off x="6675120" y="2286000"/>
            <a:ext cx="4295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49a3c"/>
                </a:solidFill>
                <a:effectLst/>
                <a:uFillTx/>
                <a:latin typeface="Calibri"/>
              </a:rPr>
              <a:t>ADR Watch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9"/>
          <p:cNvSpPr/>
          <p:nvPr/>
        </p:nvSpPr>
        <p:spPr>
          <a:xfrm>
            <a:off x="6675120" y="2743200"/>
            <a:ext cx="4295880" cy="21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Waarschuwt wanneer bestand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buiten actief plan wordt gewijzigd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Voorkomt onbewuste scope creep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Informatief; blokkeert niet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0"/>
          <p:cNvSpPr/>
          <p:nvPr/>
        </p:nvSpPr>
        <p:spPr>
          <a:xfrm>
            <a:off x="914400" y="5486400"/>
            <a:ext cx="1005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Beide hooks zijn informatief (ze blokkeren niet) en worden automatisch geinstalleerd.</a:t>
            </a:r>
            <a:br>
              <a:rPr sz="1800"/>
            </a:br>
            <a:r>
              <a:rPr lang="en-US" sz="1800" b="0" i="1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Dit zijn mechanische checks die onafhankelijk van de AI draaien.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Hoe ANVIL context rot minimaliseert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3"/>
          <p:cNvSpPr/>
          <p:nvPr/>
        </p:nvSpPr>
        <p:spPr>
          <a:xfrm>
            <a:off x="914400" y="1645920"/>
            <a:ext cx="3290040" cy="255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Oval 4"/>
          <p:cNvSpPr/>
          <p:nvPr/>
        </p:nvSpPr>
        <p:spPr>
          <a:xfrm>
            <a:off x="1097280" y="1828800"/>
            <a:ext cx="455400" cy="45540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5"/>
          <p:cNvSpPr/>
          <p:nvPr/>
        </p:nvSpPr>
        <p:spPr>
          <a:xfrm>
            <a:off x="1645920" y="1828800"/>
            <a:ext cx="2284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State op disk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6"/>
          <p:cNvSpPr/>
          <p:nvPr/>
        </p:nvSpPr>
        <p:spPr>
          <a:xfrm>
            <a:off x="1188720" y="2468880"/>
            <a:ext cx="2741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Lifecycle state afgeleid uit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bestanden, niet uit geheugen.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Session handoff bij einde sessie.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ounded Rectangle 7"/>
          <p:cNvSpPr/>
          <p:nvPr/>
        </p:nvSpPr>
        <p:spPr>
          <a:xfrm>
            <a:off x="4663440" y="1645920"/>
            <a:ext cx="3290040" cy="255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Oval 8"/>
          <p:cNvSpPr/>
          <p:nvPr/>
        </p:nvSpPr>
        <p:spPr>
          <a:xfrm>
            <a:off x="4846320" y="1828800"/>
            <a:ext cx="455400" cy="45540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9"/>
          <p:cNvSpPr/>
          <p:nvPr/>
        </p:nvSpPr>
        <p:spPr>
          <a:xfrm>
            <a:off x="5394960" y="1828800"/>
            <a:ext cx="2284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Kleine, gefocuste agents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10"/>
          <p:cNvSpPr/>
          <p:nvPr/>
        </p:nvSpPr>
        <p:spPr>
          <a:xfrm>
            <a:off x="4937760" y="2468880"/>
            <a:ext cx="2741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Elke agent krijgt alleen wat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hij nodig heeft. Kort window =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minder attention decay.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ounded Rectangle 11"/>
          <p:cNvSpPr/>
          <p:nvPr/>
        </p:nvSpPr>
        <p:spPr>
          <a:xfrm>
            <a:off x="8412480" y="1645920"/>
            <a:ext cx="3290040" cy="2558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Oval 12"/>
          <p:cNvSpPr/>
          <p:nvPr/>
        </p:nvSpPr>
        <p:spPr>
          <a:xfrm>
            <a:off x="8595360" y="1828800"/>
            <a:ext cx="455400" cy="455400"/>
          </a:xfrm>
          <a:prstGeom prst="ellipse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13"/>
          <p:cNvSpPr/>
          <p:nvPr/>
        </p:nvSpPr>
        <p:spPr>
          <a:xfrm>
            <a:off x="9144000" y="1828800"/>
            <a:ext cx="2284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Mechanische bewaking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14"/>
          <p:cNvSpPr/>
          <p:nvPr/>
        </p:nvSpPr>
        <p:spPr>
          <a:xfrm>
            <a:off x="8686800" y="2468880"/>
            <a:ext cx="27414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Hooks vangen fouten door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context rot op het moment</a:t>
            </a:r>
            <a:br>
              <a:rPr sz="1600"/>
            </a:br>
            <a:r>
              <a:rPr lang="en-US" sz="1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dat ze gebeuren.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3" name="Table 15"/>
          <p:cNvGraphicFramePr/>
          <p:nvPr/>
        </p:nvGraphicFramePr>
        <p:xfrm>
          <a:off x="914400" y="4572000"/>
          <a:ext cx="10058040" cy="2101680"/>
        </p:xfrm>
        <a:graphic>
          <a:graphicData uri="http://schemas.openxmlformats.org/drawingml/2006/table">
            <a:tbl>
              <a:tblPr/>
              <a:tblGrid>
                <a:gridCol w="5029200"/>
                <a:gridCol w="5029200"/>
              </a:tblGrid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Context rot probleem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ANVIL oplossing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d8b6b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Sessiewissel verliest voortgang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Session handoff + state op disk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Lang window; attention decay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Kleine agents met gefocuste context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vergeet eigen regels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Hooks onafhankelijk van de AI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AI herhaalt afgewezen keuzes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ADRs geladen in elke agent prompt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f0ec"/>
                    </a:solidFill>
                  </a:tcPr>
                </a:tc>
              </a:tr>
              <a:tr h="3502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Scope creep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4a4540"/>
                          </a:solidFill>
                          <a:effectLst/>
                          <a:uFillTx/>
                          <a:latin typeface="Calibri"/>
                        </a:rPr>
                        <a:t>ADR Watch detecteert out-of-plan edits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Rectangle 1"/>
          <p:cNvSpPr/>
          <p:nvPr/>
        </p:nvSpPr>
        <p:spPr>
          <a:xfrm>
            <a:off x="0" y="0"/>
            <a:ext cx="12189960" cy="71280"/>
          </a:xfrm>
          <a:prstGeom prst="rect">
            <a:avLst/>
          </a:prstGeom>
          <a:solidFill>
            <a:srgbClr val="3d8b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2"/>
          <p:cNvSpPr/>
          <p:nvPr/>
        </p:nvSpPr>
        <p:spPr>
          <a:xfrm>
            <a:off x="914400" y="457200"/>
            <a:ext cx="100566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De kern blijft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ounded Rectangle 3"/>
          <p:cNvSpPr/>
          <p:nvPr/>
        </p:nvSpPr>
        <p:spPr>
          <a:xfrm>
            <a:off x="1371600" y="1828800"/>
            <a:ext cx="9142200" cy="274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d8b6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4"/>
          <p:cNvSpPr/>
          <p:nvPr/>
        </p:nvSpPr>
        <p:spPr>
          <a:xfrm>
            <a:off x="1828800" y="2142000"/>
            <a:ext cx="822780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ANVIL automatiseert de flow, maar de principes zijn dezelfde: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PRDs, plannen, tests en beslissingen; vastgelegd in bestanden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lang="en-US" sz="2600" b="0" u="none" strike="noStrike">
                <a:solidFill>
                  <a:srgbClr val="4a4540"/>
                </a:solidFill>
                <a:effectLst/>
                <a:uFillTx/>
                <a:latin typeface="Calibri"/>
              </a:rPr>
              <a:t>die elke sessie overleven.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5"/>
          <p:cNvSpPr/>
          <p:nvPr/>
        </p:nvSpPr>
        <p:spPr>
          <a:xfrm>
            <a:off x="1828800" y="3474720"/>
            <a:ext cx="82278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De tooling maakt het makkelijker om de discipline vol te houden,</a:t>
            </a:r>
            <a:br>
              <a:rPr sz="2000"/>
            </a:b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maar je kunt dezelfde aanpak toepassen met elk AI-hulpmiddel</a:t>
            </a:r>
            <a:br>
              <a:rPr sz="2000"/>
            </a:br>
            <a:r>
              <a:rPr lang="en-US" sz="2000" b="0" u="none" strike="noStrike">
                <a:solidFill>
                  <a:srgbClr val="6b655e"/>
                </a:solidFill>
                <a:effectLst/>
                <a:uFillTx/>
                <a:latin typeface="Calibri"/>
              </a:rPr>
              <a:t>en een teksteditor.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3d8b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Box 1"/>
          <p:cNvSpPr/>
          <p:nvPr/>
        </p:nvSpPr>
        <p:spPr>
          <a:xfrm>
            <a:off x="1371600" y="1371600"/>
            <a:ext cx="914220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Discussie / Q&amp;A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2"/>
          <p:cNvSpPr/>
          <p:nvPr/>
        </p:nvSpPr>
        <p:spPr>
          <a:xfrm>
            <a:off x="1371600" y="2743200"/>
            <a:ext cx="1827000" cy="34920"/>
          </a:xfrm>
          <a:prstGeom prst="rect">
            <a:avLst/>
          </a:prstGeom>
          <a:solidFill>
            <a:srgbClr val="c49a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3"/>
          <p:cNvSpPr/>
          <p:nvPr/>
        </p:nvSpPr>
        <p:spPr>
          <a:xfrm>
            <a:off x="1371600" y="3200400"/>
            <a:ext cx="8227800" cy="274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Hoe past dit in jullie huidige workflow?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Welke onderdelen zijn direct toepasbaar; ook zonder AI?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01"/>
              </a:spcAft>
            </a:pPr>
            <a:r>
              <a:rPr lang="en-US" sz="2400" b="0" u="none" strike="noStrike">
                <a:solidFill>
                  <a:srgbClr val="c8ded2"/>
                </a:solidFill>
                <a:effectLst/>
                <a:uFillTx/>
                <a:latin typeface="Calibri"/>
              </a:rPr>
              <a:t>Wat is de overhead vs. de tijdsbesparing?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>
        <p14:vortex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Application>LibreOffice/25.8.5.2$Linux_X86_64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2026-03-25T20:26:54Z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