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C29AFBF-0BCF-4AF0-9202-C4B753141A9C}"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1143000" y="685800"/>
            <a:ext cx="4571280" cy="3428280"/>
          </a:xfrm>
          <a:prstGeom prst="rect">
            <a:avLst/>
          </a:prstGeom>
          <a:ln w="0">
            <a:noFill/>
          </a:ln>
        </p:spPr>
      </p:sp>
      <p:sp>
        <p:nvSpPr>
          <p:cNvPr id="31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Welkom allemaal bij deze workshop over TDD, ADR en AI-Assisted Development. Wat we vandaag gaan bespreken komt uit een echt project: Mithril, een Progressive Web App die ik in drie weken heb gebouwd met Claude Code als AI-assistent. Dat leverde 418 commits op, 2142 tests met 4602 assertions, en 28 architectuurbeslissingen die allemaal gedocumenteerd zijn. Dit is geen theoretisch verhaal; alles wat ik laat zien komt direct uit de praktijk.</a:t>
            </a:r>
            <a:endParaRPr lang="en-US" sz="2000" b="0" u="none" strike="noStrike">
              <a:solidFill>
                <a:srgbClr val="000000"/>
              </a:solidFill>
              <a:effectLst/>
              <a:uFillTx/>
              <a:latin typeface="Arial"/>
            </a:endParaRPr>
          </a:p>
        </p:txBody>
      </p:sp>
      <p:sp>
        <p:nvSpPr>
          <p:cNvPr id="318" name="PlaceHolder 3"/>
          <p:cNvSpPr>
            <a:spLocks noGrp="1"/>
          </p:cNvSpPr>
          <p:nvPr>
            <p:ph type="sldNum" idx="3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B3564929-71FF-428A-82ED-F94598B551A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1143000" y="685800"/>
            <a:ext cx="4571280" cy="3428280"/>
          </a:xfrm>
          <a:prstGeom prst="rect">
            <a:avLst/>
          </a:prstGeom>
          <a:ln w="0">
            <a:noFill/>
          </a:ln>
        </p:spPr>
      </p:sp>
      <p:sp>
        <p:nvSpPr>
          <p:cNvPr id="32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De workshop bestaat uit vier delen. In het eerste deel kijken we naar het probleem: context rot. Waarom AI-assistants zonder structuur je codebase beschadigen. Dan in deel twee de oplossing: vier concrete lagen; PRD, Plan, TDD en ADR. Elk met voorbeelden uit Mithril. In deel drie gaan we het praktisch maken met de vijf belangrijkste lessen en hoe je er morgen mee kunt beginnen. En in deel vier laat ik ANVIL zien, een orchestrator die deze hele flow automatiseert.</a:t>
            </a:r>
            <a:endParaRPr lang="en-US" sz="2000" b="0" u="none" strike="noStrike">
              <a:solidFill>
                <a:srgbClr val="000000"/>
              </a:solidFill>
              <a:effectLst/>
              <a:uFillTx/>
              <a:latin typeface="Arial"/>
            </a:endParaRPr>
          </a:p>
        </p:txBody>
      </p:sp>
      <p:sp>
        <p:nvSpPr>
          <p:cNvPr id="321" name="PlaceHolder 3"/>
          <p:cNvSpPr>
            <a:spLocks noGrp="1"/>
          </p:cNvSpPr>
          <p:nvPr>
            <p:ph type="sldNum" idx="3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9F2951B2-A8F5-4CC7-8388-377AFC4D7B5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1143000" y="685800"/>
            <a:ext cx="4571280" cy="3428280"/>
          </a:xfrm>
          <a:prstGeom prst="rect">
            <a:avLst/>
          </a:prstGeom>
          <a:ln w="0">
            <a:noFill/>
          </a:ln>
        </p:spPr>
      </p:sp>
      <p:sp>
        <p:nvSpPr>
          <p:cNvPr id="32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Laten we beginnen bij het begin. Voordat we over oplossingen praten, moeten we het probleem goed begrijpen. Want als je niet weet waarom AI-assistants falen bij langere projecten, kun je ook niet effectief ingrijpen.</a:t>
            </a:r>
            <a:endParaRPr lang="en-US" sz="2000" b="0" u="none" strike="noStrike">
              <a:solidFill>
                <a:srgbClr val="000000"/>
              </a:solidFill>
              <a:effectLst/>
              <a:uFillTx/>
              <a:latin typeface="Arial"/>
            </a:endParaRPr>
          </a:p>
        </p:txBody>
      </p:sp>
      <p:sp>
        <p:nvSpPr>
          <p:cNvPr id="324" name="PlaceHolder 3"/>
          <p:cNvSpPr>
            <a:spLocks noGrp="1"/>
          </p:cNvSpPr>
          <p:nvPr>
            <p:ph type="sldNum" idx="3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C5927A2-07A5-4734-8277-9CFC337ED88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Img"/>
          </p:nvPr>
        </p:nvSpPr>
        <p:spPr>
          <a:xfrm>
            <a:off x="1143000" y="685800"/>
            <a:ext cx="4571280" cy="3428280"/>
          </a:xfrm>
          <a:prstGeom prst="rect">
            <a:avLst/>
          </a:prstGeom>
          <a:ln w="0">
            <a:noFill/>
          </a:ln>
        </p:spPr>
      </p:sp>
      <p:sp>
        <p:nvSpPr>
          <p:cNvPr id="32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AI coding assistants werken binnen een context window; dat is een beperkt geheugen met een vaste maximale grootte. Elke nieuwe chat begint blanco; de AI weet dan niets meer van wat je eerder hebt besproken.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Maar het probleem gaat verder dan alleen sessiewisselingen. Ook binnen een lopend gesprek degradeert de context op drie manieren.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Ten eerste: context compressie. Wanneer een gesprek het window nadert, moet de AI oudere berichten samenvatten of zelfs laten vallen. Nuances, constraints en eerdere afspraken verdwijnen daarbij stilletjes.</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Ten tweede: attention decay. Hoe meer tekst er in het window zit, hoe minder gewicht de AI geeft aan informatie die ver weg staat. Instructies die je twintig berichten geleden hebt gegeven worden effectief vergeten, ook al zijn ze technisch nog aanwezig.</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En ten derde: hallucinaties. Wanneer de relevante context verdwenen of verdund is, vult de AI de gaten met plausibel klinkende maar feitelijk onjuiste informatie. Het ergste daaraan is dat de AI niet weet dat hij het niet meer weet. Hij genereert zelfverzekerd antwoorden op basis van incomplete context.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Om het concreet te maken: stel je voor dat je een collega hebt die scherp begint aan de dag, maar gedurende de dag steeds meer vergeet. En het ergste is dat hij niet doorheeft dat hij dingen vergeet.</a:t>
            </a:r>
            <a:endParaRPr lang="en-US" sz="2000" b="0" u="none" strike="noStrike">
              <a:solidFill>
                <a:srgbClr val="000000"/>
              </a:solidFill>
              <a:effectLst/>
              <a:uFillTx/>
              <a:latin typeface="Arial"/>
            </a:endParaRPr>
          </a:p>
        </p:txBody>
      </p:sp>
      <p:sp>
        <p:nvSpPr>
          <p:cNvPr id="327" name="PlaceHolder 3"/>
          <p:cNvSpPr>
            <a:spLocks noGrp="1"/>
          </p:cNvSpPr>
          <p:nvPr>
            <p:ph type="sldNum" idx="4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048B6C44-77D9-42E9-A05E-1AF94A183A9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1143000" y="685800"/>
            <a:ext cx="4571280" cy="3428280"/>
          </a:xfrm>
          <a:prstGeom prst="rect">
            <a:avLst/>
          </a:prstGeom>
          <a:ln w="0">
            <a:noFill/>
          </a:ln>
        </p:spPr>
      </p:sp>
      <p:sp>
        <p:nvSpPr>
          <p:cNvPr id="32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Het resultaat van deze drie problemen noemen we context rot: een geleidelijk verval van de kwaliteit van AI-output naarmate een project vordert.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In de praktijk betekent dit dat architectuurbeslissingen verloren gaan tussen sessies, of verdund raken binnen een sessie. De AI maakt dezelfde fouten opnieuw omdat hij niet meer weet dat je die al hebt gecorrigeerd. Code wordt inconsistent omdat patronen vergeten worden. De vraag "waarom is dit zo?" is niet meer te beantwoorden; niet door jou en niet door de AI. En na een lange sessie kan de AI zelfverzekerd code voorstellen die lijnrecht ingaat tegen afspraken van eerder in datzelfde gesprek.</a:t>
            </a:r>
            <a:endParaRPr lang="en-US" sz="2000" b="0" u="none" strike="noStrike">
              <a:solidFill>
                <a:srgbClr val="000000"/>
              </a:solidFill>
              <a:effectLst/>
              <a:uFillTx/>
              <a:latin typeface="Arial"/>
            </a:endParaRPr>
          </a:p>
        </p:txBody>
      </p:sp>
      <p:sp>
        <p:nvSpPr>
          <p:cNvPr id="330" name="PlaceHolder 3"/>
          <p:cNvSpPr>
            <a:spLocks noGrp="1"/>
          </p:cNvSpPr>
          <p:nvPr>
            <p:ph type="sldNum" idx="41"/>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868AFDA0-1B60-4D92-830D-79A7BBFE31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1143000" y="685800"/>
            <a:ext cx="4571280" cy="3428280"/>
          </a:xfrm>
          <a:prstGeom prst="rect">
            <a:avLst/>
          </a:prstGeom>
          <a:ln w="0">
            <a:noFill/>
          </a:ln>
        </p:spPr>
      </p:sp>
      <p:sp>
        <p:nvSpPr>
          <p:cNvPr id="33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De oplossing is eigenlijk heel eenvoudig: de AI vergeet, maar bestanden in je repository niet. De sleutel is om context te externaliseren; om alles wat belangrijk is vast te leggen in bestanden die elke sessie overleven.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Dat doen we in vier lagen. PRDs beantwoorden wat we bouwen en waarom: feature-eisen, doelen en acceptatiecriteria. Plannen beantwoorden hoe we het bouwen: technische scope, fases en voortgang. TDD beantwoordt of het werkt: gedrag, contracten en regressiebeveiliging. En ADRs beantwoorden waarom we het zo doen: architectuurbeslissingen en hun onderbouwing.</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Dit zijn de vier lagen die we nu stuk voor stuk gaan doorlopen.</a:t>
            </a:r>
            <a:endParaRPr lang="en-US" sz="2000" b="0" u="none" strike="noStrike">
              <a:solidFill>
                <a:srgbClr val="000000"/>
              </a:solidFill>
              <a:effectLst/>
              <a:uFillTx/>
              <a:latin typeface="Arial"/>
            </a:endParaRPr>
          </a:p>
        </p:txBody>
      </p:sp>
      <p:sp>
        <p:nvSpPr>
          <p:cNvPr id="333" name="PlaceHolder 3"/>
          <p:cNvSpPr>
            <a:spLocks noGrp="1"/>
          </p:cNvSpPr>
          <p:nvPr>
            <p:ph type="sldNum" idx="4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C6BCEAD-02C2-4C94-AEB6-81A0845CF0B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1143000" y="685800"/>
            <a:ext cx="4571280" cy="3428280"/>
          </a:xfrm>
          <a:prstGeom prst="rect">
            <a:avLst/>
          </a:prstGeom>
          <a:ln w="0">
            <a:noFill/>
          </a:ln>
        </p:spPr>
      </p:sp>
      <p:sp>
        <p:nvSpPr>
          <p:cNvPr id="33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Dan gaan we nu naar deel twee, waar we elke laag bekijken met concrete voorbeelden uit het Mithril project.</a:t>
            </a:r>
            <a:endParaRPr lang="en-US" sz="2000" b="0" u="none" strike="noStrike">
              <a:solidFill>
                <a:srgbClr val="000000"/>
              </a:solidFill>
              <a:effectLst/>
              <a:uFillTx/>
              <a:latin typeface="Arial"/>
            </a:endParaRPr>
          </a:p>
        </p:txBody>
      </p:sp>
      <p:sp>
        <p:nvSpPr>
          <p:cNvPr id="336" name="PlaceHolder 3"/>
          <p:cNvSpPr>
            <a:spLocks noGrp="1"/>
          </p:cNvSpPr>
          <p:nvPr>
            <p:ph type="sldNum" idx="4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D49764EE-E9F5-43B3-9FB4-E396C99D27B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1143000" y="685800"/>
            <a:ext cx="4571280" cy="3428280"/>
          </a:xfrm>
          <a:prstGeom prst="rect">
            <a:avLst/>
          </a:prstGeom>
          <a:ln w="0">
            <a:noFill/>
          </a:ln>
        </p:spPr>
      </p:sp>
      <p:sp>
        <p:nvSpPr>
          <p:cNvPr id="33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De eerste laag: PRDs, de opdracht. Alles begint met de vraag: wat gaan we bouwen en waarom?</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Een PRD formaliseert dat. Het legt het doel vast; welk probleem lost dit op? De scope; wat is in en wat is out of scope? En de acceptatiecriteria; wanneer is het klaar?</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Zonder PRD begint de AI, en soms ook de developer, te bouwen op basis van aannames. De PRD is het contract tussen het idee en de implementatie. Het voorkomt dat er een technisch plan wordt geschreven voor iets dat nog niet goed gedefinieerd is.</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Belangrijk hierbij: een PRD hoeft niet zwaar te zijn. Zelfs een half A4 met een doel, een scope en vijf acceptatiecriteria bespaart je uren aan verkeerde implementatie.</a:t>
            </a:r>
            <a:endParaRPr lang="en-US" sz="2000" b="0" u="none" strike="noStrike">
              <a:solidFill>
                <a:srgbClr val="000000"/>
              </a:solidFill>
              <a:effectLst/>
              <a:uFillTx/>
              <a:latin typeface="Arial"/>
            </a:endParaRPr>
          </a:p>
        </p:txBody>
      </p:sp>
      <p:sp>
        <p:nvSpPr>
          <p:cNvPr id="339" name="PlaceHolder 3"/>
          <p:cNvSpPr>
            <a:spLocks noGrp="1"/>
          </p:cNvSpPr>
          <p:nvPr>
            <p:ph type="sldNum" idx="44"/>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2534989A-9DA4-4FDC-BEB1-A8DF5C4FF4F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1143000" y="685800"/>
            <a:ext cx="4571280" cy="3428280"/>
          </a:xfrm>
          <a:prstGeom prst="rect">
            <a:avLst/>
          </a:prstGeom>
          <a:ln w="0">
            <a:noFill/>
          </a:ln>
        </p:spPr>
      </p:sp>
      <p:sp>
        <p:nvSpPr>
          <p:cNvPr id="341"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De tweede laag: het plan. Met een PRD in de hand is de volgende stap: hoe gaan we dit bouwen?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Het plan vertaalt de criteria uit de PRD naar technische specificaties. Het deelt werk op in fases die in een enkele AI-sessie passen. Het maakt elke spec testbaar, wat directe input is voor TDD. En het houdt voortgang bij en legt vast wat out of scope is.</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Het plan is ook een levend document. Tijdens de implementatie van recurring tasks in Mithril ontdekte TDD bijvoorbeeld een event dispatch gap die niet in het oorspronkelijke plan stond. Het plan werd bijgewerkt met een nieuwe Phase 0, en er werd een ADR geschreven. Dat voorbeeld komt straks terug als case study.</a:t>
            </a:r>
            <a:endParaRPr lang="en-US" sz="2000" b="0" u="none" strike="noStrike">
              <a:solidFill>
                <a:srgbClr val="000000"/>
              </a:solidFill>
              <a:effectLst/>
              <a:uFillTx/>
              <a:latin typeface="Arial"/>
            </a:endParaRPr>
          </a:p>
        </p:txBody>
      </p:sp>
      <p:sp>
        <p:nvSpPr>
          <p:cNvPr id="342" name="PlaceHolder 3"/>
          <p:cNvSpPr>
            <a:spLocks noGrp="1"/>
          </p:cNvSpPr>
          <p:nvPr>
            <p:ph type="sldNum" idx="45"/>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7B28E0C0-4A19-406C-9C76-ED5F53B0DAD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1143000" y="685800"/>
            <a:ext cx="4571280" cy="3428280"/>
          </a:xfrm>
          <a:prstGeom prst="rect">
            <a:avLst/>
          </a:prstGeom>
          <a:ln w="0">
            <a:noFill/>
          </a:ln>
        </p:spPr>
      </p:sp>
      <p:sp>
        <p:nvSpPr>
          <p:cNvPr id="34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De derde laag: TDD, het veiligheidsnet. En ik zeg bewust veiligheidsnet; TDD is geen nice-to-have bij AI-assisted development. Het is het mechanisme dat voorkomt dat de AI je codebase sloopt.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Zonder TDD merk je niet dat de AI in sessie vijf iets heeft gebroken dat in sessie twee werkte. Met TDD worden regressies direct gevangen, en de test suite vormt een levende specificatie die elke sessie overleeft.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De cyclus is steeds dezelfde: Red, Green, Refactor. Eerst schrijf je een falende test die het gewenste gedrag beschrijft. Dan schrijf je de minimale code om die test te laten slagen. En tenslotte verbeter je de code met het vangnet van groene tests.</a:t>
            </a:r>
            <a:endParaRPr lang="en-US" sz="2000" b="0" u="none" strike="noStrike">
              <a:solidFill>
                <a:srgbClr val="000000"/>
              </a:solidFill>
              <a:effectLst/>
              <a:uFillTx/>
              <a:latin typeface="Arial"/>
            </a:endParaRPr>
          </a:p>
        </p:txBody>
      </p:sp>
      <p:sp>
        <p:nvSpPr>
          <p:cNvPr id="345" name="PlaceHolder 3"/>
          <p:cNvSpPr>
            <a:spLocks noGrp="1"/>
          </p:cNvSpPr>
          <p:nvPr>
            <p:ph type="sldNum" idx="46"/>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00D1558-5A4A-4297-BF75-1A7A5310D82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1143000" y="685800"/>
            <a:ext cx="4571280" cy="3428280"/>
          </a:xfrm>
          <a:prstGeom prst="rect">
            <a:avLst/>
          </a:prstGeom>
          <a:ln w="0">
            <a:noFill/>
          </a:ln>
        </p:spPr>
      </p:sp>
      <p:sp>
        <p:nvSpPr>
          <p:cNvPr id="34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Laat me dit concreet maken met een echt voorbeeld uit Mithril. De HasFollowUp trait definieerde scopes die direct de kolommen follow_up_date en status bevroegen. Maar die kolommen bestaan alleen op de follow_ups tabel; niet op tasks of team_members, de modellen die de trait gebruiken. Dat betekent gegarandeerde SQL errors op runtime.</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TDD ving dit. De test faalde niet omdat de implementatie fout was, maar omdat het hele design fout was. De scopes werden herschreven naar whereHas-based queries die correct door de relatie heen filteren. En de bug was gevonden voordat er ook maar een regel productcode was geschreven.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De belangrijkste les hier: de tests vonden de bug. Niet de AI, niet code review, niet QA. De falende test dwong een redesign af.</a:t>
            </a:r>
            <a:endParaRPr lang="en-US" sz="2000" b="0" u="none" strike="noStrike">
              <a:solidFill>
                <a:srgbClr val="000000"/>
              </a:solidFill>
              <a:effectLst/>
              <a:uFillTx/>
              <a:latin typeface="Arial"/>
            </a:endParaRPr>
          </a:p>
        </p:txBody>
      </p:sp>
      <p:sp>
        <p:nvSpPr>
          <p:cNvPr id="348" name="PlaceHolder 3"/>
          <p:cNvSpPr>
            <a:spLocks noGrp="1"/>
          </p:cNvSpPr>
          <p:nvPr>
            <p:ph type="sldNum" idx="4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713CF0E-0999-4BF6-B4E4-D08F1C84540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216000" y="812520"/>
            <a:ext cx="7126920" cy="4008600"/>
          </a:xfrm>
          <a:prstGeom prst="rect">
            <a:avLst/>
          </a:prstGeom>
          <a:ln w="0">
            <a:noFill/>
          </a:ln>
        </p:spPr>
      </p:sp>
      <p:sp>
        <p:nvSpPr>
          <p:cNvPr id="35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buNone/>
            </a:pPr>
            <a:r>
              <a:rPr lang="en-US" sz="2000" b="0" u="none" strike="noStrike">
                <a:solidFill>
                  <a:srgbClr val="000000"/>
                </a:solidFill>
                <a:effectLst/>
                <a:uFillTx/>
                <a:latin typeface="Arial"/>
              </a:rPr>
              <a:t>Dit is de daadwerkelijke ADR zoals die in de repository staat. Kijk naar de structuur: context, alternatieven, decision, consequences.</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In de context beschrijven we het probleem dat TDD aan het licht bracht. Dan de alternatieven die we hebben overwogen: de trait helemaal verwijderen, of de scopes herschrijven. Bij de decision leggen we vast waarom we voor optie twee hebben gekozen. En tenslotte de consequences: welke bestanden zijn gewijzigd en wat verandert er voor toekomstige code.</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Dit hele document is minder dan een pagina, maar het beantwoordt de vraag "waarom is dit zo?" voor elke toekomstige sessie. En dat is precies het punt: het kost vijf minuten om te schrijven, maar het bespaart uren aan herhaling en verwarring.</a:t>
            </a:r>
            <a:endParaRPr lang="en-US" sz="2000" b="0" u="none" strike="noStrike">
              <a:solidFill>
                <a:srgbClr val="000000"/>
              </a:solidFill>
              <a:effectLst/>
              <a:uFillTx/>
              <a:latin typeface="Arial"/>
            </a:endParaRPr>
          </a:p>
        </p:txBody>
      </p:sp>
      <p:sp>
        <p:nvSpPr>
          <p:cNvPr id="351" name="PlaceHolder 3"/>
          <p:cNvSpPr>
            <a:spLocks noGrp="1"/>
          </p:cNvSpPr>
          <p:nvPr>
            <p:ph type="sldNum" idx="4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lang="en-US" sz="1400" b="0" u="none" strike="noStrike">
                <a:solidFill>
                  <a:srgbClr val="000000"/>
                </a:solidFill>
                <a:effectLst/>
                <a:uFillTx/>
                <a:latin typeface="Times New Roman"/>
              </a:defRPr>
            </a:lvl1pPr>
          </a:lstStyle>
          <a:p>
            <a:pPr indent="0" algn="r">
              <a:lnSpc>
                <a:spcPct val="100000"/>
              </a:lnSpc>
              <a:buNone/>
              <a:tabLst>
                <a:tab algn="l" pos="0"/>
              </a:tabLst>
            </a:pPr>
            <a:fld id="{AA5DDD41-ADF5-4319-BD3B-2D0877CEA0C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1143000" y="685800"/>
            <a:ext cx="4571280" cy="3428280"/>
          </a:xfrm>
          <a:prstGeom prst="rect">
            <a:avLst/>
          </a:prstGeom>
          <a:ln w="0">
            <a:noFill/>
          </a:ln>
        </p:spPr>
      </p:sp>
      <p:sp>
        <p:nvSpPr>
          <p:cNvPr id="35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En daarmee zijn we bij de vierde laag: ADRs, het geheugen van je project. Tijdens het bouwen worden voortdurend beslissingen genomen die afwijken van het plan, of die niet-triviale trade-offs bevatten.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Een ADR documenteert drie dingen. De context: wat was het probleem? De decision: wat is er besloten en waarom? En de consequences: wat verandert er?</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Zonder ADRs kan de AI in een volgende sessie een beslissing terugdraaien die je bewust hebt genomen, of een alternatief voorstellen dat je al hebt afgewezen.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De vuistregel is simpel: als iemand later zou kunnen vragen "waarom is dit zo?", schrijf dan een ADR.</a:t>
            </a:r>
            <a:endParaRPr lang="en-US" sz="2000" b="0" u="none" strike="noStrike">
              <a:solidFill>
                <a:srgbClr val="000000"/>
              </a:solidFill>
              <a:effectLst/>
              <a:uFillTx/>
              <a:latin typeface="Arial"/>
            </a:endParaRPr>
          </a:p>
        </p:txBody>
      </p:sp>
      <p:sp>
        <p:nvSpPr>
          <p:cNvPr id="354" name="PlaceHolder 3"/>
          <p:cNvSpPr>
            <a:spLocks noGrp="1"/>
          </p:cNvSpPr>
          <p:nvPr>
            <p:ph type="sldNum" idx="4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007AE096-6FF9-41B0-8A7A-14D2E690C1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1143000" y="685800"/>
            <a:ext cx="4571280" cy="3428280"/>
          </a:xfrm>
          <a:prstGeom prst="rect">
            <a:avLst/>
          </a:prstGeom>
          <a:ln w="0">
            <a:noFill/>
          </a:ln>
        </p:spPr>
      </p:sp>
      <p:sp>
        <p:nvSpPr>
          <p:cNvPr id="35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Het tweede voorbeeld: de event dispatch gap. Bij het implementeren van recurring tasks bleek dat het TaskStatusChanged event alleen werd gefired vanuit expliciete dispatch calls in de code. Maar drie andere code paths; de AutoSaveController, bulkUpdate en de kanban move; updaten de status via een gewone update call zonder het event te dispatchen.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De oplossing was een TaskObserver die het event automatisch dispatcht bij elke statuswijziging, ongeacht welk code path de wijziging triggert. De handmatige dispatches zijn bewust verwijderd; er is nu een single source of truth.</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Zonder deze ADR zou een volgende sessie niet weten dat er bewust een Observer is gekozen boven handmatige dispatch calls. Dat handmatige dispatches bewust zijn verwijderd. En welke alternatieven zijn afgewezen en waarom.</a:t>
            </a:r>
            <a:endParaRPr lang="en-US" sz="2000" b="0" u="none" strike="noStrike">
              <a:solidFill>
                <a:srgbClr val="000000"/>
              </a:solidFill>
              <a:effectLst/>
              <a:uFillTx/>
              <a:latin typeface="Arial"/>
            </a:endParaRPr>
          </a:p>
        </p:txBody>
      </p:sp>
      <p:sp>
        <p:nvSpPr>
          <p:cNvPr id="357" name="PlaceHolder 3"/>
          <p:cNvSpPr>
            <a:spLocks noGrp="1"/>
          </p:cNvSpPr>
          <p:nvPr>
            <p:ph type="sldNum" idx="5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03EDEC9-EF90-477E-B759-7D2D9459FF0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216000" y="812520"/>
            <a:ext cx="7126920" cy="4008600"/>
          </a:xfrm>
          <a:prstGeom prst="rect">
            <a:avLst/>
          </a:prstGeom>
          <a:ln w="0">
            <a:noFill/>
          </a:ln>
        </p:spPr>
      </p:sp>
      <p:sp>
        <p:nvSpPr>
          <p:cNvPr id="35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buNone/>
            </a:pPr>
            <a:r>
              <a:rPr lang="en-US" sz="2000" b="0" u="none" strike="noStrike">
                <a:solidFill>
                  <a:srgbClr val="000000"/>
                </a:solidFill>
                <a:effectLst/>
                <a:uFillTx/>
                <a:latin typeface="Arial"/>
              </a:rPr>
              <a:t>En hier zien jullie de volledige ADR-013 zoals die in het project staat. Let op het kopje "Deviation from plan"; dat is extra waardevol. Het legt expliciet vast waar de implementatie afweek van het oorspronkelijke plan, en waarom.</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In dit geval had het plan niet voorzien dat er een event dispatch gap was in drie bestaande controllers. De Observer werd daarom als Phase 0 toegevoegd, nog voor de eigenlijke recurring tasks implementatie.</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Dit soort informatie gaat verloren zodra een AI-sessie eindigt; tenzij je het vastlegt. En juist deze afwijkingen zijn het meest waardevol om te documenteren, want ze bevatten kennis die nergens anders te vinden is.</a:t>
            </a:r>
            <a:endParaRPr lang="en-US" sz="2000" b="0" u="none" strike="noStrike">
              <a:solidFill>
                <a:srgbClr val="000000"/>
              </a:solidFill>
              <a:effectLst/>
              <a:uFillTx/>
              <a:latin typeface="Arial"/>
            </a:endParaRPr>
          </a:p>
        </p:txBody>
      </p:sp>
      <p:sp>
        <p:nvSpPr>
          <p:cNvPr id="360" name="PlaceHolder 3"/>
          <p:cNvSpPr>
            <a:spLocks noGrp="1"/>
          </p:cNvSpPr>
          <p:nvPr>
            <p:ph type="sldNum" idx="5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lang="en-US" sz="1400" b="0" u="none" strike="noStrike">
                <a:solidFill>
                  <a:srgbClr val="000000"/>
                </a:solidFill>
                <a:effectLst/>
                <a:uFillTx/>
                <a:latin typeface="Times New Roman"/>
              </a:defRPr>
            </a:lvl1pPr>
          </a:lstStyle>
          <a:p>
            <a:pPr indent="0" algn="r">
              <a:lnSpc>
                <a:spcPct val="100000"/>
              </a:lnSpc>
              <a:buNone/>
              <a:tabLst>
                <a:tab algn="l" pos="0"/>
              </a:tabLst>
            </a:pPr>
            <a:fld id="{4C2F5582-A664-4DEA-B386-F1570D76B599}"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1143000" y="685800"/>
            <a:ext cx="4571280" cy="3428280"/>
          </a:xfrm>
          <a:prstGeom prst="rect">
            <a:avLst/>
          </a:prstGeom>
          <a:ln w="0">
            <a:noFill/>
          </a:ln>
        </p:spPr>
      </p:sp>
      <p:sp>
        <p:nvSpPr>
          <p:cNvPr id="36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Nu we alle vier de lagen hebben gezien, laat me tonen hoe ze samenwerken in een feedback loop.</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Het begint bij de PRD die definieert wat en waarom. Die wordt vertaald naar een plan met technische specs. Die specs worden tests via TDD. De tests ontdekken problemen. Die problemen triggeren ADRs. En die ADRs informeren de volgende sessies, waardoor de implementatie consistent blijft.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Concreet: de AI vergeet de vorige sessie, maar ADRs en het plan overleven sessies. De AI breekt bestaande code, maar tests vangen regressies direct. De AI gebruikt andere patronen, maar het plan en codebase scans dwingen patronen af. De AI voegt ongeplande features toe, maar het plan heeft een out-of-scope sectie. En de AI draait bewuste keuzes terug, maar ADRs documenteren het waarom.</a:t>
            </a:r>
            <a:endParaRPr lang="en-US" sz="2000" b="0" u="none" strike="noStrike">
              <a:solidFill>
                <a:srgbClr val="000000"/>
              </a:solidFill>
              <a:effectLst/>
              <a:uFillTx/>
              <a:latin typeface="Arial"/>
            </a:endParaRPr>
          </a:p>
        </p:txBody>
      </p:sp>
      <p:sp>
        <p:nvSpPr>
          <p:cNvPr id="363" name="PlaceHolder 3"/>
          <p:cNvSpPr>
            <a:spLocks noGrp="1"/>
          </p:cNvSpPr>
          <p:nvPr>
            <p:ph type="sldNum" idx="5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B1CF8E3F-3AF8-4432-9D66-85EABAC5E97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1143000" y="685800"/>
            <a:ext cx="4571280" cy="3428280"/>
          </a:xfrm>
          <a:prstGeom prst="rect">
            <a:avLst/>
          </a:prstGeom>
          <a:ln w="0">
            <a:noFill/>
          </a:ln>
        </p:spPr>
      </p:sp>
      <p:sp>
        <p:nvSpPr>
          <p:cNvPr id="36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Dan gaan we nu naar deel drie: toepassen en valkuilen. Hoe kun je dit in de praktijk gebruiken?</a:t>
            </a:r>
            <a:endParaRPr lang="en-US" sz="2000" b="0" u="none" strike="noStrike">
              <a:solidFill>
                <a:srgbClr val="000000"/>
              </a:solidFill>
              <a:effectLst/>
              <a:uFillTx/>
              <a:latin typeface="Arial"/>
            </a:endParaRPr>
          </a:p>
        </p:txBody>
      </p:sp>
      <p:sp>
        <p:nvSpPr>
          <p:cNvPr id="366" name="PlaceHolder 3"/>
          <p:cNvSpPr>
            <a:spLocks noGrp="1"/>
          </p:cNvSpPr>
          <p:nvPr>
            <p:ph type="sldNum" idx="5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969A4E2C-C782-4D17-8E66-D39E405A305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1143000" y="685800"/>
            <a:ext cx="4571280" cy="3428280"/>
          </a:xfrm>
          <a:prstGeom prst="rect">
            <a:avLst/>
          </a:prstGeom>
          <a:ln w="0">
            <a:noFill/>
          </a:ln>
        </p:spPr>
      </p:sp>
      <p:sp>
        <p:nvSpPr>
          <p:cNvPr id="36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Dit zijn de vijf belangrijkste lessen uit drie weken bouwen met een AI-assistent.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Een: als het niet in een bestand staat, bestaat het niet. Elke AI-sessie begint leeg. Context die alleen in je hoofd zit, gaat gegarandeerd verloren.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Twee: maak specs testbaar. Als je iets niet in een test kunt uitdrukken, is de specificatie te vaag. Dit is waar plan en TDD samenkomen.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Drie: schrijf ADRs op het moment van de beslissing. Achteraf mis je de alternatieven die je hebt overwogen, en juist die alternatieven maken een ADR waardevol.</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Vier: houd sessies klein. Context windows hebben limieten. Kleine fases in het plan houden sessies beheersbaar en voorkomen context compressie.</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En vijf: jij blijft de architect. De AI is een krachtig hulpmiddel, maar review, denk mee, en stel vragen. Blind vertrouwen leidt tot blinde vlekken.</a:t>
            </a:r>
            <a:endParaRPr lang="en-US" sz="2000" b="0" u="none" strike="noStrike">
              <a:solidFill>
                <a:srgbClr val="000000"/>
              </a:solidFill>
              <a:effectLst/>
              <a:uFillTx/>
              <a:latin typeface="Arial"/>
            </a:endParaRPr>
          </a:p>
        </p:txBody>
      </p:sp>
      <p:sp>
        <p:nvSpPr>
          <p:cNvPr id="369" name="PlaceHolder 3"/>
          <p:cNvSpPr>
            <a:spLocks noGrp="1"/>
          </p:cNvSpPr>
          <p:nvPr>
            <p:ph type="sldNum" idx="54"/>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27DBA1A6-F264-4027-9A24-6D0C76C0740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1143000" y="685800"/>
            <a:ext cx="4571280" cy="3428280"/>
          </a:xfrm>
          <a:prstGeom prst="rect">
            <a:avLst/>
          </a:prstGeom>
          <a:ln w="0">
            <a:noFill/>
          </a:ln>
        </p:spPr>
      </p:sp>
      <p:sp>
        <p:nvSpPr>
          <p:cNvPr id="371"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Het goede nieuws: je hebt geen speciale tooling nodig om hiermee te beginnen.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Start elke AI-sessie met context laden. Geef de AI bij de start de relevante ADRs, het plan, en laat hem de tests lezen.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Gebruik een CLAUDE.md of equivalent; een bestand in je repo dat de AI automatisch leest bij elke sessie. Hierin staan je conventies, actieve plannen, en verwijzingen naar ADRs.</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Houd ADRs klein; een ADR per beslissing, niet een mega-document per feature.</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En gebruik het plan als communicatiemiddel; niet alleen voor de AI, maar ook voor je team.</a:t>
            </a:r>
            <a:endParaRPr lang="en-US" sz="2000" b="0" u="none" strike="noStrike">
              <a:solidFill>
                <a:srgbClr val="000000"/>
              </a:solidFill>
              <a:effectLst/>
              <a:uFillTx/>
              <a:latin typeface="Arial"/>
            </a:endParaRPr>
          </a:p>
        </p:txBody>
      </p:sp>
      <p:sp>
        <p:nvSpPr>
          <p:cNvPr id="372" name="PlaceHolder 3"/>
          <p:cNvSpPr>
            <a:spLocks noGrp="1"/>
          </p:cNvSpPr>
          <p:nvPr>
            <p:ph type="sldNum" idx="55"/>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AF6ED423-A8B3-4D6B-8E23-FA4FBF0CCAD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1143000" y="685800"/>
            <a:ext cx="4571280" cy="3428280"/>
          </a:xfrm>
          <a:prstGeom prst="rect">
            <a:avLst/>
          </a:prstGeom>
          <a:ln w="0">
            <a:noFill/>
          </a:ln>
        </p:spPr>
      </p:sp>
      <p:sp>
        <p:nvSpPr>
          <p:cNvPr id="37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Om het concreet te maken: dit zijn de cijfers van Mithril. 418 commits, 2142 tests met 4602 assertions, 28 ADRs en 19 implementatieplannen. Allemaal in drie weken, met consistente architectuur ondanks tientallen sessiewisselingen. Dit laat zien dat de aanpak schaalbaar is; ook bij een project van deze omvang houdt de kwaliteit stand.</a:t>
            </a:r>
            <a:endParaRPr lang="en-US" sz="2000" b="0" u="none" strike="noStrike">
              <a:solidFill>
                <a:srgbClr val="000000"/>
              </a:solidFill>
              <a:effectLst/>
              <a:uFillTx/>
              <a:latin typeface="Arial"/>
            </a:endParaRPr>
          </a:p>
        </p:txBody>
      </p:sp>
      <p:sp>
        <p:nvSpPr>
          <p:cNvPr id="375" name="PlaceHolder 3"/>
          <p:cNvSpPr>
            <a:spLocks noGrp="1"/>
          </p:cNvSpPr>
          <p:nvPr>
            <p:ph type="sldNum" idx="56"/>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771B935E-859F-4548-A58D-AA759180A73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Img"/>
          </p:nvPr>
        </p:nvSpPr>
        <p:spPr>
          <a:xfrm>
            <a:off x="1143000" y="685800"/>
            <a:ext cx="4571280" cy="3428280"/>
          </a:xfrm>
          <a:prstGeom prst="rect">
            <a:avLst/>
          </a:prstGeom>
          <a:ln w="0">
            <a:noFill/>
          </a:ln>
        </p:spPr>
      </p:sp>
      <p:sp>
        <p:nvSpPr>
          <p:cNvPr id="37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Dan het laatste deel: ANVIL, Automated Nexus for Verified Iterative Lifecycles. Van handmatig naar geautomatiseerd.</a:t>
            </a:r>
            <a:endParaRPr lang="en-US" sz="2000" b="0" u="none" strike="noStrike">
              <a:solidFill>
                <a:srgbClr val="000000"/>
              </a:solidFill>
              <a:effectLst/>
              <a:uFillTx/>
              <a:latin typeface="Arial"/>
            </a:endParaRPr>
          </a:p>
        </p:txBody>
      </p:sp>
      <p:sp>
        <p:nvSpPr>
          <p:cNvPr id="378" name="PlaceHolder 3"/>
          <p:cNvSpPr>
            <a:spLocks noGrp="1"/>
          </p:cNvSpPr>
          <p:nvPr>
            <p:ph type="sldNum" idx="5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19813D27-DDC0-4059-A2FF-30E8B6CA9D3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1143000" y="685800"/>
            <a:ext cx="4571280" cy="3428280"/>
          </a:xfrm>
          <a:prstGeom prst="rect">
            <a:avLst/>
          </a:prstGeom>
          <a:ln w="0">
            <a:noFill/>
          </a:ln>
        </p:spPr>
      </p:sp>
      <p:sp>
        <p:nvSpPr>
          <p:cNvPr id="38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De vier lagen uit deel twee werken, maar ze vereisen discipline. Je moet zelf onthouden om een PRD te schrijven, een plan te maken, TDD te volgen, en ADRs bij te houden. In de praktijk slipt dat; vooral onder tijdsdruk.</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ANVIL is een skill voor Claude Code die deze hele flow automatiseert. Het is in actieve ontwikkeling, gebouwd vanuit de lessen van het Mithril project.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ANVIL is een orchestrator die de volledige lifecycle aanstuurt via gespecialiseerde rollen. Van research door een Analyst, naar PRD door een Specifier, naar plan door een Architect, naar implementatie door een Builder met verplichte TDD, tot automatische ADRs bij afwijkingen.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Elke rol is een AI-agent met een specifieke opdracht en regels. De orchestrator stuurt ze aan, bewaakt de voortgang, en zorgt dat de gebruiker altijd de controle houdt.</a:t>
            </a:r>
            <a:endParaRPr lang="en-US" sz="2000" b="0" u="none" strike="noStrike">
              <a:solidFill>
                <a:srgbClr val="000000"/>
              </a:solidFill>
              <a:effectLst/>
              <a:uFillTx/>
              <a:latin typeface="Arial"/>
            </a:endParaRPr>
          </a:p>
        </p:txBody>
      </p:sp>
      <p:sp>
        <p:nvSpPr>
          <p:cNvPr id="381" name="PlaceHolder 3"/>
          <p:cNvSpPr>
            <a:spLocks noGrp="1"/>
          </p:cNvSpPr>
          <p:nvPr>
            <p:ph type="sldNum" idx="5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977429F0-B52E-4924-B8AE-8AD46528556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1143000" y="685800"/>
            <a:ext cx="4571280" cy="3428280"/>
          </a:xfrm>
          <a:prstGeom prst="rect">
            <a:avLst/>
          </a:prstGeom>
          <a:ln w="0">
            <a:noFill/>
          </a:ln>
        </p:spPr>
      </p:sp>
      <p:sp>
        <p:nvSpPr>
          <p:cNvPr id="38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ANVIL heeft zes gespecialiseerde rollen. De Analyst haalt requirements op uit externe bronnen zoals Jira. De Specifier schrijft en reviewt PRDs. De Architect maakt implementatieplannen met fases en specs. De Builder bouwt via TDD en kan parallel werken in agent teams. De Auditor doet OWASP security scans op de codebase. En de Scribe genereert documenten vanuit de opgeleverde resultaten.</a:t>
            </a:r>
            <a:endParaRPr lang="en-US" sz="2000" b="0" u="none" strike="noStrike">
              <a:solidFill>
                <a:srgbClr val="000000"/>
              </a:solidFill>
              <a:effectLst/>
              <a:uFillTx/>
              <a:latin typeface="Arial"/>
            </a:endParaRPr>
          </a:p>
        </p:txBody>
      </p:sp>
      <p:sp>
        <p:nvSpPr>
          <p:cNvPr id="384" name="PlaceHolder 3"/>
          <p:cNvSpPr>
            <a:spLocks noGrp="1"/>
          </p:cNvSpPr>
          <p:nvPr>
            <p:ph type="sldNum" idx="5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D1FF5E74-687D-4E43-9D7D-B5AA919F43B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1143000" y="685800"/>
            <a:ext cx="4571280" cy="3428280"/>
          </a:xfrm>
          <a:prstGeom prst="rect">
            <a:avLst/>
          </a:prstGeom>
          <a:ln w="0">
            <a:noFill/>
          </a:ln>
        </p:spPr>
      </p:sp>
      <p:sp>
        <p:nvSpPr>
          <p:cNvPr id="38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Naast de rollen heeft ANVIL twee hooks die real-time afdwingen wat anders op discipline leunt.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De TDD Enforce hook waarschuwt direct wanneer je een bronbestand wijzigt zonder dat er testwijzigingen in de working tree staan. Je krijgt de melding op het moment van de edit, niet pas bij een commit. Dit dwingt de Red-Green volgorde af: eerst tests, dan implementatie.</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De ADR Watch hook waarschuwt wanneer een bestand wordt gewijzigd dat buiten het actieve plan valt. Dit voorkomt onbewuste scope creep.</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Beide hooks zijn informatief; ze blokkeren niet. En ze worden automatisch geinstalleerd. Het zijn mechanische checks die onafhankelijk van de AI draaien; geen herinneringen die de AI kan vergeten.</a:t>
            </a:r>
            <a:endParaRPr lang="en-US" sz="2000" b="0" u="none" strike="noStrike">
              <a:solidFill>
                <a:srgbClr val="000000"/>
              </a:solidFill>
              <a:effectLst/>
              <a:uFillTx/>
              <a:latin typeface="Arial"/>
            </a:endParaRPr>
          </a:p>
        </p:txBody>
      </p:sp>
      <p:sp>
        <p:nvSpPr>
          <p:cNvPr id="387" name="PlaceHolder 3"/>
          <p:cNvSpPr>
            <a:spLocks noGrp="1"/>
          </p:cNvSpPr>
          <p:nvPr>
            <p:ph type="sldNum" idx="6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1E8478FE-4E2E-442A-802B-D2D2CC11F73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1143000" y="685800"/>
            <a:ext cx="4571280" cy="3428280"/>
          </a:xfrm>
          <a:prstGeom prst="rect">
            <a:avLst/>
          </a:prstGeom>
          <a:ln w="0">
            <a:noFill/>
          </a:ln>
        </p:spPr>
      </p:sp>
      <p:sp>
        <p:nvSpPr>
          <p:cNvPr id="38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Hoe minimaliseert ANVIL context rot? Via drie mechanismen.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Ten eerste: state op disk, niet in het geheugen. ANVIL leidt de lifecycle state af uit bestanden. Niets hangt af van wat de AI onthoudt. Bij het einde van een sessie schrijft ANVIL een session handoff. De volgende sessie leest dat bestand en pikt het werk op waar het was gebleven.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Ten tweede: kleine, gefocuste agents. In plaats van een enkele AI-sessie die steeds langer wordt, splitst ANVIL het werk op. Een Builder-agent krijgt alleen de specs voor zijn fase, de relevante ADRs, en de projectconventies. Een kort, gefocust window betekent minder attention decay. Bijkomend voordeel: minder tokens per aanroep, lagere kosten, snellere respons.</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En ten derde: mechanische bewaking vervangt geheugen. De hooks vangen fouten door context rot op het moment dat ze gebeuren, onafhankelijk van de AI.</a:t>
            </a:r>
            <a:endParaRPr lang="en-US" sz="2000" b="0" u="none" strike="noStrike">
              <a:solidFill>
                <a:srgbClr val="000000"/>
              </a:solidFill>
              <a:effectLst/>
              <a:uFillTx/>
              <a:latin typeface="Arial"/>
            </a:endParaRPr>
          </a:p>
        </p:txBody>
      </p:sp>
      <p:sp>
        <p:nvSpPr>
          <p:cNvPr id="390" name="PlaceHolder 3"/>
          <p:cNvSpPr>
            <a:spLocks noGrp="1"/>
          </p:cNvSpPr>
          <p:nvPr>
            <p:ph type="sldNum" idx="61"/>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DF600E7-600E-4A26-BF59-C090C4C4172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1143000" y="685800"/>
            <a:ext cx="4571280" cy="3428280"/>
          </a:xfrm>
          <a:prstGeom prst="rect">
            <a:avLst/>
          </a:prstGeom>
          <a:ln w="0">
            <a:noFill/>
          </a:ln>
        </p:spPr>
      </p:sp>
      <p:sp>
        <p:nvSpPr>
          <p:cNvPr id="39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Om af te sluiten: ANVIL automatiseert de flow, maar de principes zijn precies dezelfde als in deel twee. PRDs, plannen, tests en beslissingen; vastgelegd in bestanden die elke sessie overleven.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De tooling maakt het makkelijker om de discipline vol te houden, maar je kunt precies dezelfde aanpak toepassen met elk AI-hulpmiddel en een teksteditor.</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ANVIL is op dit moment nog in actieve ontwikkeling. Ik zal de skill binnenkort beschikbaar stellen voor iedereen binnen Proud Nerds die hem wil uitproberen. Het is een Claude Code skill; je hebt een werkende Claude Code setup nodig.</a:t>
            </a:r>
            <a:endParaRPr lang="en-US" sz="2000" b="0" u="none" strike="noStrike">
              <a:solidFill>
                <a:srgbClr val="000000"/>
              </a:solidFill>
              <a:effectLst/>
              <a:uFillTx/>
              <a:latin typeface="Arial"/>
            </a:endParaRPr>
          </a:p>
        </p:txBody>
      </p:sp>
      <p:sp>
        <p:nvSpPr>
          <p:cNvPr id="393" name="PlaceHolder 3"/>
          <p:cNvSpPr>
            <a:spLocks noGrp="1"/>
          </p:cNvSpPr>
          <p:nvPr>
            <p:ph type="sldNum" idx="6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131BBA5B-A5A3-4106-8897-AD28BD66277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1143000" y="685800"/>
            <a:ext cx="4571280" cy="3428280"/>
          </a:xfrm>
          <a:prstGeom prst="rect">
            <a:avLst/>
          </a:prstGeom>
          <a:ln w="0">
            <a:noFill/>
          </a:ln>
        </p:spPr>
      </p:sp>
      <p:sp>
        <p:nvSpPr>
          <p:cNvPr id="39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Dan wil ik nu graag opengooien voor discussie en vragen. Een paar mogelijke gesprekspunten: hoe past dit in jullie huidige workflow? Welke onderdelen zijn direct toepasbaar, ook zonder AI? En wat denken jullie over de overhead versus de tijdsbesparing? Alle vragen zijn welkom.</a:t>
            </a:r>
            <a:endParaRPr lang="en-US" sz="2000" b="0" u="none" strike="noStrike">
              <a:solidFill>
                <a:srgbClr val="000000"/>
              </a:solidFill>
              <a:effectLst/>
              <a:uFillTx/>
              <a:latin typeface="Arial"/>
            </a:endParaRPr>
          </a:p>
        </p:txBody>
      </p:sp>
      <p:sp>
        <p:nvSpPr>
          <p:cNvPr id="396" name="PlaceHolder 3"/>
          <p:cNvSpPr>
            <a:spLocks noGrp="1"/>
          </p:cNvSpPr>
          <p:nvPr>
            <p:ph type="sldNum" idx="6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8DB8554-98B9-47EB-9C31-2A6BE3810D3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457200" y="1600200"/>
            <a:ext cx="4037400" cy="452484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rgbClr val="000000"/>
              </a:solidFill>
              <a:effectLst/>
              <a:uFillTx/>
              <a:latin typeface="Arial"/>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rgbClr val="000000"/>
              </a:solidFill>
              <a:effectLst/>
              <a:uFillTx/>
              <a:latin typeface="Arial"/>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rgbClr val="000000"/>
              </a:solidFill>
              <a:effectLst/>
              <a:uFillTx/>
              <a:latin typeface="Arial"/>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rgbClr val="000000"/>
              </a:solidFill>
              <a:effectLst/>
              <a:uFillTx/>
              <a:latin typeface="Arial"/>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rgbClr val="000000"/>
              </a:solidFill>
              <a:effectLst/>
              <a:uFillTx/>
              <a:latin typeface="Arial"/>
            </a:endParaRPr>
          </a:p>
        </p:txBody>
      </p:sp>
      <p:sp>
        <p:nvSpPr>
          <p:cNvPr id="4" name="PlaceHolder 3"/>
          <p:cNvSpPr>
            <a:spLocks noGrp="1"/>
          </p:cNvSpPr>
          <p:nvPr>
            <p:ph type="body"/>
          </p:nvPr>
        </p:nvSpPr>
        <p:spPr>
          <a:xfrm>
            <a:off x="4648320" y="1600200"/>
            <a:ext cx="4037400" cy="452484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rgbClr val="000000"/>
              </a:solidFill>
              <a:effectLst/>
              <a:uFillTx/>
              <a:latin typeface="Arial"/>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rgbClr val="000000"/>
              </a:solidFill>
              <a:effectLst/>
              <a:uFillTx/>
              <a:latin typeface="Arial"/>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rgbClr val="000000"/>
              </a:solidFill>
              <a:effectLst/>
              <a:uFillTx/>
              <a:latin typeface="Arial"/>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rgbClr val="000000"/>
              </a:solidFill>
              <a:effectLst/>
              <a:uFillTx/>
              <a:latin typeface="Arial"/>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rgbClr val="000000"/>
              </a:solidFill>
              <a:effectLst/>
              <a:uFillTx/>
              <a:latin typeface="Arial"/>
            </a:endParaRPr>
          </a:p>
        </p:txBody>
      </p:sp>
      <p:sp>
        <p:nvSpPr>
          <p:cNvPr id="5" name="PlaceHolder 4"/>
          <p:cNvSpPr>
            <a:spLocks noGrp="1"/>
          </p:cNvSpPr>
          <p:nvPr>
            <p:ph type="dt" idx="1"/>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 name="PlaceHolder 5"/>
          <p:cNvSpPr>
            <a:spLocks noGrp="1"/>
          </p:cNvSpPr>
          <p:nvPr>
            <p:ph type="ftr" idx="2"/>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967C544F-D783-48E5-A2DE-21EFC4BA29E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9" name="PlaceHolder 2"/>
          <p:cNvSpPr>
            <a:spLocks noGrp="1"/>
          </p:cNvSpPr>
          <p:nvPr>
            <p:ph type="body"/>
          </p:nvPr>
        </p:nvSpPr>
        <p:spPr>
          <a:xfrm>
            <a:off x="457200" y="1535040"/>
            <a:ext cx="4039200" cy="63864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US" sz="2400" b="0" u="none" strike="noStrike">
              <a:solidFill>
                <a:srgbClr val="000000"/>
              </a:solidFill>
              <a:effectLst/>
              <a:uFillTx/>
              <a:latin typeface="Arial"/>
            </a:endParaRPr>
          </a:p>
        </p:txBody>
      </p:sp>
      <p:sp>
        <p:nvSpPr>
          <p:cNvPr id="10" name="PlaceHolder 3"/>
          <p:cNvSpPr>
            <a:spLocks noGrp="1"/>
          </p:cNvSpPr>
          <p:nvPr>
            <p:ph type="body"/>
          </p:nvPr>
        </p:nvSpPr>
        <p:spPr>
          <a:xfrm>
            <a:off x="457200" y="2174760"/>
            <a:ext cx="4039200" cy="395028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rgbClr val="000000"/>
              </a:solidFill>
              <a:effectLst/>
              <a:uFillTx/>
              <a:latin typeface="Arial"/>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rgbClr val="000000"/>
              </a:solidFill>
              <a:effectLst/>
              <a:uFillTx/>
              <a:latin typeface="Arial"/>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rgbClr val="000000"/>
              </a:solidFill>
              <a:effectLst/>
              <a:uFillTx/>
              <a:latin typeface="Arial"/>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rgbClr val="000000"/>
              </a:solidFill>
              <a:effectLst/>
              <a:uFillTx/>
              <a:latin typeface="Arial"/>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rgbClr val="000000"/>
              </a:solidFill>
              <a:effectLst/>
              <a:uFillTx/>
              <a:latin typeface="Arial"/>
            </a:endParaRPr>
          </a:p>
        </p:txBody>
      </p:sp>
      <p:sp>
        <p:nvSpPr>
          <p:cNvPr id="11" name="PlaceHolder 4"/>
          <p:cNvSpPr>
            <a:spLocks noGrp="1"/>
          </p:cNvSpPr>
          <p:nvPr>
            <p:ph type="body"/>
          </p:nvPr>
        </p:nvSpPr>
        <p:spPr>
          <a:xfrm>
            <a:off x="4645080" y="1535040"/>
            <a:ext cx="4040640" cy="63864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US" sz="2400" b="0" u="none" strike="noStrike">
              <a:solidFill>
                <a:srgbClr val="000000"/>
              </a:solidFill>
              <a:effectLst/>
              <a:uFillTx/>
              <a:latin typeface="Arial"/>
            </a:endParaRPr>
          </a:p>
        </p:txBody>
      </p:sp>
      <p:sp>
        <p:nvSpPr>
          <p:cNvPr id="12" name="PlaceHolder 5"/>
          <p:cNvSpPr>
            <a:spLocks noGrp="1"/>
          </p:cNvSpPr>
          <p:nvPr>
            <p:ph type="body"/>
          </p:nvPr>
        </p:nvSpPr>
        <p:spPr>
          <a:xfrm>
            <a:off x="4645080" y="2174760"/>
            <a:ext cx="4040640" cy="395028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rgbClr val="000000"/>
              </a:solidFill>
              <a:effectLst/>
              <a:uFillTx/>
              <a:latin typeface="Arial"/>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rgbClr val="000000"/>
              </a:solidFill>
              <a:effectLst/>
              <a:uFillTx/>
              <a:latin typeface="Arial"/>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rgbClr val="000000"/>
              </a:solidFill>
              <a:effectLst/>
              <a:uFillTx/>
              <a:latin typeface="Arial"/>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rgbClr val="000000"/>
              </a:solidFill>
              <a:effectLst/>
              <a:uFillTx/>
              <a:latin typeface="Arial"/>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rgbClr val="000000"/>
              </a:solidFill>
              <a:effectLst/>
              <a:uFillTx/>
              <a:latin typeface="Arial"/>
            </a:endParaRPr>
          </a:p>
        </p:txBody>
      </p:sp>
      <p:sp>
        <p:nvSpPr>
          <p:cNvPr id="13" name="PlaceHolder 6"/>
          <p:cNvSpPr>
            <a:spLocks noGrp="1"/>
          </p:cNvSpPr>
          <p:nvPr>
            <p:ph type="dt" idx="4"/>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7"/>
          <p:cNvSpPr>
            <a:spLocks noGrp="1"/>
          </p:cNvSpPr>
          <p:nvPr>
            <p:ph type="ftr" idx="5"/>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8"/>
          <p:cNvSpPr>
            <a:spLocks noGrp="1"/>
          </p:cNvSpPr>
          <p:nvPr>
            <p:ph type="sldNum" idx="6"/>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B62680E3-E81E-4D7E-BE8B-E8D581069B7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17" name="PlaceHolder 2"/>
          <p:cNvSpPr>
            <a:spLocks noGrp="1"/>
          </p:cNvSpPr>
          <p:nvPr>
            <p:ph type="dt" idx="7"/>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8" name="PlaceHolder 3"/>
          <p:cNvSpPr>
            <a:spLocks noGrp="1"/>
          </p:cNvSpPr>
          <p:nvPr>
            <p:ph type="ftr" idx="8"/>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9" name="PlaceHolder 4"/>
          <p:cNvSpPr>
            <a:spLocks noGrp="1"/>
          </p:cNvSpPr>
          <p:nvPr>
            <p:ph type="sldNum" idx="9"/>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3ABF6DB8-9E8A-4226-A3C8-669AA9425E7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dt" idx="10"/>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2"/>
          <p:cNvSpPr>
            <a:spLocks noGrp="1"/>
          </p:cNvSpPr>
          <p:nvPr>
            <p:ph type="ftr" idx="1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 name="PlaceHolder 3"/>
          <p:cNvSpPr>
            <a:spLocks noGrp="1"/>
          </p:cNvSpPr>
          <p:nvPr>
            <p:ph type="sldNum" idx="12"/>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3125C55A-83BE-4694-AF21-EFF0EC19266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3" name="PlaceHolder 4"/>
          <p:cNvSpPr>
            <a:spLocks noGrp="1"/>
          </p:cNvSpPr>
          <p:nvPr>
            <p:ph type="title"/>
          </p:nvPr>
        </p:nvSpPr>
        <p:spPr>
          <a:xfrm>
            <a:off x="609480" y="273600"/>
            <a:ext cx="10971360" cy="114408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Calibri"/>
              </a:rPr>
              <a:t>Click to edit the title text format</a:t>
            </a:r>
            <a:endParaRPr lang="en-US" sz="1800" b="0" u="none" strike="noStrike">
              <a:solidFill>
                <a:srgbClr val="000000"/>
              </a:solidFill>
              <a:effectLst/>
              <a:uFillTx/>
              <a:latin typeface="Arial"/>
            </a:endParaRPr>
          </a:p>
        </p:txBody>
      </p:sp>
      <p:sp>
        <p:nvSpPr>
          <p:cNvPr id="24" name="PlaceHolder 5"/>
          <p:cNvSpPr>
            <a:spLocks noGrp="1"/>
          </p:cNvSpPr>
          <p:nvPr>
            <p:ph type="body"/>
          </p:nvPr>
        </p:nvSpPr>
        <p:spPr>
          <a:xfrm>
            <a:off x="609480" y="1604520"/>
            <a:ext cx="1097136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72880"/>
            <a:ext cx="3007080" cy="116100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2000" b="1" u="none" strike="noStrike">
                <a:solidFill>
                  <a:schemeClr val="dk1"/>
                </a:solidFill>
                <a:effectLst/>
                <a:uFillTx/>
                <a:latin typeface="Calibri"/>
              </a:rPr>
              <a:t>Click to edit Master title style</a:t>
            </a:r>
            <a:endParaRPr lang="en-US" sz="2000" b="0" u="none" strike="noStrike">
              <a:solidFill>
                <a:srgbClr val="000000"/>
              </a:solidFill>
              <a:effectLst/>
              <a:uFillTx/>
              <a:latin typeface="Arial"/>
            </a:endParaRPr>
          </a:p>
        </p:txBody>
      </p:sp>
      <p:sp>
        <p:nvSpPr>
          <p:cNvPr id="26" name="PlaceHolder 2"/>
          <p:cNvSpPr>
            <a:spLocks noGrp="1"/>
          </p:cNvSpPr>
          <p:nvPr>
            <p:ph type="body"/>
          </p:nvPr>
        </p:nvSpPr>
        <p:spPr>
          <a:xfrm>
            <a:off x="3575160" y="272880"/>
            <a:ext cx="5110560" cy="58521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rgbClr val="000000"/>
              </a:solidFill>
              <a:effectLst/>
              <a:uFillTx/>
              <a:latin typeface="Arial"/>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rgbClr val="000000"/>
              </a:solidFill>
              <a:effectLst/>
              <a:uFillTx/>
              <a:latin typeface="Arial"/>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rgbClr val="000000"/>
              </a:solidFill>
              <a:effectLst/>
              <a:uFillTx/>
              <a:latin typeface="Arial"/>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rgbClr val="000000"/>
              </a:solidFill>
              <a:effectLst/>
              <a:uFillTx/>
              <a:latin typeface="Arial"/>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rgbClr val="000000"/>
              </a:solidFill>
              <a:effectLst/>
              <a:uFillTx/>
              <a:latin typeface="Arial"/>
            </a:endParaRPr>
          </a:p>
        </p:txBody>
      </p:sp>
      <p:sp>
        <p:nvSpPr>
          <p:cNvPr id="27" name="PlaceHolder 3"/>
          <p:cNvSpPr>
            <a:spLocks noGrp="1"/>
          </p:cNvSpPr>
          <p:nvPr>
            <p:ph type="body"/>
          </p:nvPr>
        </p:nvSpPr>
        <p:spPr>
          <a:xfrm>
            <a:off x="457200" y="1434960"/>
            <a:ext cx="3007080" cy="469008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US" sz="1400" b="0" u="none" strike="noStrike">
              <a:solidFill>
                <a:srgbClr val="000000"/>
              </a:solidFill>
              <a:effectLst/>
              <a:uFillTx/>
              <a:latin typeface="Arial"/>
            </a:endParaRPr>
          </a:p>
        </p:txBody>
      </p:sp>
      <p:sp>
        <p:nvSpPr>
          <p:cNvPr id="28" name="PlaceHolder 4"/>
          <p:cNvSpPr>
            <a:spLocks noGrp="1"/>
          </p:cNvSpPr>
          <p:nvPr>
            <p:ph type="dt" idx="13"/>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9" name="PlaceHolder 5"/>
          <p:cNvSpPr>
            <a:spLocks noGrp="1"/>
          </p:cNvSpPr>
          <p:nvPr>
            <p:ph type="ftr" idx="14"/>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 name="PlaceHolder 6"/>
          <p:cNvSpPr>
            <a:spLocks noGrp="1"/>
          </p:cNvSpPr>
          <p:nvPr>
            <p:ph type="sldNum" idx="15"/>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7D6449B2-1127-4D73-9EA8-D2AA71E124A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1792440" y="4800600"/>
            <a:ext cx="5485320" cy="56556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2000" b="1" u="none" strike="noStrike">
                <a:solidFill>
                  <a:schemeClr val="dk1"/>
                </a:solidFill>
                <a:effectLst/>
                <a:uFillTx/>
                <a:latin typeface="Calibri"/>
              </a:rPr>
              <a:t>Click to edit Master title style</a:t>
            </a:r>
            <a:endParaRPr lang="en-US" sz="2000" b="0" u="none" strike="noStrike">
              <a:solidFill>
                <a:srgbClr val="000000"/>
              </a:solidFill>
              <a:effectLst/>
              <a:uFillTx/>
              <a:latin typeface="Arial"/>
            </a:endParaRPr>
          </a:p>
        </p:txBody>
      </p:sp>
      <p:sp>
        <p:nvSpPr>
          <p:cNvPr id="32" name="PlaceHolder 2"/>
          <p:cNvSpPr>
            <a:spLocks noGrp="1"/>
          </p:cNvSpPr>
          <p:nvPr>
            <p:ph type="body"/>
          </p:nvPr>
        </p:nvSpPr>
        <p:spPr>
          <a:xfrm>
            <a:off x="1792440" y="612720"/>
            <a:ext cx="5485320" cy="4113720"/>
          </a:xfrm>
          <a:prstGeom prst="rect">
            <a:avLst/>
          </a:prstGeom>
          <a:no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rgbClr val="000000"/>
              </a:solidFill>
              <a:effectLst/>
              <a:uFillTx/>
              <a:latin typeface="Arial"/>
            </a:endParaRPr>
          </a:p>
        </p:txBody>
      </p:sp>
      <p:sp>
        <p:nvSpPr>
          <p:cNvPr id="33" name="PlaceHolder 3"/>
          <p:cNvSpPr>
            <a:spLocks noGrp="1"/>
          </p:cNvSpPr>
          <p:nvPr>
            <p:ph type="body"/>
          </p:nvPr>
        </p:nvSpPr>
        <p:spPr>
          <a:xfrm>
            <a:off x="1792440" y="5367240"/>
            <a:ext cx="5485320" cy="80388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US" sz="1400" b="0" u="none" strike="noStrike">
              <a:solidFill>
                <a:srgbClr val="000000"/>
              </a:solidFill>
              <a:effectLst/>
              <a:uFillTx/>
              <a:latin typeface="Arial"/>
            </a:endParaRPr>
          </a:p>
        </p:txBody>
      </p:sp>
      <p:sp>
        <p:nvSpPr>
          <p:cNvPr id="34" name="PlaceHolder 4"/>
          <p:cNvSpPr>
            <a:spLocks noGrp="1"/>
          </p:cNvSpPr>
          <p:nvPr>
            <p:ph type="dt" idx="16"/>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5" name="PlaceHolder 5"/>
          <p:cNvSpPr>
            <a:spLocks noGrp="1"/>
          </p:cNvSpPr>
          <p:nvPr>
            <p:ph type="ftr" idx="17"/>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 name="PlaceHolder 6"/>
          <p:cNvSpPr>
            <a:spLocks noGrp="1"/>
          </p:cNvSpPr>
          <p:nvPr>
            <p:ph type="sldNum" idx="18"/>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81E1774A-B4CF-43B1-ABB2-E7F22500CC3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685800" y="2130480"/>
            <a:ext cx="7771320" cy="146880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38" name="PlaceHolder 2"/>
          <p:cNvSpPr>
            <a:spLocks noGrp="1"/>
          </p:cNvSpPr>
          <p:nvPr>
            <p:ph type="dt" idx="19"/>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9" name="PlaceHolder 3"/>
          <p:cNvSpPr>
            <a:spLocks noGrp="1"/>
          </p:cNvSpPr>
          <p:nvPr>
            <p:ph type="ftr" idx="20"/>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4"/>
          <p:cNvSpPr>
            <a:spLocks noGrp="1"/>
          </p:cNvSpPr>
          <p:nvPr>
            <p:ph type="sldNum" idx="21"/>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6A69F66C-EFF2-49A8-81FE-C8F47C2ED01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42" name="PlaceHolder 2"/>
          <p:cNvSpPr>
            <a:spLocks noGrp="1"/>
          </p:cNvSpPr>
          <p:nvPr>
            <p:ph type="body"/>
          </p:nvPr>
        </p:nvSpPr>
        <p:spPr>
          <a:xfrm>
            <a:off x="457200" y="1600200"/>
            <a:ext cx="8228520" cy="452484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rgbClr val="000000"/>
              </a:solidFill>
              <a:effectLst/>
              <a:uFillTx/>
              <a:latin typeface="Arial"/>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rgbClr val="000000"/>
              </a:solidFill>
              <a:effectLst/>
              <a:uFillTx/>
              <a:latin typeface="Arial"/>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rgbClr val="000000"/>
              </a:solidFill>
              <a:effectLst/>
              <a:uFillTx/>
              <a:latin typeface="Arial"/>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rgbClr val="000000"/>
              </a:solidFill>
              <a:effectLst/>
              <a:uFillTx/>
              <a:latin typeface="Arial"/>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rgbClr val="000000"/>
              </a:solidFill>
              <a:effectLst/>
              <a:uFillTx/>
              <a:latin typeface="Arial"/>
            </a:endParaRPr>
          </a:p>
        </p:txBody>
      </p:sp>
      <p:sp>
        <p:nvSpPr>
          <p:cNvPr id="43" name="PlaceHolder 3"/>
          <p:cNvSpPr>
            <a:spLocks noGrp="1"/>
          </p:cNvSpPr>
          <p:nvPr>
            <p:ph type="dt" idx="22"/>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4" name="PlaceHolder 4"/>
          <p:cNvSpPr>
            <a:spLocks noGrp="1"/>
          </p:cNvSpPr>
          <p:nvPr>
            <p:ph type="ftr" idx="23"/>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5" name="PlaceHolder 5"/>
          <p:cNvSpPr>
            <a:spLocks noGrp="1"/>
          </p:cNvSpPr>
          <p:nvPr>
            <p:ph type="sldNum" idx="24"/>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6D0300B5-AC3C-4655-BE01-FD2BAD281DF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6629400" y="274680"/>
            <a:ext cx="2056320" cy="5850360"/>
          </a:xfrm>
          <a:prstGeom prst="rect">
            <a:avLst/>
          </a:prstGeom>
          <a:noFill/>
          <a:ln w="0">
            <a:noFill/>
          </a:ln>
        </p:spPr>
        <p:txBody>
          <a:bodyPr lIns="91440" rIns="91440" tIns="45720" bIns="45720" anchor="ctr" vert="eaVert">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47" name="PlaceHolder 2"/>
          <p:cNvSpPr>
            <a:spLocks noGrp="1"/>
          </p:cNvSpPr>
          <p:nvPr>
            <p:ph type="body"/>
          </p:nvPr>
        </p:nvSpPr>
        <p:spPr>
          <a:xfrm>
            <a:off x="457200" y="274680"/>
            <a:ext cx="6018840" cy="58503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rgbClr val="000000"/>
              </a:solidFill>
              <a:effectLst/>
              <a:uFillTx/>
              <a:latin typeface="Arial"/>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rgbClr val="000000"/>
              </a:solidFill>
              <a:effectLst/>
              <a:uFillTx/>
              <a:latin typeface="Arial"/>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rgbClr val="000000"/>
              </a:solidFill>
              <a:effectLst/>
              <a:uFillTx/>
              <a:latin typeface="Arial"/>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rgbClr val="000000"/>
              </a:solidFill>
              <a:effectLst/>
              <a:uFillTx/>
              <a:latin typeface="Arial"/>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rgbClr val="000000"/>
              </a:solidFill>
              <a:effectLst/>
              <a:uFillTx/>
              <a:latin typeface="Arial"/>
            </a:endParaRPr>
          </a:p>
        </p:txBody>
      </p:sp>
      <p:sp>
        <p:nvSpPr>
          <p:cNvPr id="48" name="PlaceHolder 3"/>
          <p:cNvSpPr>
            <a:spLocks noGrp="1"/>
          </p:cNvSpPr>
          <p:nvPr>
            <p:ph type="dt" idx="25"/>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9" name="PlaceHolder 4"/>
          <p:cNvSpPr>
            <a:spLocks noGrp="1"/>
          </p:cNvSpPr>
          <p:nvPr>
            <p:ph type="ftr" idx="26"/>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0" name="PlaceHolder 5"/>
          <p:cNvSpPr>
            <a:spLocks noGrp="1"/>
          </p:cNvSpPr>
          <p:nvPr>
            <p:ph type="sldNum" idx="27"/>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1C8065B1-D45A-48CC-A77B-6A48E47220A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52" name="PlaceHolder 2"/>
          <p:cNvSpPr>
            <a:spLocks noGrp="1"/>
          </p:cNvSpPr>
          <p:nvPr>
            <p:ph type="body"/>
          </p:nvPr>
        </p:nvSpPr>
        <p:spPr>
          <a:xfrm>
            <a:off x="457200" y="1600200"/>
            <a:ext cx="8228520" cy="45248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rgbClr val="000000"/>
              </a:solidFill>
              <a:effectLst/>
              <a:uFillTx/>
              <a:latin typeface="Arial"/>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rgbClr val="000000"/>
              </a:solidFill>
              <a:effectLst/>
              <a:uFillTx/>
              <a:latin typeface="Arial"/>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rgbClr val="000000"/>
              </a:solidFill>
              <a:effectLst/>
              <a:uFillTx/>
              <a:latin typeface="Arial"/>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rgbClr val="000000"/>
              </a:solidFill>
              <a:effectLst/>
              <a:uFillTx/>
              <a:latin typeface="Arial"/>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rgbClr val="000000"/>
              </a:solidFill>
              <a:effectLst/>
              <a:uFillTx/>
              <a:latin typeface="Arial"/>
            </a:endParaRPr>
          </a:p>
        </p:txBody>
      </p:sp>
      <p:sp>
        <p:nvSpPr>
          <p:cNvPr id="53" name="PlaceHolder 3"/>
          <p:cNvSpPr>
            <a:spLocks noGrp="1"/>
          </p:cNvSpPr>
          <p:nvPr>
            <p:ph type="dt" idx="28"/>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4" name="PlaceHolder 4"/>
          <p:cNvSpPr>
            <a:spLocks noGrp="1"/>
          </p:cNvSpPr>
          <p:nvPr>
            <p:ph type="ftr" idx="29"/>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5" name="PlaceHolder 5"/>
          <p:cNvSpPr>
            <a:spLocks noGrp="1"/>
          </p:cNvSpPr>
          <p:nvPr>
            <p:ph type="sldNum" idx="30"/>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1F78BE08-AD74-4F8E-8F58-46E829C3453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22160" y="4406760"/>
            <a:ext cx="7771320" cy="13611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4000" b="1" u="none" strike="noStrike" cap="all">
                <a:solidFill>
                  <a:schemeClr val="dk1"/>
                </a:solidFill>
                <a:effectLst/>
                <a:uFillTx/>
                <a:latin typeface="Calibri"/>
              </a:rPr>
              <a:t>Click to edit Master title style</a:t>
            </a:r>
            <a:endParaRPr lang="en-US" sz="4000" b="0" u="none" strike="noStrike">
              <a:solidFill>
                <a:srgbClr val="000000"/>
              </a:solidFill>
              <a:effectLst/>
              <a:uFillTx/>
              <a:latin typeface="Arial"/>
            </a:endParaRPr>
          </a:p>
        </p:txBody>
      </p:sp>
      <p:sp>
        <p:nvSpPr>
          <p:cNvPr id="57" name="PlaceHolder 2"/>
          <p:cNvSpPr>
            <a:spLocks noGrp="1"/>
          </p:cNvSpPr>
          <p:nvPr>
            <p:ph type="body"/>
          </p:nvPr>
        </p:nvSpPr>
        <p:spPr>
          <a:xfrm>
            <a:off x="722160" y="2906640"/>
            <a:ext cx="7771320" cy="149904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rgbClr val="000000"/>
              </a:solidFill>
              <a:effectLst/>
              <a:uFillTx/>
              <a:latin typeface="Arial"/>
            </a:endParaRPr>
          </a:p>
        </p:txBody>
      </p:sp>
      <p:sp>
        <p:nvSpPr>
          <p:cNvPr id="58" name="PlaceHolder 3"/>
          <p:cNvSpPr>
            <a:spLocks noGrp="1"/>
          </p:cNvSpPr>
          <p:nvPr>
            <p:ph type="dt" idx="31"/>
          </p:nvPr>
        </p:nvSpPr>
        <p:spPr>
          <a:xfrm>
            <a:off x="457200" y="6356520"/>
            <a:ext cx="213264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4"/>
          <p:cNvSpPr>
            <a:spLocks noGrp="1"/>
          </p:cNvSpPr>
          <p:nvPr>
            <p:ph type="ftr" idx="32"/>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5"/>
          <p:cNvSpPr>
            <a:spLocks noGrp="1"/>
          </p:cNvSpPr>
          <p:nvPr>
            <p:ph type="sldNum" idx="33"/>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841B824F-F6DA-4047-8E14-EFF305276BB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d8b6b"/>
        </a:solidFill>
      </p:bgPr>
    </p:bg>
    <p:spTree>
      <p:nvGrpSpPr>
        <p:cNvPr id="1" name=""/>
        <p:cNvGrpSpPr/>
        <p:nvPr/>
      </p:nvGrpSpPr>
      <p:grpSpPr>
        <a:xfrm>
          <a:off x="0" y="0"/>
          <a:ext cx="0" cy="0"/>
          <a:chOff x="0" y="0"/>
          <a:chExt cx="0" cy="0"/>
        </a:xfrm>
      </p:grpSpPr>
      <p:sp>
        <p:nvSpPr>
          <p:cNvPr id="67" name="TextBox 1"/>
          <p:cNvSpPr/>
          <p:nvPr/>
        </p:nvSpPr>
        <p:spPr>
          <a:xfrm>
            <a:off x="1371600" y="1371600"/>
            <a:ext cx="9142920" cy="2284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5200" b="1" u="none" strike="noStrike">
                <a:solidFill>
                  <a:srgbClr val="ffffff"/>
                </a:solidFill>
                <a:effectLst/>
                <a:uFillTx/>
                <a:latin typeface="Calibri"/>
              </a:rPr>
              <a:t>TDD, ADR &amp;</a:t>
            </a:r>
            <a:br>
              <a:rPr sz="5200"/>
            </a:br>
            <a:r>
              <a:rPr lang="en-US" sz="5200" b="1" u="none" strike="noStrike">
                <a:solidFill>
                  <a:srgbClr val="ffffff"/>
                </a:solidFill>
                <a:effectLst/>
                <a:uFillTx/>
                <a:latin typeface="Calibri"/>
              </a:rPr>
              <a:t>AI-Assisted Development</a:t>
            </a:r>
            <a:endParaRPr lang="en-US" sz="5200" b="0" u="none" strike="noStrike">
              <a:solidFill>
                <a:srgbClr val="ffffff"/>
              </a:solidFill>
              <a:effectLst/>
              <a:uFillTx/>
              <a:latin typeface="Arial"/>
            </a:endParaRPr>
          </a:p>
        </p:txBody>
      </p:sp>
      <p:sp>
        <p:nvSpPr>
          <p:cNvPr id="68" name="TextBox 2"/>
          <p:cNvSpPr/>
          <p:nvPr/>
        </p:nvSpPr>
        <p:spPr>
          <a:xfrm>
            <a:off x="1371600" y="3840480"/>
            <a:ext cx="73141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0" u="none" strike="noStrike">
                <a:solidFill>
                  <a:srgbClr val="c8ded2"/>
                </a:solidFill>
                <a:effectLst/>
                <a:uFillTx/>
                <a:latin typeface="Calibri"/>
              </a:rPr>
              <a:t>Hoe je voorkomt dat je AI-assistent je codebase sloopt</a:t>
            </a:r>
            <a:endParaRPr lang="en-US" sz="2400" b="0" u="none" strike="noStrike">
              <a:solidFill>
                <a:srgbClr val="ffffff"/>
              </a:solidFill>
              <a:effectLst/>
              <a:uFillTx/>
              <a:latin typeface="Arial"/>
            </a:endParaRPr>
          </a:p>
        </p:txBody>
      </p:sp>
      <p:sp>
        <p:nvSpPr>
          <p:cNvPr id="69" name="Rectangle 3"/>
          <p:cNvSpPr/>
          <p:nvPr/>
        </p:nvSpPr>
        <p:spPr>
          <a:xfrm>
            <a:off x="1371600" y="4754880"/>
            <a:ext cx="1827720" cy="35640"/>
          </a:xfrm>
          <a:prstGeom prst="rect">
            <a:avLst/>
          </a:prstGeom>
          <a:solidFill>
            <a:srgbClr val="c49a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8280" bIns="-82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0" name="TextBox 4"/>
          <p:cNvSpPr/>
          <p:nvPr/>
        </p:nvSpPr>
        <p:spPr>
          <a:xfrm>
            <a:off x="1371600" y="5029200"/>
            <a:ext cx="731412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u="none" strike="noStrike">
                <a:solidFill>
                  <a:srgbClr val="c8ded2"/>
                </a:solidFill>
                <a:effectLst/>
                <a:uFillTx/>
                <a:latin typeface="Calibri"/>
              </a:rPr>
              <a:t>Case study: Mithril</a:t>
            </a:r>
            <a:br>
              <a:rPr sz="1800"/>
            </a:br>
            <a:r>
              <a:rPr lang="en-US" sz="1800" b="0" u="none" strike="noStrike">
                <a:solidFill>
                  <a:srgbClr val="c8ded2"/>
                </a:solidFill>
                <a:effectLst/>
                <a:uFillTx/>
                <a:latin typeface="Calibri"/>
              </a:rPr>
              <a:t>418 commits  |  2142 tests  |  28 ADRs  |  3 weken</a:t>
            </a:r>
            <a:endParaRPr lang="en-US" sz="1800" b="0" u="none" strike="noStrike">
              <a:solidFill>
                <a:srgbClr val="ffffff"/>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71"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2" name="TextBox 2"/>
          <p:cNvSpPr/>
          <p:nvPr/>
        </p:nvSpPr>
        <p:spPr>
          <a:xfrm>
            <a:off x="914400" y="548640"/>
            <a:ext cx="91429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000" b="1" u="none" strike="noStrike">
                <a:solidFill>
                  <a:srgbClr val="4a4540"/>
                </a:solidFill>
                <a:effectLst/>
                <a:uFillTx/>
                <a:latin typeface="Calibri"/>
              </a:rPr>
              <a:t>Agenda</a:t>
            </a:r>
            <a:endParaRPr lang="en-US" sz="4000" b="0" u="none" strike="noStrike">
              <a:solidFill>
                <a:srgbClr val="000000"/>
              </a:solidFill>
              <a:effectLst/>
              <a:uFillTx/>
              <a:latin typeface="Arial"/>
            </a:endParaRPr>
          </a:p>
        </p:txBody>
      </p:sp>
      <p:sp>
        <p:nvSpPr>
          <p:cNvPr id="73" name="Oval 3"/>
          <p:cNvSpPr/>
          <p:nvPr/>
        </p:nvSpPr>
        <p:spPr>
          <a:xfrm>
            <a:off x="1371600" y="1645920"/>
            <a:ext cx="639000" cy="63900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defTabSz="457200">
              <a:lnSpc>
                <a:spcPct val="100000"/>
              </a:lnSpc>
            </a:pPr>
            <a:r>
              <a:rPr lang="en-US" sz="2400" b="1" u="none" strike="noStrike">
                <a:solidFill>
                  <a:srgbClr val="ffffff"/>
                </a:solidFill>
                <a:effectLst/>
                <a:uFillTx/>
                <a:latin typeface="Calibri"/>
              </a:rPr>
              <a:t>1</a:t>
            </a:r>
            <a:endParaRPr lang="en-US" sz="2400" b="0" u="none" strike="noStrike">
              <a:solidFill>
                <a:srgbClr val="ffffff"/>
              </a:solidFill>
              <a:effectLst/>
              <a:uFillTx/>
              <a:latin typeface="Arial"/>
            </a:endParaRPr>
          </a:p>
        </p:txBody>
      </p:sp>
      <p:sp>
        <p:nvSpPr>
          <p:cNvPr id="74" name="TextBox 4"/>
          <p:cNvSpPr/>
          <p:nvPr/>
        </p:nvSpPr>
        <p:spPr>
          <a:xfrm>
            <a:off x="2286000" y="1645920"/>
            <a:ext cx="457092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600" b="1" u="none" strike="noStrike">
                <a:solidFill>
                  <a:srgbClr val="4a4540"/>
                </a:solidFill>
                <a:effectLst/>
                <a:uFillTx/>
                <a:latin typeface="Calibri"/>
              </a:rPr>
              <a:t>Het Probleem</a:t>
            </a:r>
            <a:endParaRPr lang="en-US" sz="2600" b="0" u="none" strike="noStrike">
              <a:solidFill>
                <a:srgbClr val="000000"/>
              </a:solidFill>
              <a:effectLst/>
              <a:uFillTx/>
              <a:latin typeface="Arial"/>
            </a:endParaRPr>
          </a:p>
        </p:txBody>
      </p:sp>
      <p:sp>
        <p:nvSpPr>
          <p:cNvPr id="75" name="TextBox 5"/>
          <p:cNvSpPr/>
          <p:nvPr/>
        </p:nvSpPr>
        <p:spPr>
          <a:xfrm>
            <a:off x="2286000" y="2011680"/>
            <a:ext cx="4570920" cy="318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u="none" strike="noStrike">
                <a:solidFill>
                  <a:srgbClr val="6b655e"/>
                </a:solidFill>
                <a:effectLst/>
                <a:uFillTx/>
                <a:latin typeface="Calibri"/>
              </a:rPr>
              <a:t>Context Rot</a:t>
            </a:r>
            <a:endParaRPr lang="en-US" sz="1800" b="0" u="none" strike="noStrike">
              <a:solidFill>
                <a:srgbClr val="000000"/>
              </a:solidFill>
              <a:effectLst/>
              <a:uFillTx/>
              <a:latin typeface="Arial"/>
            </a:endParaRPr>
          </a:p>
        </p:txBody>
      </p:sp>
      <p:sp>
        <p:nvSpPr>
          <p:cNvPr id="76" name="Oval 6"/>
          <p:cNvSpPr/>
          <p:nvPr/>
        </p:nvSpPr>
        <p:spPr>
          <a:xfrm>
            <a:off x="1371600" y="2743200"/>
            <a:ext cx="639000" cy="63900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defTabSz="457200">
              <a:lnSpc>
                <a:spcPct val="100000"/>
              </a:lnSpc>
            </a:pPr>
            <a:r>
              <a:rPr lang="en-US" sz="2400" b="1" u="none" strike="noStrike">
                <a:solidFill>
                  <a:srgbClr val="ffffff"/>
                </a:solidFill>
                <a:effectLst/>
                <a:uFillTx/>
                <a:latin typeface="Calibri"/>
              </a:rPr>
              <a:t>2</a:t>
            </a:r>
            <a:endParaRPr lang="en-US" sz="2400" b="0" u="none" strike="noStrike">
              <a:solidFill>
                <a:srgbClr val="ffffff"/>
              </a:solidFill>
              <a:effectLst/>
              <a:uFillTx/>
              <a:latin typeface="Arial"/>
            </a:endParaRPr>
          </a:p>
        </p:txBody>
      </p:sp>
      <p:sp>
        <p:nvSpPr>
          <p:cNvPr id="77" name="TextBox 7"/>
          <p:cNvSpPr/>
          <p:nvPr/>
        </p:nvSpPr>
        <p:spPr>
          <a:xfrm>
            <a:off x="2286000" y="2743200"/>
            <a:ext cx="457092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600" b="1" u="none" strike="noStrike">
                <a:solidFill>
                  <a:srgbClr val="4a4540"/>
                </a:solidFill>
                <a:effectLst/>
                <a:uFillTx/>
                <a:latin typeface="Calibri"/>
              </a:rPr>
              <a:t>De Vier Lagen</a:t>
            </a:r>
            <a:endParaRPr lang="en-US" sz="2600" b="0" u="none" strike="noStrike">
              <a:solidFill>
                <a:srgbClr val="000000"/>
              </a:solidFill>
              <a:effectLst/>
              <a:uFillTx/>
              <a:latin typeface="Arial"/>
            </a:endParaRPr>
          </a:p>
        </p:txBody>
      </p:sp>
      <p:sp>
        <p:nvSpPr>
          <p:cNvPr id="78" name="TextBox 8"/>
          <p:cNvSpPr/>
          <p:nvPr/>
        </p:nvSpPr>
        <p:spPr>
          <a:xfrm>
            <a:off x="2286000" y="3108960"/>
            <a:ext cx="4570920" cy="318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u="none" strike="noStrike">
                <a:solidFill>
                  <a:srgbClr val="6b655e"/>
                </a:solidFill>
                <a:effectLst/>
                <a:uFillTx/>
                <a:latin typeface="Calibri"/>
              </a:rPr>
              <a:t>PRD, Plan, TDD, ADR</a:t>
            </a:r>
            <a:endParaRPr lang="en-US" sz="1800" b="0" u="none" strike="noStrike">
              <a:solidFill>
                <a:srgbClr val="000000"/>
              </a:solidFill>
              <a:effectLst/>
              <a:uFillTx/>
              <a:latin typeface="Arial"/>
            </a:endParaRPr>
          </a:p>
        </p:txBody>
      </p:sp>
      <p:sp>
        <p:nvSpPr>
          <p:cNvPr id="79" name="Oval 9"/>
          <p:cNvSpPr/>
          <p:nvPr/>
        </p:nvSpPr>
        <p:spPr>
          <a:xfrm>
            <a:off x="1371600" y="3840480"/>
            <a:ext cx="639000" cy="63900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defTabSz="457200">
              <a:lnSpc>
                <a:spcPct val="100000"/>
              </a:lnSpc>
            </a:pPr>
            <a:r>
              <a:rPr lang="en-US" sz="2400" b="1" u="none" strike="noStrike">
                <a:solidFill>
                  <a:srgbClr val="ffffff"/>
                </a:solidFill>
                <a:effectLst/>
                <a:uFillTx/>
                <a:latin typeface="Calibri"/>
              </a:rPr>
              <a:t>3</a:t>
            </a:r>
            <a:endParaRPr lang="en-US" sz="2400" b="0" u="none" strike="noStrike">
              <a:solidFill>
                <a:srgbClr val="ffffff"/>
              </a:solidFill>
              <a:effectLst/>
              <a:uFillTx/>
              <a:latin typeface="Arial"/>
            </a:endParaRPr>
          </a:p>
        </p:txBody>
      </p:sp>
      <p:sp>
        <p:nvSpPr>
          <p:cNvPr id="80" name="TextBox 10"/>
          <p:cNvSpPr/>
          <p:nvPr/>
        </p:nvSpPr>
        <p:spPr>
          <a:xfrm>
            <a:off x="2286000" y="3840480"/>
            <a:ext cx="457092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600" b="1" u="none" strike="noStrike">
                <a:solidFill>
                  <a:srgbClr val="4a4540"/>
                </a:solidFill>
                <a:effectLst/>
                <a:uFillTx/>
                <a:latin typeface="Calibri"/>
              </a:rPr>
              <a:t>Toepassen</a:t>
            </a:r>
            <a:endParaRPr lang="en-US" sz="2600" b="0" u="none" strike="noStrike">
              <a:solidFill>
                <a:srgbClr val="000000"/>
              </a:solidFill>
              <a:effectLst/>
              <a:uFillTx/>
              <a:latin typeface="Arial"/>
            </a:endParaRPr>
          </a:p>
        </p:txBody>
      </p:sp>
      <p:sp>
        <p:nvSpPr>
          <p:cNvPr id="81" name="TextBox 11"/>
          <p:cNvSpPr/>
          <p:nvPr/>
        </p:nvSpPr>
        <p:spPr>
          <a:xfrm>
            <a:off x="2286000" y="4206240"/>
            <a:ext cx="4570920" cy="318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u="none" strike="noStrike">
                <a:solidFill>
                  <a:srgbClr val="6b655e"/>
                </a:solidFill>
                <a:effectLst/>
                <a:uFillTx/>
                <a:latin typeface="Calibri"/>
              </a:rPr>
              <a:t>Lessen en valkuilen</a:t>
            </a:r>
            <a:endParaRPr lang="en-US" sz="1800" b="0" u="none" strike="noStrike">
              <a:solidFill>
                <a:srgbClr val="000000"/>
              </a:solidFill>
              <a:effectLst/>
              <a:uFillTx/>
              <a:latin typeface="Arial"/>
            </a:endParaRPr>
          </a:p>
        </p:txBody>
      </p:sp>
      <p:sp>
        <p:nvSpPr>
          <p:cNvPr id="82" name="Oval 12"/>
          <p:cNvSpPr/>
          <p:nvPr/>
        </p:nvSpPr>
        <p:spPr>
          <a:xfrm>
            <a:off x="1371600" y="4937760"/>
            <a:ext cx="639000" cy="63900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defTabSz="457200">
              <a:lnSpc>
                <a:spcPct val="100000"/>
              </a:lnSpc>
            </a:pPr>
            <a:r>
              <a:rPr lang="en-US" sz="2400" b="1" u="none" strike="noStrike">
                <a:solidFill>
                  <a:srgbClr val="ffffff"/>
                </a:solidFill>
                <a:effectLst/>
                <a:uFillTx/>
                <a:latin typeface="Calibri"/>
              </a:rPr>
              <a:t>4</a:t>
            </a:r>
            <a:endParaRPr lang="en-US" sz="2400" b="0" u="none" strike="noStrike">
              <a:solidFill>
                <a:srgbClr val="ffffff"/>
              </a:solidFill>
              <a:effectLst/>
              <a:uFillTx/>
              <a:latin typeface="Arial"/>
            </a:endParaRPr>
          </a:p>
        </p:txBody>
      </p:sp>
      <p:sp>
        <p:nvSpPr>
          <p:cNvPr id="83" name="TextBox 13"/>
          <p:cNvSpPr/>
          <p:nvPr/>
        </p:nvSpPr>
        <p:spPr>
          <a:xfrm>
            <a:off x="2286000" y="4937760"/>
            <a:ext cx="457092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600" b="1" u="none" strike="noStrike">
                <a:solidFill>
                  <a:srgbClr val="4a4540"/>
                </a:solidFill>
                <a:effectLst/>
                <a:uFillTx/>
                <a:latin typeface="Calibri"/>
              </a:rPr>
              <a:t>ANVIL</a:t>
            </a:r>
            <a:endParaRPr lang="en-US" sz="2600" b="0" u="none" strike="noStrike">
              <a:solidFill>
                <a:srgbClr val="000000"/>
              </a:solidFill>
              <a:effectLst/>
              <a:uFillTx/>
              <a:latin typeface="Arial"/>
            </a:endParaRPr>
          </a:p>
        </p:txBody>
      </p:sp>
      <p:sp>
        <p:nvSpPr>
          <p:cNvPr id="84" name="TextBox 14"/>
          <p:cNvSpPr/>
          <p:nvPr/>
        </p:nvSpPr>
        <p:spPr>
          <a:xfrm>
            <a:off x="2286000" y="5303520"/>
            <a:ext cx="4570920" cy="318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u="none" strike="noStrike">
                <a:solidFill>
                  <a:srgbClr val="6b655e"/>
                </a:solidFill>
                <a:effectLst/>
                <a:uFillTx/>
                <a:latin typeface="Calibri"/>
              </a:rPr>
              <a:t>Automatisering van de flow</a:t>
            </a:r>
            <a:endParaRPr lang="en-US" sz="18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d8b6b"/>
        </a:solidFill>
      </p:bgPr>
    </p:bg>
    <p:spTree>
      <p:nvGrpSpPr>
        <p:cNvPr id="1" name=""/>
        <p:cNvGrpSpPr/>
        <p:nvPr/>
      </p:nvGrpSpPr>
      <p:grpSpPr>
        <a:xfrm>
          <a:off x="0" y="0"/>
          <a:ext cx="0" cy="0"/>
          <a:chOff x="0" y="0"/>
          <a:chExt cx="0" cy="0"/>
        </a:xfrm>
      </p:grpSpPr>
      <p:sp>
        <p:nvSpPr>
          <p:cNvPr id="85" name="TextBox 1"/>
          <p:cNvSpPr/>
          <p:nvPr/>
        </p:nvSpPr>
        <p:spPr>
          <a:xfrm>
            <a:off x="1371600" y="1828800"/>
            <a:ext cx="914292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c8ded2"/>
                </a:solidFill>
                <a:effectLst/>
                <a:uFillTx/>
                <a:latin typeface="Calibri"/>
              </a:rPr>
              <a:t>DEEL 1</a:t>
            </a:r>
            <a:endParaRPr lang="en-US" sz="2400" b="0" u="none" strike="noStrike">
              <a:solidFill>
                <a:srgbClr val="ffffff"/>
              </a:solidFill>
              <a:effectLst/>
              <a:uFillTx/>
              <a:latin typeface="Arial"/>
            </a:endParaRPr>
          </a:p>
        </p:txBody>
      </p:sp>
      <p:sp>
        <p:nvSpPr>
          <p:cNvPr id="86" name="TextBox 2"/>
          <p:cNvSpPr/>
          <p:nvPr/>
        </p:nvSpPr>
        <p:spPr>
          <a:xfrm>
            <a:off x="1371600" y="2468880"/>
            <a:ext cx="914292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800" b="1" u="none" strike="noStrike">
                <a:solidFill>
                  <a:srgbClr val="ffffff"/>
                </a:solidFill>
                <a:effectLst/>
                <a:uFillTx/>
                <a:latin typeface="Calibri"/>
              </a:rPr>
              <a:t>Het Probleem</a:t>
            </a:r>
            <a:endParaRPr lang="en-US" sz="4800" b="0" u="none" strike="noStrike">
              <a:solidFill>
                <a:srgbClr val="ffffff"/>
              </a:solidFill>
              <a:effectLst/>
              <a:uFillTx/>
              <a:latin typeface="Arial"/>
            </a:endParaRPr>
          </a:p>
        </p:txBody>
      </p:sp>
      <p:sp>
        <p:nvSpPr>
          <p:cNvPr id="87" name="TextBox 3"/>
          <p:cNvSpPr/>
          <p:nvPr/>
        </p:nvSpPr>
        <p:spPr>
          <a:xfrm>
            <a:off x="1371600" y="3931920"/>
            <a:ext cx="731412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0" u="none" strike="noStrike">
                <a:solidFill>
                  <a:srgbClr val="c8ded2"/>
                </a:solidFill>
                <a:effectLst/>
                <a:uFillTx/>
                <a:latin typeface="Calibri"/>
              </a:rPr>
              <a:t>Context Rot</a:t>
            </a:r>
            <a:endParaRPr lang="en-US" sz="2200" b="0" u="none" strike="noStrike">
              <a:solidFill>
                <a:srgbClr val="ffffff"/>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88"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9"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AI heeft geheugenverlies</a:t>
            </a:r>
            <a:endParaRPr lang="en-US" sz="3800" b="0" u="none" strike="noStrike">
              <a:solidFill>
                <a:srgbClr val="000000"/>
              </a:solidFill>
              <a:effectLst/>
              <a:uFillTx/>
              <a:latin typeface="Arial"/>
            </a:endParaRPr>
          </a:p>
        </p:txBody>
      </p:sp>
      <p:sp>
        <p:nvSpPr>
          <p:cNvPr id="90" name="TextBox 3"/>
          <p:cNvSpPr/>
          <p:nvPr/>
        </p:nvSpPr>
        <p:spPr>
          <a:xfrm>
            <a:off x="914400" y="1280160"/>
            <a:ext cx="1005732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0" u="none" strike="noStrike">
                <a:solidFill>
                  <a:srgbClr val="6b655e"/>
                </a:solidFill>
                <a:effectLst/>
                <a:uFillTx/>
                <a:latin typeface="Calibri"/>
              </a:rPr>
              <a:t>AI werkt binnen een context window; een beperkt geheugen. Elke chat begint blanco.</a:t>
            </a:r>
            <a:endParaRPr lang="en-US" sz="2000" b="0" u="none" strike="noStrike">
              <a:solidFill>
                <a:srgbClr val="000000"/>
              </a:solidFill>
              <a:effectLst/>
              <a:uFillTx/>
              <a:latin typeface="Arial"/>
            </a:endParaRPr>
          </a:p>
        </p:txBody>
      </p:sp>
      <p:sp>
        <p:nvSpPr>
          <p:cNvPr id="91" name="Rounded Rectangle 4"/>
          <p:cNvSpPr/>
          <p:nvPr/>
        </p:nvSpPr>
        <p:spPr>
          <a:xfrm>
            <a:off x="914400" y="2103120"/>
            <a:ext cx="3199320" cy="31993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2" name="TextBox 5"/>
          <p:cNvSpPr/>
          <p:nvPr/>
        </p:nvSpPr>
        <p:spPr>
          <a:xfrm>
            <a:off x="1188720" y="2286000"/>
            <a:ext cx="265068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3d8b6b"/>
                </a:solidFill>
                <a:effectLst/>
                <a:uFillTx/>
                <a:latin typeface="Calibri"/>
              </a:rPr>
              <a:t>Context compressie</a:t>
            </a:r>
            <a:endParaRPr lang="en-US" sz="2000" b="0" u="none" strike="noStrike">
              <a:solidFill>
                <a:srgbClr val="000000"/>
              </a:solidFill>
              <a:effectLst/>
              <a:uFillTx/>
              <a:latin typeface="Arial"/>
            </a:endParaRPr>
          </a:p>
        </p:txBody>
      </p:sp>
      <p:sp>
        <p:nvSpPr>
          <p:cNvPr id="93" name="TextBox 6"/>
          <p:cNvSpPr/>
          <p:nvPr/>
        </p:nvSpPr>
        <p:spPr>
          <a:xfrm>
            <a:off x="1188720" y="2743200"/>
            <a:ext cx="2650680" cy="2376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4a4540"/>
                </a:solidFill>
                <a:effectLst/>
                <a:uFillTx/>
                <a:latin typeface="Calibri"/>
              </a:rPr>
              <a:t>Oudere berichten worden</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samengevat of weggelaten</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Nuances en afspraken</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verdwijnen stilletjes</a:t>
            </a:r>
            <a:endParaRPr lang="en-US" sz="1600" b="0" u="none" strike="noStrike">
              <a:solidFill>
                <a:srgbClr val="000000"/>
              </a:solidFill>
              <a:effectLst/>
              <a:uFillTx/>
              <a:latin typeface="Arial"/>
            </a:endParaRPr>
          </a:p>
        </p:txBody>
      </p:sp>
      <p:sp>
        <p:nvSpPr>
          <p:cNvPr id="94" name="Rounded Rectangle 7"/>
          <p:cNvSpPr/>
          <p:nvPr/>
        </p:nvSpPr>
        <p:spPr>
          <a:xfrm>
            <a:off x="4572000" y="2103120"/>
            <a:ext cx="3199320" cy="31993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5" name="TextBox 8"/>
          <p:cNvSpPr/>
          <p:nvPr/>
        </p:nvSpPr>
        <p:spPr>
          <a:xfrm>
            <a:off x="4846320" y="2286000"/>
            <a:ext cx="265068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3d8b6b"/>
                </a:solidFill>
                <a:effectLst/>
                <a:uFillTx/>
                <a:latin typeface="Calibri"/>
              </a:rPr>
              <a:t>Attention decay</a:t>
            </a:r>
            <a:endParaRPr lang="en-US" sz="2000" b="0" u="none" strike="noStrike">
              <a:solidFill>
                <a:srgbClr val="000000"/>
              </a:solidFill>
              <a:effectLst/>
              <a:uFillTx/>
              <a:latin typeface="Arial"/>
            </a:endParaRPr>
          </a:p>
        </p:txBody>
      </p:sp>
      <p:sp>
        <p:nvSpPr>
          <p:cNvPr id="96" name="TextBox 9"/>
          <p:cNvSpPr/>
          <p:nvPr/>
        </p:nvSpPr>
        <p:spPr>
          <a:xfrm>
            <a:off x="4846320" y="2743200"/>
            <a:ext cx="2650680" cy="2376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4a4540"/>
                </a:solidFill>
                <a:effectLst/>
                <a:uFillTx/>
                <a:latin typeface="Calibri"/>
              </a:rPr>
              <a:t>Meer tekst = minder gewicht</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voor oudere informatie</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Instructies van 20 berichten</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geleden zijn effectief vergeten</a:t>
            </a:r>
            <a:endParaRPr lang="en-US" sz="1600" b="0" u="none" strike="noStrike">
              <a:solidFill>
                <a:srgbClr val="000000"/>
              </a:solidFill>
              <a:effectLst/>
              <a:uFillTx/>
              <a:latin typeface="Arial"/>
            </a:endParaRPr>
          </a:p>
        </p:txBody>
      </p:sp>
      <p:sp>
        <p:nvSpPr>
          <p:cNvPr id="97" name="Rounded Rectangle 10"/>
          <p:cNvSpPr/>
          <p:nvPr/>
        </p:nvSpPr>
        <p:spPr>
          <a:xfrm>
            <a:off x="8229600" y="2103120"/>
            <a:ext cx="3199320" cy="31993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8" name="TextBox 11"/>
          <p:cNvSpPr/>
          <p:nvPr/>
        </p:nvSpPr>
        <p:spPr>
          <a:xfrm>
            <a:off x="8503920" y="2286000"/>
            <a:ext cx="265068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3d8b6b"/>
                </a:solidFill>
                <a:effectLst/>
                <a:uFillTx/>
                <a:latin typeface="Calibri"/>
              </a:rPr>
              <a:t>Hallucinaties</a:t>
            </a:r>
            <a:endParaRPr lang="en-US" sz="2000" b="0" u="none" strike="noStrike">
              <a:solidFill>
                <a:srgbClr val="000000"/>
              </a:solidFill>
              <a:effectLst/>
              <a:uFillTx/>
              <a:latin typeface="Arial"/>
            </a:endParaRPr>
          </a:p>
        </p:txBody>
      </p:sp>
      <p:sp>
        <p:nvSpPr>
          <p:cNvPr id="99" name="TextBox 12"/>
          <p:cNvSpPr/>
          <p:nvPr/>
        </p:nvSpPr>
        <p:spPr>
          <a:xfrm>
            <a:off x="8503920" y="2743200"/>
            <a:ext cx="2650680" cy="2376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4a4540"/>
                </a:solidFill>
                <a:effectLst/>
                <a:uFillTx/>
                <a:latin typeface="Calibri"/>
              </a:rPr>
              <a:t>AI vult gaten met</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plausibele maar onjuiste info</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Weet niet dat hij het</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niet meer weet</a:t>
            </a:r>
            <a:endParaRPr lang="en-US" sz="1600" b="0" u="none" strike="noStrike">
              <a:solidFill>
                <a:srgbClr val="000000"/>
              </a:solidFill>
              <a:effectLst/>
              <a:uFillTx/>
              <a:latin typeface="Arial"/>
            </a:endParaRPr>
          </a:p>
        </p:txBody>
      </p:sp>
      <p:sp>
        <p:nvSpPr>
          <p:cNvPr id="100" name="TextBox 13"/>
          <p:cNvSpPr/>
          <p:nvPr/>
        </p:nvSpPr>
        <p:spPr>
          <a:xfrm>
            <a:off x="914400" y="5669280"/>
            <a:ext cx="10057320" cy="821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i="1" u="none" strike="noStrike">
                <a:solidFill>
                  <a:srgbClr val="6b655e"/>
                </a:solidFill>
                <a:effectLst/>
                <a:uFillTx/>
                <a:latin typeface="Calibri"/>
              </a:rPr>
              <a:t>"Stel je voor dat je een collega hebt die scherp begint, maar gedurende de dag</a:t>
            </a:r>
            <a:br>
              <a:rPr sz="1800"/>
            </a:br>
            <a:r>
              <a:rPr lang="en-US" sz="1800" b="0" i="1" u="none" strike="noStrike">
                <a:solidFill>
                  <a:srgbClr val="6b655e"/>
                </a:solidFill>
                <a:effectLst/>
                <a:uFillTx/>
                <a:latin typeface="Calibri"/>
              </a:rPr>
              <a:t>steeds meer vergeet; en het ergste is dat hij niet doorheeft dat hij dingen vergeet."</a:t>
            </a:r>
            <a:endParaRPr lang="en-US" sz="18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101"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2"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Context Rot in de praktijk</a:t>
            </a:r>
            <a:endParaRPr lang="en-US" sz="3800" b="0" u="none" strike="noStrike">
              <a:solidFill>
                <a:srgbClr val="000000"/>
              </a:solidFill>
              <a:effectLst/>
              <a:uFillTx/>
              <a:latin typeface="Arial"/>
            </a:endParaRPr>
          </a:p>
        </p:txBody>
      </p:sp>
      <p:sp>
        <p:nvSpPr>
          <p:cNvPr id="103" name="TextBox 3"/>
          <p:cNvSpPr/>
          <p:nvPr/>
        </p:nvSpPr>
        <p:spPr>
          <a:xfrm>
            <a:off x="914400" y="1645920"/>
            <a:ext cx="9142920" cy="3656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800"/>
              </a:spcAft>
            </a:pPr>
            <a:r>
              <a:rPr lang="en-US" sz="2400" b="0" u="none" strike="noStrike">
                <a:solidFill>
                  <a:srgbClr val="4a4540"/>
                </a:solidFill>
                <a:effectLst/>
                <a:uFillTx/>
                <a:latin typeface="Calibri"/>
              </a:rPr>
              <a:t>Architectuurbeslissingen gaan verloren of raken verdund</a:t>
            </a:r>
            <a:endParaRPr lang="en-US" sz="2400" b="0" u="none" strike="noStrike">
              <a:solidFill>
                <a:srgbClr val="000000"/>
              </a:solidFill>
              <a:effectLst/>
              <a:uFillTx/>
              <a:latin typeface="Arial"/>
            </a:endParaRPr>
          </a:p>
          <a:p>
            <a:pPr defTabSz="457200">
              <a:lnSpc>
                <a:spcPct val="100000"/>
              </a:lnSpc>
              <a:spcAft>
                <a:spcPts val="1800"/>
              </a:spcAft>
            </a:pPr>
            <a:r>
              <a:rPr lang="en-US" sz="2400" b="0" u="none" strike="noStrike">
                <a:solidFill>
                  <a:srgbClr val="4a4540"/>
                </a:solidFill>
                <a:effectLst/>
                <a:uFillTx/>
                <a:latin typeface="Calibri"/>
              </a:rPr>
              <a:t>De AI maakt dezelfde fouten opnieuw</a:t>
            </a:r>
            <a:endParaRPr lang="en-US" sz="2400" b="0" u="none" strike="noStrike">
              <a:solidFill>
                <a:srgbClr val="000000"/>
              </a:solidFill>
              <a:effectLst/>
              <a:uFillTx/>
              <a:latin typeface="Arial"/>
            </a:endParaRPr>
          </a:p>
          <a:p>
            <a:pPr defTabSz="457200">
              <a:lnSpc>
                <a:spcPct val="100000"/>
              </a:lnSpc>
              <a:spcAft>
                <a:spcPts val="1800"/>
              </a:spcAft>
            </a:pPr>
            <a:r>
              <a:rPr lang="en-US" sz="2400" b="0" u="none" strike="noStrike">
                <a:solidFill>
                  <a:srgbClr val="4a4540"/>
                </a:solidFill>
                <a:effectLst/>
                <a:uFillTx/>
                <a:latin typeface="Calibri"/>
              </a:rPr>
              <a:t>Code wordt inconsistent; patronen worden vergeten</a:t>
            </a:r>
            <a:endParaRPr lang="en-US" sz="2400" b="0" u="none" strike="noStrike">
              <a:solidFill>
                <a:srgbClr val="000000"/>
              </a:solidFill>
              <a:effectLst/>
              <a:uFillTx/>
              <a:latin typeface="Arial"/>
            </a:endParaRPr>
          </a:p>
          <a:p>
            <a:pPr defTabSz="457200">
              <a:lnSpc>
                <a:spcPct val="100000"/>
              </a:lnSpc>
              <a:spcAft>
                <a:spcPts val="1800"/>
              </a:spcAft>
            </a:pPr>
            <a:r>
              <a:rPr lang="en-US" sz="2400" b="0" u="none" strike="noStrike">
                <a:solidFill>
                  <a:srgbClr val="4a4540"/>
                </a:solidFill>
                <a:effectLst/>
                <a:uFillTx/>
                <a:latin typeface="Calibri"/>
              </a:rPr>
              <a:t>"Waarom is dit zo?" is niet meer te beantwoorden</a:t>
            </a:r>
            <a:endParaRPr lang="en-US" sz="2400" b="0" u="none" strike="noStrike">
              <a:solidFill>
                <a:srgbClr val="000000"/>
              </a:solidFill>
              <a:effectLst/>
              <a:uFillTx/>
              <a:latin typeface="Arial"/>
            </a:endParaRPr>
          </a:p>
          <a:p>
            <a:pPr defTabSz="457200">
              <a:lnSpc>
                <a:spcPct val="100000"/>
              </a:lnSpc>
              <a:spcAft>
                <a:spcPts val="1800"/>
              </a:spcAft>
            </a:pPr>
            <a:r>
              <a:rPr lang="en-US" sz="2400" b="0" u="none" strike="noStrike">
                <a:solidFill>
                  <a:srgbClr val="4a4540"/>
                </a:solidFill>
                <a:effectLst/>
                <a:uFillTx/>
                <a:latin typeface="Calibri"/>
              </a:rPr>
              <a:t>AI stelt code voor die ingaat tegen eerdere afspraken</a:t>
            </a:r>
            <a:endParaRPr lang="en-US" sz="24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104"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5"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De oplossing: externaliseer context</a:t>
            </a:r>
            <a:endParaRPr lang="en-US" sz="3800" b="0" u="none" strike="noStrike">
              <a:solidFill>
                <a:srgbClr val="000000"/>
              </a:solidFill>
              <a:effectLst/>
              <a:uFillTx/>
              <a:latin typeface="Arial"/>
            </a:endParaRPr>
          </a:p>
        </p:txBody>
      </p:sp>
      <p:sp>
        <p:nvSpPr>
          <p:cNvPr id="106" name="TextBox 3"/>
          <p:cNvSpPr/>
          <p:nvPr/>
        </p:nvSpPr>
        <p:spPr>
          <a:xfrm>
            <a:off x="914400" y="1280160"/>
            <a:ext cx="1005732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0" u="none" strike="noStrike">
                <a:solidFill>
                  <a:srgbClr val="6b655e"/>
                </a:solidFill>
                <a:effectLst/>
                <a:uFillTx/>
                <a:latin typeface="Calibri"/>
              </a:rPr>
              <a:t>De AI vergeet, maar bestanden in je repository niet.</a:t>
            </a:r>
            <a:endParaRPr lang="en-US" sz="2200" b="0" u="none" strike="noStrike">
              <a:solidFill>
                <a:srgbClr val="000000"/>
              </a:solidFill>
              <a:effectLst/>
              <a:uFillTx/>
              <a:latin typeface="Arial"/>
            </a:endParaRPr>
          </a:p>
        </p:txBody>
      </p:sp>
      <p:sp>
        <p:nvSpPr>
          <p:cNvPr id="107" name="Rounded Rectangle 4"/>
          <p:cNvSpPr/>
          <p:nvPr/>
        </p:nvSpPr>
        <p:spPr>
          <a:xfrm>
            <a:off x="914400" y="2286000"/>
            <a:ext cx="2559240" cy="347364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8" name="Rounded Rectangle 5"/>
          <p:cNvSpPr/>
          <p:nvPr/>
        </p:nvSpPr>
        <p:spPr>
          <a:xfrm>
            <a:off x="1188720" y="2468880"/>
            <a:ext cx="2010600" cy="501840"/>
          </a:xfrm>
          <a:prstGeom prst="roundRect">
            <a:avLst>
              <a:gd name="adj" fmla="val 16667"/>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200" b="1" u="none" strike="noStrike">
                <a:solidFill>
                  <a:srgbClr val="ffffff"/>
                </a:solidFill>
                <a:effectLst/>
                <a:uFillTx/>
                <a:latin typeface="Calibri"/>
              </a:rPr>
              <a:t>PRD</a:t>
            </a:r>
            <a:endParaRPr lang="en-US" sz="2200" b="0" u="none" strike="noStrike">
              <a:solidFill>
                <a:srgbClr val="ffffff"/>
              </a:solidFill>
              <a:effectLst/>
              <a:uFillTx/>
              <a:latin typeface="Arial"/>
            </a:endParaRPr>
          </a:p>
        </p:txBody>
      </p:sp>
      <p:sp>
        <p:nvSpPr>
          <p:cNvPr id="109" name="TextBox 6"/>
          <p:cNvSpPr/>
          <p:nvPr/>
        </p:nvSpPr>
        <p:spPr>
          <a:xfrm>
            <a:off x="1188720" y="3200400"/>
            <a:ext cx="201060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c49a3c"/>
                </a:solidFill>
                <a:effectLst/>
                <a:uFillTx/>
                <a:latin typeface="Calibri"/>
              </a:rPr>
              <a:t>Beantwoordt: Wat &amp; Waarom</a:t>
            </a:r>
            <a:endParaRPr lang="en-US" sz="1600" b="0" u="none" strike="noStrike">
              <a:solidFill>
                <a:srgbClr val="000000"/>
              </a:solidFill>
              <a:effectLst/>
              <a:uFillTx/>
              <a:latin typeface="Arial"/>
            </a:endParaRPr>
          </a:p>
        </p:txBody>
      </p:sp>
      <p:sp>
        <p:nvSpPr>
          <p:cNvPr id="110" name="TextBox 7"/>
          <p:cNvSpPr/>
          <p:nvPr/>
        </p:nvSpPr>
        <p:spPr>
          <a:xfrm>
            <a:off x="1188720" y="3840480"/>
            <a:ext cx="201060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4a4540"/>
                </a:solidFill>
                <a:effectLst/>
                <a:uFillTx/>
                <a:latin typeface="Calibri"/>
              </a:rPr>
              <a:t>Feature-eisen, doelen,</a:t>
            </a:r>
            <a:br>
              <a:rPr sz="1700"/>
            </a:br>
            <a:r>
              <a:rPr lang="en-US" sz="1700" b="0" u="none" strike="noStrike">
                <a:solidFill>
                  <a:srgbClr val="4a4540"/>
                </a:solidFill>
                <a:effectLst/>
                <a:uFillTx/>
                <a:latin typeface="Calibri"/>
              </a:rPr>
              <a:t>acceptatiecriteria</a:t>
            </a:r>
            <a:endParaRPr lang="en-US" sz="1700" b="0" u="none" strike="noStrike">
              <a:solidFill>
                <a:srgbClr val="000000"/>
              </a:solidFill>
              <a:effectLst/>
              <a:uFillTx/>
              <a:latin typeface="Arial"/>
            </a:endParaRPr>
          </a:p>
        </p:txBody>
      </p:sp>
      <p:sp>
        <p:nvSpPr>
          <p:cNvPr id="111" name="Rounded Rectangle 8"/>
          <p:cNvSpPr/>
          <p:nvPr/>
        </p:nvSpPr>
        <p:spPr>
          <a:xfrm>
            <a:off x="3749040" y="2286000"/>
            <a:ext cx="2559240" cy="347364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2" name="Rounded Rectangle 9"/>
          <p:cNvSpPr/>
          <p:nvPr/>
        </p:nvSpPr>
        <p:spPr>
          <a:xfrm>
            <a:off x="4023360" y="2468880"/>
            <a:ext cx="2010600" cy="501840"/>
          </a:xfrm>
          <a:prstGeom prst="roundRect">
            <a:avLst>
              <a:gd name="adj" fmla="val 16667"/>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200" b="1" u="none" strike="noStrike">
                <a:solidFill>
                  <a:srgbClr val="ffffff"/>
                </a:solidFill>
                <a:effectLst/>
                <a:uFillTx/>
                <a:latin typeface="Calibri"/>
              </a:rPr>
              <a:t>Plan</a:t>
            </a:r>
            <a:endParaRPr lang="en-US" sz="2200" b="0" u="none" strike="noStrike">
              <a:solidFill>
                <a:srgbClr val="ffffff"/>
              </a:solidFill>
              <a:effectLst/>
              <a:uFillTx/>
              <a:latin typeface="Arial"/>
            </a:endParaRPr>
          </a:p>
        </p:txBody>
      </p:sp>
      <p:sp>
        <p:nvSpPr>
          <p:cNvPr id="113" name="TextBox 10"/>
          <p:cNvSpPr/>
          <p:nvPr/>
        </p:nvSpPr>
        <p:spPr>
          <a:xfrm>
            <a:off x="4023360" y="3200400"/>
            <a:ext cx="201060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c49a3c"/>
                </a:solidFill>
                <a:effectLst/>
                <a:uFillTx/>
                <a:latin typeface="Calibri"/>
              </a:rPr>
              <a:t>Beantwoordt: Hoe</a:t>
            </a:r>
            <a:endParaRPr lang="en-US" sz="1600" b="0" u="none" strike="noStrike">
              <a:solidFill>
                <a:srgbClr val="000000"/>
              </a:solidFill>
              <a:effectLst/>
              <a:uFillTx/>
              <a:latin typeface="Arial"/>
            </a:endParaRPr>
          </a:p>
        </p:txBody>
      </p:sp>
      <p:sp>
        <p:nvSpPr>
          <p:cNvPr id="114" name="TextBox 11"/>
          <p:cNvSpPr/>
          <p:nvPr/>
        </p:nvSpPr>
        <p:spPr>
          <a:xfrm>
            <a:off x="4023360" y="3840480"/>
            <a:ext cx="201060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4a4540"/>
                </a:solidFill>
                <a:effectLst/>
                <a:uFillTx/>
                <a:latin typeface="Calibri"/>
              </a:rPr>
              <a:t>Technische scope,</a:t>
            </a:r>
            <a:br>
              <a:rPr sz="1700"/>
            </a:br>
            <a:r>
              <a:rPr lang="en-US" sz="1700" b="0" u="none" strike="noStrike">
                <a:solidFill>
                  <a:srgbClr val="4a4540"/>
                </a:solidFill>
                <a:effectLst/>
                <a:uFillTx/>
                <a:latin typeface="Calibri"/>
              </a:rPr>
              <a:t>fases en voortgang</a:t>
            </a:r>
            <a:endParaRPr lang="en-US" sz="1700" b="0" u="none" strike="noStrike">
              <a:solidFill>
                <a:srgbClr val="000000"/>
              </a:solidFill>
              <a:effectLst/>
              <a:uFillTx/>
              <a:latin typeface="Arial"/>
            </a:endParaRPr>
          </a:p>
        </p:txBody>
      </p:sp>
      <p:sp>
        <p:nvSpPr>
          <p:cNvPr id="115" name="Rounded Rectangle 12"/>
          <p:cNvSpPr/>
          <p:nvPr/>
        </p:nvSpPr>
        <p:spPr>
          <a:xfrm>
            <a:off x="6583680" y="2286000"/>
            <a:ext cx="2559240" cy="347364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6" name="Rounded Rectangle 13"/>
          <p:cNvSpPr/>
          <p:nvPr/>
        </p:nvSpPr>
        <p:spPr>
          <a:xfrm>
            <a:off x="6858000" y="2468880"/>
            <a:ext cx="2010600" cy="501840"/>
          </a:xfrm>
          <a:prstGeom prst="roundRect">
            <a:avLst>
              <a:gd name="adj" fmla="val 16667"/>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200" b="1" u="none" strike="noStrike">
                <a:solidFill>
                  <a:srgbClr val="ffffff"/>
                </a:solidFill>
                <a:effectLst/>
                <a:uFillTx/>
                <a:latin typeface="Calibri"/>
              </a:rPr>
              <a:t>TDD</a:t>
            </a:r>
            <a:endParaRPr lang="en-US" sz="2200" b="0" u="none" strike="noStrike">
              <a:solidFill>
                <a:srgbClr val="ffffff"/>
              </a:solidFill>
              <a:effectLst/>
              <a:uFillTx/>
              <a:latin typeface="Arial"/>
            </a:endParaRPr>
          </a:p>
        </p:txBody>
      </p:sp>
      <p:sp>
        <p:nvSpPr>
          <p:cNvPr id="117" name="TextBox 14"/>
          <p:cNvSpPr/>
          <p:nvPr/>
        </p:nvSpPr>
        <p:spPr>
          <a:xfrm>
            <a:off x="6858000" y="3200400"/>
            <a:ext cx="201060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c49a3c"/>
                </a:solidFill>
                <a:effectLst/>
                <a:uFillTx/>
                <a:latin typeface="Calibri"/>
              </a:rPr>
              <a:t>Beantwoordt: Werkt het</a:t>
            </a:r>
            <a:endParaRPr lang="en-US" sz="1600" b="0" u="none" strike="noStrike">
              <a:solidFill>
                <a:srgbClr val="000000"/>
              </a:solidFill>
              <a:effectLst/>
              <a:uFillTx/>
              <a:latin typeface="Arial"/>
            </a:endParaRPr>
          </a:p>
        </p:txBody>
      </p:sp>
      <p:sp>
        <p:nvSpPr>
          <p:cNvPr id="118" name="TextBox 15"/>
          <p:cNvSpPr/>
          <p:nvPr/>
        </p:nvSpPr>
        <p:spPr>
          <a:xfrm>
            <a:off x="6858000" y="3840480"/>
            <a:ext cx="201060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4a4540"/>
                </a:solidFill>
                <a:effectLst/>
                <a:uFillTx/>
                <a:latin typeface="Calibri"/>
              </a:rPr>
              <a:t>Gedrag, contracten,</a:t>
            </a:r>
            <a:br>
              <a:rPr sz="1700"/>
            </a:br>
            <a:r>
              <a:rPr lang="en-US" sz="1700" b="0" u="none" strike="noStrike">
                <a:solidFill>
                  <a:srgbClr val="4a4540"/>
                </a:solidFill>
                <a:effectLst/>
                <a:uFillTx/>
                <a:latin typeface="Calibri"/>
              </a:rPr>
              <a:t>regressiebeveiliging</a:t>
            </a:r>
            <a:endParaRPr lang="en-US" sz="1700" b="0" u="none" strike="noStrike">
              <a:solidFill>
                <a:srgbClr val="000000"/>
              </a:solidFill>
              <a:effectLst/>
              <a:uFillTx/>
              <a:latin typeface="Arial"/>
            </a:endParaRPr>
          </a:p>
        </p:txBody>
      </p:sp>
      <p:sp>
        <p:nvSpPr>
          <p:cNvPr id="119" name="Rounded Rectangle 16"/>
          <p:cNvSpPr/>
          <p:nvPr/>
        </p:nvSpPr>
        <p:spPr>
          <a:xfrm>
            <a:off x="9418320" y="2286000"/>
            <a:ext cx="2559240" cy="347364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20" name="Rounded Rectangle 17"/>
          <p:cNvSpPr/>
          <p:nvPr/>
        </p:nvSpPr>
        <p:spPr>
          <a:xfrm>
            <a:off x="9692640" y="2468880"/>
            <a:ext cx="2010600" cy="501840"/>
          </a:xfrm>
          <a:prstGeom prst="roundRect">
            <a:avLst>
              <a:gd name="adj" fmla="val 16667"/>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200" b="1" u="none" strike="noStrike">
                <a:solidFill>
                  <a:srgbClr val="ffffff"/>
                </a:solidFill>
                <a:effectLst/>
                <a:uFillTx/>
                <a:latin typeface="Calibri"/>
              </a:rPr>
              <a:t>ADR</a:t>
            </a:r>
            <a:endParaRPr lang="en-US" sz="2200" b="0" u="none" strike="noStrike">
              <a:solidFill>
                <a:srgbClr val="ffffff"/>
              </a:solidFill>
              <a:effectLst/>
              <a:uFillTx/>
              <a:latin typeface="Arial"/>
            </a:endParaRPr>
          </a:p>
        </p:txBody>
      </p:sp>
      <p:sp>
        <p:nvSpPr>
          <p:cNvPr id="121" name="TextBox 18"/>
          <p:cNvSpPr/>
          <p:nvPr/>
        </p:nvSpPr>
        <p:spPr>
          <a:xfrm>
            <a:off x="9692640" y="3200400"/>
            <a:ext cx="201060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c49a3c"/>
                </a:solidFill>
                <a:effectLst/>
                <a:uFillTx/>
                <a:latin typeface="Calibri"/>
              </a:rPr>
              <a:t>Beantwoordt: Waarom zo</a:t>
            </a:r>
            <a:endParaRPr lang="en-US" sz="1600" b="0" u="none" strike="noStrike">
              <a:solidFill>
                <a:srgbClr val="000000"/>
              </a:solidFill>
              <a:effectLst/>
              <a:uFillTx/>
              <a:latin typeface="Arial"/>
            </a:endParaRPr>
          </a:p>
        </p:txBody>
      </p:sp>
      <p:sp>
        <p:nvSpPr>
          <p:cNvPr id="122" name="TextBox 19"/>
          <p:cNvSpPr/>
          <p:nvPr/>
        </p:nvSpPr>
        <p:spPr>
          <a:xfrm>
            <a:off x="9692640" y="3840480"/>
            <a:ext cx="201060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4a4540"/>
                </a:solidFill>
                <a:effectLst/>
                <a:uFillTx/>
                <a:latin typeface="Calibri"/>
              </a:rPr>
              <a:t>Architectuurbeslissingen</a:t>
            </a:r>
            <a:br>
              <a:rPr sz="1700"/>
            </a:br>
            <a:r>
              <a:rPr lang="en-US" sz="1700" b="0" u="none" strike="noStrike">
                <a:solidFill>
                  <a:srgbClr val="4a4540"/>
                </a:solidFill>
                <a:effectLst/>
                <a:uFillTx/>
                <a:latin typeface="Calibri"/>
              </a:rPr>
              <a:t>en onderbouwing</a:t>
            </a:r>
            <a:endParaRPr lang="en-US" sz="17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d8b6b"/>
        </a:solidFill>
      </p:bgPr>
    </p:bg>
    <p:spTree>
      <p:nvGrpSpPr>
        <p:cNvPr id="1" name=""/>
        <p:cNvGrpSpPr/>
        <p:nvPr/>
      </p:nvGrpSpPr>
      <p:grpSpPr>
        <a:xfrm>
          <a:off x="0" y="0"/>
          <a:ext cx="0" cy="0"/>
          <a:chOff x="0" y="0"/>
          <a:chExt cx="0" cy="0"/>
        </a:xfrm>
      </p:grpSpPr>
      <p:sp>
        <p:nvSpPr>
          <p:cNvPr id="123" name="TextBox 1"/>
          <p:cNvSpPr/>
          <p:nvPr/>
        </p:nvSpPr>
        <p:spPr>
          <a:xfrm>
            <a:off x="1371600" y="1828800"/>
            <a:ext cx="914292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c8ded2"/>
                </a:solidFill>
                <a:effectLst/>
                <a:uFillTx/>
                <a:latin typeface="Calibri"/>
              </a:rPr>
              <a:t>DEEL 2</a:t>
            </a:r>
            <a:endParaRPr lang="en-US" sz="2400" b="0" u="none" strike="noStrike">
              <a:solidFill>
                <a:srgbClr val="ffffff"/>
              </a:solidFill>
              <a:effectLst/>
              <a:uFillTx/>
              <a:latin typeface="Arial"/>
            </a:endParaRPr>
          </a:p>
        </p:txBody>
      </p:sp>
      <p:sp>
        <p:nvSpPr>
          <p:cNvPr id="124" name="TextBox 2"/>
          <p:cNvSpPr/>
          <p:nvPr/>
        </p:nvSpPr>
        <p:spPr>
          <a:xfrm>
            <a:off x="1371600" y="2468880"/>
            <a:ext cx="914292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800" b="1" u="none" strike="noStrike">
                <a:solidFill>
                  <a:srgbClr val="ffffff"/>
                </a:solidFill>
                <a:effectLst/>
                <a:uFillTx/>
                <a:latin typeface="Calibri"/>
              </a:rPr>
              <a:t>De Vier Lagen in de Praktijk</a:t>
            </a:r>
            <a:endParaRPr lang="en-US" sz="4800" b="0" u="none" strike="noStrike">
              <a:solidFill>
                <a:srgbClr val="ffffff"/>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125"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26"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Laag 1: PRDs; de opdracht</a:t>
            </a:r>
            <a:endParaRPr lang="en-US" sz="3800" b="0" u="none" strike="noStrike">
              <a:solidFill>
                <a:srgbClr val="000000"/>
              </a:solidFill>
              <a:effectLst/>
              <a:uFillTx/>
              <a:latin typeface="Arial"/>
            </a:endParaRPr>
          </a:p>
        </p:txBody>
      </p:sp>
      <p:sp>
        <p:nvSpPr>
          <p:cNvPr id="127" name="TextBox 3"/>
          <p:cNvSpPr/>
          <p:nvPr/>
        </p:nvSpPr>
        <p:spPr>
          <a:xfrm>
            <a:off x="914400" y="1280160"/>
            <a:ext cx="1005732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0" u="none" strike="noStrike">
                <a:solidFill>
                  <a:srgbClr val="6b655e"/>
                </a:solidFill>
                <a:effectLst/>
                <a:uFillTx/>
                <a:latin typeface="Calibri"/>
              </a:rPr>
              <a:t>Wat gaan we bouwen en waarom?</a:t>
            </a:r>
            <a:endParaRPr lang="en-US" sz="2200" b="0" u="none" strike="noStrike">
              <a:solidFill>
                <a:srgbClr val="000000"/>
              </a:solidFill>
              <a:effectLst/>
              <a:uFillTx/>
              <a:latin typeface="Arial"/>
            </a:endParaRPr>
          </a:p>
        </p:txBody>
      </p:sp>
      <p:sp>
        <p:nvSpPr>
          <p:cNvPr id="128" name="TextBox 4"/>
          <p:cNvSpPr/>
          <p:nvPr/>
        </p:nvSpPr>
        <p:spPr>
          <a:xfrm>
            <a:off x="914400" y="2286000"/>
            <a:ext cx="5028120" cy="2284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599"/>
              </a:spcAft>
            </a:pPr>
            <a:r>
              <a:rPr lang="en-US" sz="2200" b="0" u="none" strike="noStrike">
                <a:solidFill>
                  <a:srgbClr val="4a4540"/>
                </a:solidFill>
                <a:effectLst/>
                <a:uFillTx/>
                <a:latin typeface="Calibri"/>
              </a:rPr>
              <a:t>Doel; welk probleem lost dit op?</a:t>
            </a:r>
            <a:endParaRPr lang="en-US" sz="2200" b="0" u="none" strike="noStrike">
              <a:solidFill>
                <a:srgbClr val="000000"/>
              </a:solidFill>
              <a:effectLst/>
              <a:uFillTx/>
              <a:latin typeface="Arial"/>
            </a:endParaRPr>
          </a:p>
          <a:p>
            <a:pPr defTabSz="457200">
              <a:lnSpc>
                <a:spcPct val="100000"/>
              </a:lnSpc>
              <a:spcAft>
                <a:spcPts val="1599"/>
              </a:spcAft>
            </a:pPr>
            <a:r>
              <a:rPr lang="en-US" sz="2200" b="0" u="none" strike="noStrike">
                <a:solidFill>
                  <a:srgbClr val="4a4540"/>
                </a:solidFill>
                <a:effectLst/>
                <a:uFillTx/>
                <a:latin typeface="Calibri"/>
              </a:rPr>
              <a:t>Scope; wat is in en out of scope?</a:t>
            </a:r>
            <a:endParaRPr lang="en-US" sz="2200" b="0" u="none" strike="noStrike">
              <a:solidFill>
                <a:srgbClr val="000000"/>
              </a:solidFill>
              <a:effectLst/>
              <a:uFillTx/>
              <a:latin typeface="Arial"/>
            </a:endParaRPr>
          </a:p>
          <a:p>
            <a:pPr defTabSz="457200">
              <a:lnSpc>
                <a:spcPct val="100000"/>
              </a:lnSpc>
              <a:spcAft>
                <a:spcPts val="1599"/>
              </a:spcAft>
            </a:pPr>
            <a:r>
              <a:rPr lang="en-US" sz="2200" b="0" u="none" strike="noStrike">
                <a:solidFill>
                  <a:srgbClr val="4a4540"/>
                </a:solidFill>
                <a:effectLst/>
                <a:uFillTx/>
                <a:latin typeface="Calibri"/>
              </a:rPr>
              <a:t>Acceptatiecriteria; wanneer is het klaar?</a:t>
            </a:r>
            <a:endParaRPr lang="en-US" sz="2200" b="0" u="none" strike="noStrike">
              <a:solidFill>
                <a:srgbClr val="000000"/>
              </a:solidFill>
              <a:effectLst/>
              <a:uFillTx/>
              <a:latin typeface="Arial"/>
            </a:endParaRPr>
          </a:p>
        </p:txBody>
      </p:sp>
      <p:sp>
        <p:nvSpPr>
          <p:cNvPr id="129" name="Rounded Rectangle 5"/>
          <p:cNvSpPr/>
          <p:nvPr/>
        </p:nvSpPr>
        <p:spPr>
          <a:xfrm>
            <a:off x="914400" y="4572000"/>
            <a:ext cx="10057320" cy="1370520"/>
          </a:xfrm>
          <a:prstGeom prst="roundRect">
            <a:avLst>
              <a:gd name="adj" fmla="val 16667"/>
            </a:avLst>
          </a:prstGeom>
          <a:solidFill>
            <a:srgbClr val="e8f0e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0" name="TextBox 6"/>
          <p:cNvSpPr/>
          <p:nvPr/>
        </p:nvSpPr>
        <p:spPr>
          <a:xfrm>
            <a:off x="1188720" y="4754880"/>
            <a:ext cx="9508680" cy="100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0" i="1" u="none" strike="noStrike">
                <a:solidFill>
                  <a:srgbClr val="2a5f4a"/>
                </a:solidFill>
                <a:effectLst/>
                <a:uFillTx/>
                <a:latin typeface="Calibri"/>
              </a:rPr>
              <a:t>Een PRD hoeft niet zwaar te zijn. Zelfs een half A4 met doel, scope en</a:t>
            </a:r>
            <a:br>
              <a:rPr sz="2000"/>
            </a:br>
            <a:r>
              <a:rPr lang="en-US" sz="2000" b="0" i="1" u="none" strike="noStrike">
                <a:solidFill>
                  <a:srgbClr val="2a5f4a"/>
                </a:solidFill>
                <a:effectLst/>
                <a:uFillTx/>
                <a:latin typeface="Calibri"/>
              </a:rPr>
              <a:t>5 acceptatiecriteria bespaart uren aan verkeerde implementatie.</a:t>
            </a:r>
            <a:endParaRPr lang="en-US" sz="20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131"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2"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Laag 2: Het Plan; de vertaling</a:t>
            </a:r>
            <a:endParaRPr lang="en-US" sz="3800" b="0" u="none" strike="noStrike">
              <a:solidFill>
                <a:srgbClr val="000000"/>
              </a:solidFill>
              <a:effectLst/>
              <a:uFillTx/>
              <a:latin typeface="Arial"/>
            </a:endParaRPr>
          </a:p>
        </p:txBody>
      </p:sp>
      <p:sp>
        <p:nvSpPr>
          <p:cNvPr id="133" name="TextBox 3"/>
          <p:cNvSpPr/>
          <p:nvPr/>
        </p:nvSpPr>
        <p:spPr>
          <a:xfrm>
            <a:off x="914400" y="1280160"/>
            <a:ext cx="1005732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0" u="none" strike="noStrike">
                <a:solidFill>
                  <a:srgbClr val="6b655e"/>
                </a:solidFill>
                <a:effectLst/>
                <a:uFillTx/>
                <a:latin typeface="Calibri"/>
              </a:rPr>
              <a:t>Vertaalt PRD-criteria naar technische specs</a:t>
            </a:r>
            <a:endParaRPr lang="en-US" sz="2200" b="0" u="none" strike="noStrike">
              <a:solidFill>
                <a:srgbClr val="000000"/>
              </a:solidFill>
              <a:effectLst/>
              <a:uFillTx/>
              <a:latin typeface="Arial"/>
            </a:endParaRPr>
          </a:p>
        </p:txBody>
      </p:sp>
      <p:sp>
        <p:nvSpPr>
          <p:cNvPr id="134" name="TextBox 4"/>
          <p:cNvSpPr/>
          <p:nvPr/>
        </p:nvSpPr>
        <p:spPr>
          <a:xfrm>
            <a:off x="914400" y="2286000"/>
            <a:ext cx="9142920" cy="2742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599"/>
              </a:spcAft>
            </a:pPr>
            <a:r>
              <a:rPr lang="en-US" sz="2200" b="0" u="none" strike="noStrike">
                <a:solidFill>
                  <a:srgbClr val="4a4540"/>
                </a:solidFill>
                <a:effectLst/>
                <a:uFillTx/>
                <a:latin typeface="Calibri"/>
              </a:rPr>
              <a:t>Deelt werk op in fases die in een sessie passen</a:t>
            </a:r>
            <a:endParaRPr lang="en-US" sz="2200" b="0" u="none" strike="noStrike">
              <a:solidFill>
                <a:srgbClr val="000000"/>
              </a:solidFill>
              <a:effectLst/>
              <a:uFillTx/>
              <a:latin typeface="Arial"/>
            </a:endParaRPr>
          </a:p>
          <a:p>
            <a:pPr defTabSz="457200">
              <a:lnSpc>
                <a:spcPct val="100000"/>
              </a:lnSpc>
              <a:spcAft>
                <a:spcPts val="1599"/>
              </a:spcAft>
            </a:pPr>
            <a:r>
              <a:rPr lang="en-US" sz="2200" b="0" u="none" strike="noStrike">
                <a:solidFill>
                  <a:srgbClr val="4a4540"/>
                </a:solidFill>
                <a:effectLst/>
                <a:uFillTx/>
                <a:latin typeface="Calibri"/>
              </a:rPr>
              <a:t>Maakt elke spec testbaar (directe input voor TDD)</a:t>
            </a:r>
            <a:endParaRPr lang="en-US" sz="2200" b="0" u="none" strike="noStrike">
              <a:solidFill>
                <a:srgbClr val="000000"/>
              </a:solidFill>
              <a:effectLst/>
              <a:uFillTx/>
              <a:latin typeface="Arial"/>
            </a:endParaRPr>
          </a:p>
          <a:p>
            <a:pPr defTabSz="457200">
              <a:lnSpc>
                <a:spcPct val="100000"/>
              </a:lnSpc>
              <a:spcAft>
                <a:spcPts val="1599"/>
              </a:spcAft>
            </a:pPr>
            <a:r>
              <a:rPr lang="en-US" sz="2200" b="0" u="none" strike="noStrike">
                <a:solidFill>
                  <a:srgbClr val="4a4540"/>
                </a:solidFill>
                <a:effectLst/>
                <a:uFillTx/>
                <a:latin typeface="Calibri"/>
              </a:rPr>
              <a:t>Houdt voortgang bij; legt vast wat out of scope is</a:t>
            </a:r>
            <a:endParaRPr lang="en-US" sz="2200" b="0" u="none" strike="noStrike">
              <a:solidFill>
                <a:srgbClr val="000000"/>
              </a:solidFill>
              <a:effectLst/>
              <a:uFillTx/>
              <a:latin typeface="Arial"/>
            </a:endParaRPr>
          </a:p>
          <a:p>
            <a:pPr defTabSz="457200">
              <a:lnSpc>
                <a:spcPct val="100000"/>
              </a:lnSpc>
              <a:spcAft>
                <a:spcPts val="1599"/>
              </a:spcAft>
            </a:pPr>
            <a:r>
              <a:rPr lang="en-US" sz="2200" b="0" u="none" strike="noStrike">
                <a:solidFill>
                  <a:srgbClr val="4a4540"/>
                </a:solidFill>
                <a:effectLst/>
                <a:uFillTx/>
                <a:latin typeface="Calibri"/>
              </a:rPr>
              <a:t>Levend document; wordt bijgewerkt tijdens implementatie</a:t>
            </a:r>
            <a:endParaRPr lang="en-US" sz="2200" b="0" u="none" strike="noStrike">
              <a:solidFill>
                <a:srgbClr val="000000"/>
              </a:solidFill>
              <a:effectLst/>
              <a:uFillTx/>
              <a:latin typeface="Arial"/>
            </a:endParaRPr>
          </a:p>
        </p:txBody>
      </p:sp>
      <p:sp>
        <p:nvSpPr>
          <p:cNvPr id="135" name="Rounded Rectangle 5"/>
          <p:cNvSpPr/>
          <p:nvPr/>
        </p:nvSpPr>
        <p:spPr>
          <a:xfrm>
            <a:off x="914400" y="4572000"/>
            <a:ext cx="10057320" cy="1370520"/>
          </a:xfrm>
          <a:prstGeom prst="roundRect">
            <a:avLst>
              <a:gd name="adj" fmla="val 16667"/>
            </a:avLst>
          </a:prstGeom>
          <a:solidFill>
            <a:srgbClr val="e8f0e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6" name="TextBox 6"/>
          <p:cNvSpPr/>
          <p:nvPr/>
        </p:nvSpPr>
        <p:spPr>
          <a:xfrm>
            <a:off x="1188720" y="4754880"/>
            <a:ext cx="9508680" cy="100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0" i="1" u="none" strike="noStrike">
                <a:solidFill>
                  <a:srgbClr val="2a5f4a"/>
                </a:solidFill>
                <a:effectLst/>
                <a:uFillTx/>
                <a:latin typeface="Calibri"/>
              </a:rPr>
              <a:t>Voorbeeld: TDD ontdekte een event dispatch gap; plan werd bijgewerkt</a:t>
            </a:r>
            <a:br>
              <a:rPr sz="2000"/>
            </a:br>
            <a:r>
              <a:rPr lang="en-US" sz="2000" b="0" i="1" u="none" strike="noStrike">
                <a:solidFill>
                  <a:srgbClr val="2a5f4a"/>
                </a:solidFill>
                <a:effectLst/>
                <a:uFillTx/>
                <a:latin typeface="Calibri"/>
              </a:rPr>
              <a:t>met een nieuwe Phase 0, en ADR-013 geschreven.</a:t>
            </a:r>
            <a:endParaRPr lang="en-US" sz="20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137"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8"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Laag 3: TDD; het veiligheidsnet</a:t>
            </a:r>
            <a:endParaRPr lang="en-US" sz="3800" b="0" u="none" strike="noStrike">
              <a:solidFill>
                <a:srgbClr val="000000"/>
              </a:solidFill>
              <a:effectLst/>
              <a:uFillTx/>
              <a:latin typeface="Arial"/>
            </a:endParaRPr>
          </a:p>
        </p:txBody>
      </p:sp>
      <p:sp>
        <p:nvSpPr>
          <p:cNvPr id="139" name="TextBox 3"/>
          <p:cNvSpPr/>
          <p:nvPr/>
        </p:nvSpPr>
        <p:spPr>
          <a:xfrm>
            <a:off x="914400" y="1280160"/>
            <a:ext cx="1005732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0" u="none" strike="noStrike">
                <a:solidFill>
                  <a:srgbClr val="6b655e"/>
                </a:solidFill>
                <a:effectLst/>
                <a:uFillTx/>
                <a:latin typeface="Calibri"/>
              </a:rPr>
              <a:t>Geen "nice to have"; het veiligheidsnet dat voorkomt dat de AI je codebase sloopt.</a:t>
            </a:r>
            <a:endParaRPr lang="en-US" sz="2200" b="0" u="none" strike="noStrike">
              <a:solidFill>
                <a:srgbClr val="000000"/>
              </a:solidFill>
              <a:effectLst/>
              <a:uFillTx/>
              <a:latin typeface="Arial"/>
            </a:endParaRPr>
          </a:p>
        </p:txBody>
      </p:sp>
      <p:sp>
        <p:nvSpPr>
          <p:cNvPr id="140" name="Rounded Rectangle 4"/>
          <p:cNvSpPr/>
          <p:nvPr/>
        </p:nvSpPr>
        <p:spPr>
          <a:xfrm>
            <a:off x="914400" y="2286000"/>
            <a:ext cx="3290760" cy="2742120"/>
          </a:xfrm>
          <a:prstGeom prst="roundRect">
            <a:avLst>
              <a:gd name="adj" fmla="val 16667"/>
            </a:avLst>
          </a:prstGeom>
          <a:solidFill>
            <a:srgbClr val="ffffff"/>
          </a:solidFill>
          <a:ln w="25400">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41" name="Rectangle 5"/>
          <p:cNvSpPr/>
          <p:nvPr/>
        </p:nvSpPr>
        <p:spPr>
          <a:xfrm>
            <a:off x="914400" y="2286000"/>
            <a:ext cx="3290760" cy="63900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400" b="1" u="none" strike="noStrike">
                <a:solidFill>
                  <a:srgbClr val="ffffff"/>
                </a:solidFill>
                <a:effectLst/>
                <a:uFillTx/>
                <a:latin typeface="Calibri"/>
              </a:rPr>
              <a:t>RED</a:t>
            </a:r>
            <a:endParaRPr lang="en-US" sz="2400" b="0" u="none" strike="noStrike">
              <a:solidFill>
                <a:srgbClr val="ffffff"/>
              </a:solidFill>
              <a:effectLst/>
              <a:uFillTx/>
              <a:latin typeface="Arial"/>
            </a:endParaRPr>
          </a:p>
        </p:txBody>
      </p:sp>
      <p:sp>
        <p:nvSpPr>
          <p:cNvPr id="142" name="TextBox 6"/>
          <p:cNvSpPr/>
          <p:nvPr/>
        </p:nvSpPr>
        <p:spPr>
          <a:xfrm>
            <a:off x="1188720" y="3200400"/>
            <a:ext cx="2742120" cy="1644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u="none" strike="noStrike">
                <a:solidFill>
                  <a:srgbClr val="4a4540"/>
                </a:solidFill>
                <a:effectLst/>
                <a:uFillTx/>
                <a:latin typeface="Calibri"/>
              </a:rPr>
              <a:t>Schrijf een falende test</a:t>
            </a:r>
            <a:br>
              <a:rPr sz="1800"/>
            </a:br>
            <a:r>
              <a:rPr lang="en-US" sz="1800" b="0" u="none" strike="noStrike">
                <a:solidFill>
                  <a:srgbClr val="4a4540"/>
                </a:solidFill>
                <a:effectLst/>
                <a:uFillTx/>
                <a:latin typeface="Calibri"/>
              </a:rPr>
              <a:t>die het gewenste gedrag</a:t>
            </a:r>
            <a:br>
              <a:rPr sz="1800"/>
            </a:br>
            <a:r>
              <a:rPr lang="en-US" sz="1800" b="0" u="none" strike="noStrike">
                <a:solidFill>
                  <a:srgbClr val="4a4540"/>
                </a:solidFill>
                <a:effectLst/>
                <a:uFillTx/>
                <a:latin typeface="Calibri"/>
              </a:rPr>
              <a:t>beschrijft</a:t>
            </a:r>
            <a:endParaRPr lang="en-US" sz="1800" b="0" u="none" strike="noStrike">
              <a:solidFill>
                <a:srgbClr val="000000"/>
              </a:solidFill>
              <a:effectLst/>
              <a:uFillTx/>
              <a:latin typeface="Arial"/>
            </a:endParaRPr>
          </a:p>
        </p:txBody>
      </p:sp>
      <p:sp>
        <p:nvSpPr>
          <p:cNvPr id="143" name="Rounded Rectangle 7"/>
          <p:cNvSpPr/>
          <p:nvPr/>
        </p:nvSpPr>
        <p:spPr>
          <a:xfrm>
            <a:off x="4663440" y="2286000"/>
            <a:ext cx="3290760" cy="2742120"/>
          </a:xfrm>
          <a:prstGeom prst="roundRect">
            <a:avLst>
              <a:gd name="adj" fmla="val 16667"/>
            </a:avLst>
          </a:prstGeom>
          <a:solidFill>
            <a:srgbClr val="ffffff"/>
          </a:solidFill>
          <a:ln w="2540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44" name="Rectangle 8"/>
          <p:cNvSpPr/>
          <p:nvPr/>
        </p:nvSpPr>
        <p:spPr>
          <a:xfrm>
            <a:off x="4663440" y="2286000"/>
            <a:ext cx="3290760" cy="639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400" b="1" u="none" strike="noStrike">
                <a:solidFill>
                  <a:srgbClr val="ffffff"/>
                </a:solidFill>
                <a:effectLst/>
                <a:uFillTx/>
                <a:latin typeface="Calibri"/>
              </a:rPr>
              <a:t>GREEN</a:t>
            </a:r>
            <a:endParaRPr lang="en-US" sz="2400" b="0" u="none" strike="noStrike">
              <a:solidFill>
                <a:srgbClr val="ffffff"/>
              </a:solidFill>
              <a:effectLst/>
              <a:uFillTx/>
              <a:latin typeface="Arial"/>
            </a:endParaRPr>
          </a:p>
        </p:txBody>
      </p:sp>
      <p:sp>
        <p:nvSpPr>
          <p:cNvPr id="145" name="TextBox 9"/>
          <p:cNvSpPr/>
          <p:nvPr/>
        </p:nvSpPr>
        <p:spPr>
          <a:xfrm>
            <a:off x="4937760" y="3200400"/>
            <a:ext cx="2742120" cy="1644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u="none" strike="noStrike">
                <a:solidFill>
                  <a:srgbClr val="4a4540"/>
                </a:solidFill>
                <a:effectLst/>
                <a:uFillTx/>
                <a:latin typeface="Calibri"/>
              </a:rPr>
              <a:t>Schrijf de minimale code</a:t>
            </a:r>
            <a:br>
              <a:rPr sz="1800"/>
            </a:br>
            <a:r>
              <a:rPr lang="en-US" sz="1800" b="0" u="none" strike="noStrike">
                <a:solidFill>
                  <a:srgbClr val="4a4540"/>
                </a:solidFill>
                <a:effectLst/>
                <a:uFillTx/>
                <a:latin typeface="Calibri"/>
              </a:rPr>
              <a:t>om de test te laten</a:t>
            </a:r>
            <a:br>
              <a:rPr sz="1800"/>
            </a:br>
            <a:r>
              <a:rPr lang="en-US" sz="1800" b="0" u="none" strike="noStrike">
                <a:solidFill>
                  <a:srgbClr val="4a4540"/>
                </a:solidFill>
                <a:effectLst/>
                <a:uFillTx/>
                <a:latin typeface="Calibri"/>
              </a:rPr>
              <a:t>slagen</a:t>
            </a:r>
            <a:endParaRPr lang="en-US" sz="1800" b="0" u="none" strike="noStrike">
              <a:solidFill>
                <a:srgbClr val="000000"/>
              </a:solidFill>
              <a:effectLst/>
              <a:uFillTx/>
              <a:latin typeface="Arial"/>
            </a:endParaRPr>
          </a:p>
        </p:txBody>
      </p:sp>
      <p:sp>
        <p:nvSpPr>
          <p:cNvPr id="146" name="Rounded Rectangle 10"/>
          <p:cNvSpPr/>
          <p:nvPr/>
        </p:nvSpPr>
        <p:spPr>
          <a:xfrm>
            <a:off x="8412480" y="2286000"/>
            <a:ext cx="3290760" cy="2742120"/>
          </a:xfrm>
          <a:prstGeom prst="roundRect">
            <a:avLst>
              <a:gd name="adj" fmla="val 16667"/>
            </a:avLst>
          </a:prstGeom>
          <a:solidFill>
            <a:srgbClr val="ffffff"/>
          </a:solidFill>
          <a:ln w="25400">
            <a:solidFill>
              <a:srgbClr val="2980b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47" name="Rectangle 11"/>
          <p:cNvSpPr/>
          <p:nvPr/>
        </p:nvSpPr>
        <p:spPr>
          <a:xfrm>
            <a:off x="8412480" y="2286000"/>
            <a:ext cx="3290760" cy="639000"/>
          </a:xfrm>
          <a:prstGeom prst="rect">
            <a:avLst/>
          </a:prstGeom>
          <a:solidFill>
            <a:srgbClr val="2980b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400" b="1" u="none" strike="noStrike">
                <a:solidFill>
                  <a:srgbClr val="ffffff"/>
                </a:solidFill>
                <a:effectLst/>
                <a:uFillTx/>
                <a:latin typeface="Calibri"/>
              </a:rPr>
              <a:t>REFACTOR</a:t>
            </a:r>
            <a:endParaRPr lang="en-US" sz="2400" b="0" u="none" strike="noStrike">
              <a:solidFill>
                <a:srgbClr val="ffffff"/>
              </a:solidFill>
              <a:effectLst/>
              <a:uFillTx/>
              <a:latin typeface="Arial"/>
            </a:endParaRPr>
          </a:p>
        </p:txBody>
      </p:sp>
      <p:sp>
        <p:nvSpPr>
          <p:cNvPr id="148" name="TextBox 12"/>
          <p:cNvSpPr/>
          <p:nvPr/>
        </p:nvSpPr>
        <p:spPr>
          <a:xfrm>
            <a:off x="8686800" y="3200400"/>
            <a:ext cx="2742120" cy="1644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u="none" strike="noStrike">
                <a:solidFill>
                  <a:srgbClr val="4a4540"/>
                </a:solidFill>
                <a:effectLst/>
                <a:uFillTx/>
                <a:latin typeface="Calibri"/>
              </a:rPr>
              <a:t>Verbeter de code met</a:t>
            </a:r>
            <a:br>
              <a:rPr sz="1800"/>
            </a:br>
            <a:r>
              <a:rPr lang="en-US" sz="1800" b="0" u="none" strike="noStrike">
                <a:solidFill>
                  <a:srgbClr val="4a4540"/>
                </a:solidFill>
                <a:effectLst/>
                <a:uFillTx/>
                <a:latin typeface="Calibri"/>
              </a:rPr>
              <a:t>het vangnet van</a:t>
            </a:r>
            <a:br>
              <a:rPr sz="1800"/>
            </a:br>
            <a:r>
              <a:rPr lang="en-US" sz="1800" b="0" u="none" strike="noStrike">
                <a:solidFill>
                  <a:srgbClr val="4a4540"/>
                </a:solidFill>
                <a:effectLst/>
                <a:uFillTx/>
                <a:latin typeface="Calibri"/>
              </a:rPr>
              <a:t>groene tests</a:t>
            </a:r>
            <a:endParaRPr lang="en-US" sz="1800" b="0" u="none" strike="noStrike">
              <a:solidFill>
                <a:srgbClr val="000000"/>
              </a:solidFill>
              <a:effectLst/>
              <a:uFillTx/>
              <a:latin typeface="Arial"/>
            </a:endParaRPr>
          </a:p>
        </p:txBody>
      </p:sp>
      <p:sp>
        <p:nvSpPr>
          <p:cNvPr id="149" name="TextBox 13"/>
          <p:cNvSpPr/>
          <p:nvPr/>
        </p:nvSpPr>
        <p:spPr>
          <a:xfrm>
            <a:off x="4023360" y="3017520"/>
            <a:ext cx="456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rgbClr val="6b655e"/>
                </a:solidFill>
                <a:effectLst/>
                <a:uFillTx/>
                <a:latin typeface="Calibri"/>
              </a:rPr>
              <a:t>&gt;</a:t>
            </a:r>
            <a:endParaRPr lang="en-US" sz="3600" b="0" u="none" strike="noStrike">
              <a:solidFill>
                <a:srgbClr val="000000"/>
              </a:solidFill>
              <a:effectLst/>
              <a:uFillTx/>
              <a:latin typeface="Arial"/>
            </a:endParaRPr>
          </a:p>
        </p:txBody>
      </p:sp>
      <p:sp>
        <p:nvSpPr>
          <p:cNvPr id="150" name="TextBox 14"/>
          <p:cNvSpPr/>
          <p:nvPr/>
        </p:nvSpPr>
        <p:spPr>
          <a:xfrm>
            <a:off x="7772400" y="3017520"/>
            <a:ext cx="456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rgbClr val="6b655e"/>
                </a:solidFill>
                <a:effectLst/>
                <a:uFillTx/>
                <a:latin typeface="Calibri"/>
              </a:rPr>
              <a:t>&gt;</a:t>
            </a:r>
            <a:endParaRPr lang="en-US" sz="36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151"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2"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400" b="1" u="none" strike="noStrike">
                <a:solidFill>
                  <a:srgbClr val="4a4540"/>
                </a:solidFill>
                <a:effectLst/>
                <a:uFillTx/>
                <a:latin typeface="Calibri"/>
              </a:rPr>
              <a:t>Case Study: HasFollowUp trait (ADR-001)</a:t>
            </a:r>
            <a:endParaRPr lang="en-US" sz="3400" b="0" u="none" strike="noStrike">
              <a:solidFill>
                <a:srgbClr val="000000"/>
              </a:solidFill>
              <a:effectLst/>
              <a:uFillTx/>
              <a:latin typeface="Arial"/>
            </a:endParaRPr>
          </a:p>
        </p:txBody>
      </p:sp>
      <p:sp>
        <p:nvSpPr>
          <p:cNvPr id="153" name="Rounded Rectangle 3"/>
          <p:cNvSpPr/>
          <p:nvPr/>
        </p:nvSpPr>
        <p:spPr>
          <a:xfrm>
            <a:off x="914400" y="1463040"/>
            <a:ext cx="4845240" cy="27421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4" name="TextBox 4"/>
          <p:cNvSpPr/>
          <p:nvPr/>
        </p:nvSpPr>
        <p:spPr>
          <a:xfrm>
            <a:off x="1188720" y="1645920"/>
            <a:ext cx="42966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c0392b"/>
                </a:solidFill>
                <a:effectLst/>
                <a:uFillTx/>
                <a:latin typeface="Calibri"/>
              </a:rPr>
              <a:t>Het probleem</a:t>
            </a:r>
            <a:endParaRPr lang="en-US" sz="2000" b="0" u="none" strike="noStrike">
              <a:solidFill>
                <a:srgbClr val="000000"/>
              </a:solidFill>
              <a:effectLst/>
              <a:uFillTx/>
              <a:latin typeface="Arial"/>
            </a:endParaRPr>
          </a:p>
        </p:txBody>
      </p:sp>
      <p:sp>
        <p:nvSpPr>
          <p:cNvPr id="155" name="TextBox 5"/>
          <p:cNvSpPr/>
          <p:nvPr/>
        </p:nvSpPr>
        <p:spPr>
          <a:xfrm>
            <a:off x="1188720" y="2103120"/>
            <a:ext cx="4296600" cy="1919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4a4540"/>
                </a:solidFill>
                <a:effectLst/>
                <a:uFillTx/>
                <a:latin typeface="Calibri"/>
              </a:rPr>
              <a:t>HasFollowUp trait bevroeg kolommen</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follow_up_date en status direct</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Die kolommen bestaan alleen op de</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follow_ups tabel; niet op tasks</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Runtime SQL errors gegarandeerd</a:t>
            </a:r>
            <a:endParaRPr lang="en-US" sz="1600" b="0" u="none" strike="noStrike">
              <a:solidFill>
                <a:srgbClr val="000000"/>
              </a:solidFill>
              <a:effectLst/>
              <a:uFillTx/>
              <a:latin typeface="Arial"/>
            </a:endParaRPr>
          </a:p>
        </p:txBody>
      </p:sp>
      <p:sp>
        <p:nvSpPr>
          <p:cNvPr id="156" name="Rounded Rectangle 6"/>
          <p:cNvSpPr/>
          <p:nvPr/>
        </p:nvSpPr>
        <p:spPr>
          <a:xfrm>
            <a:off x="6400800" y="1463040"/>
            <a:ext cx="4845240" cy="27421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7" name="TextBox 7"/>
          <p:cNvSpPr/>
          <p:nvPr/>
        </p:nvSpPr>
        <p:spPr>
          <a:xfrm>
            <a:off x="6675120" y="1645920"/>
            <a:ext cx="42966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3d8b6b"/>
                </a:solidFill>
                <a:effectLst/>
                <a:uFillTx/>
                <a:latin typeface="Calibri"/>
              </a:rPr>
              <a:t>De oplossing</a:t>
            </a:r>
            <a:endParaRPr lang="en-US" sz="2000" b="0" u="none" strike="noStrike">
              <a:solidFill>
                <a:srgbClr val="000000"/>
              </a:solidFill>
              <a:effectLst/>
              <a:uFillTx/>
              <a:latin typeface="Arial"/>
            </a:endParaRPr>
          </a:p>
        </p:txBody>
      </p:sp>
      <p:sp>
        <p:nvSpPr>
          <p:cNvPr id="158" name="TextBox 8"/>
          <p:cNvSpPr/>
          <p:nvPr/>
        </p:nvSpPr>
        <p:spPr>
          <a:xfrm>
            <a:off x="6675120" y="2103120"/>
            <a:ext cx="4296600" cy="1919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4a4540"/>
                </a:solidFill>
                <a:effectLst/>
                <a:uFillTx/>
                <a:latin typeface="Calibri"/>
              </a:rPr>
              <a:t>Test faalde: niet de implementatie</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was fout, maar het hele design</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Scopes herschreven naar</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whereHas-based queries</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Bug gevonden voor productcode</a:t>
            </a:r>
            <a:endParaRPr lang="en-US" sz="1600" b="0" u="none" strike="noStrike">
              <a:solidFill>
                <a:srgbClr val="000000"/>
              </a:solidFill>
              <a:effectLst/>
              <a:uFillTx/>
              <a:latin typeface="Arial"/>
            </a:endParaRPr>
          </a:p>
        </p:txBody>
      </p:sp>
      <p:sp>
        <p:nvSpPr>
          <p:cNvPr id="159" name="Rounded Rectangle 9"/>
          <p:cNvSpPr/>
          <p:nvPr/>
        </p:nvSpPr>
        <p:spPr>
          <a:xfrm>
            <a:off x="914400" y="4754880"/>
            <a:ext cx="10057320" cy="1187640"/>
          </a:xfrm>
          <a:prstGeom prst="roundRect">
            <a:avLst>
              <a:gd name="adj" fmla="val 16667"/>
            </a:avLst>
          </a:prstGeom>
          <a:solidFill>
            <a:srgbClr val="e8f0e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0" name="TextBox 10"/>
          <p:cNvSpPr/>
          <p:nvPr/>
        </p:nvSpPr>
        <p:spPr>
          <a:xfrm>
            <a:off x="1188720" y="4937760"/>
            <a:ext cx="950868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1" u="none" strike="noStrike">
                <a:solidFill>
                  <a:srgbClr val="2a5f4a"/>
                </a:solidFill>
                <a:effectLst/>
                <a:uFillTx/>
                <a:latin typeface="Calibri"/>
              </a:rPr>
              <a:t>De tests vonden de bug. Niet de AI, niet code review, niet QA.</a:t>
            </a:r>
            <a:br>
              <a:rPr sz="2200"/>
            </a:br>
            <a:r>
              <a:rPr lang="en-US" sz="2200" b="1" u="none" strike="noStrike">
                <a:solidFill>
                  <a:srgbClr val="2a5f4a"/>
                </a:solidFill>
                <a:effectLst/>
                <a:uFillTx/>
                <a:latin typeface="Calibri"/>
              </a:rPr>
              <a:t>De falende test dwong een redesign af.</a:t>
            </a:r>
            <a:endParaRPr lang="en-US" sz="22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nSpc>
                <a:spcPct val="100000"/>
              </a:lnSpc>
              <a:buNone/>
            </a:pPr>
            <a:r>
              <a:rPr lang="en-US" sz="2800" b="1" u="none" strike="noStrike">
                <a:solidFill>
                  <a:srgbClr val="4a4540"/>
                </a:solidFill>
                <a:effectLst/>
                <a:uFillTx/>
                <a:latin typeface="Arial"/>
              </a:rPr>
              <a:t>ADR-001: HasFollowUp Trait Redesign</a:t>
            </a:r>
            <a:endParaRPr lang="en-US" sz="2800" b="0" u="none" strike="noStrike">
              <a:solidFill>
                <a:srgbClr val="000000"/>
              </a:solidFill>
              <a:effectLst/>
              <a:uFillTx/>
              <a:latin typeface="Arial"/>
            </a:endParaRPr>
          </a:p>
        </p:txBody>
      </p:sp>
      <p:sp>
        <p:nvSpPr>
          <p:cNvPr id="162" name="PlaceHolder 2"/>
          <p:cNvSpPr>
            <a:spLocks noGrp="1"/>
          </p:cNvSpPr>
          <p:nvPr>
            <p:ph/>
          </p:nvPr>
        </p:nvSpPr>
        <p:spPr>
          <a:xfrm>
            <a:off x="457200" y="1600200"/>
            <a:ext cx="8228520" cy="4524840"/>
          </a:xfrm>
          <a:prstGeom prst="rect">
            <a:avLst/>
          </a:prstGeom>
          <a:noFill/>
          <a:ln w="0">
            <a:noFill/>
          </a:ln>
        </p:spPr>
        <p:txBody>
          <a:bodyPr lIns="91440" rIns="91440" tIns="45720" bIns="45720" anchor="t">
            <a:noAutofit/>
          </a:bodyPr>
          <a:p>
            <a:pPr indent="0">
              <a:lnSpc>
                <a:spcPct val="100000"/>
              </a:lnSpc>
              <a:buNone/>
            </a:pPr>
            <a:r>
              <a:rPr lang="en-US" sz="1600" b="1" u="none" strike="noStrike">
                <a:solidFill>
                  <a:srgbClr val="3d8b6b"/>
                </a:solidFill>
                <a:effectLst/>
                <a:uFillTx/>
                <a:latin typeface="Arial"/>
              </a:rPr>
              <a:t>Context</a:t>
            </a:r>
            <a:endParaRPr lang="en-US" sz="16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HasFollowUp trait definieerde timeline scopes (scopeOverdue, scopeDueToday, etc.)</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Scopes bevroegen direct follow_up_date en status kolommen</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Deze kolommen bestaan alleen op follow_ups tabel; niet op Task of TeamMember</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Runtime SQL errors gegarandeerd bij gebruik van de trait</a:t>
            </a:r>
            <a:endParaRPr lang="en-US" sz="1300" b="0" u="none" strike="noStrike">
              <a:solidFill>
                <a:srgbClr val="000000"/>
              </a:solidFill>
              <a:effectLst/>
              <a:uFillTx/>
              <a:latin typeface="Arial"/>
            </a:endParaRPr>
          </a:p>
          <a:p>
            <a:pPr indent="0">
              <a:lnSpc>
                <a:spcPct val="100000"/>
              </a:lnSpc>
              <a:spcBef>
                <a:spcPts val="1001"/>
              </a:spcBef>
              <a:buNone/>
            </a:pPr>
            <a:r>
              <a:rPr lang="en-US" sz="1600" b="1" u="none" strike="noStrike">
                <a:solidFill>
                  <a:srgbClr val="3d8b6b"/>
                </a:solidFill>
                <a:effectLst/>
                <a:uFillTx/>
                <a:latin typeface="Arial"/>
              </a:rPr>
              <a:t>Alternatieven overwogen</a:t>
            </a:r>
            <a:endParaRPr lang="en-US" sz="16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1. Trait verwijderen; elk model definieert followUps() handmatig</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2. Scopes herschrijven naar whereHas-based queries</a:t>
            </a:r>
            <a:endParaRPr lang="en-US" sz="1300" b="0" u="none" strike="noStrike">
              <a:solidFill>
                <a:srgbClr val="000000"/>
              </a:solidFill>
              <a:effectLst/>
              <a:uFillTx/>
              <a:latin typeface="Arial"/>
            </a:endParaRPr>
          </a:p>
          <a:p>
            <a:pPr indent="0">
              <a:lnSpc>
                <a:spcPct val="100000"/>
              </a:lnSpc>
              <a:spcBef>
                <a:spcPts val="1001"/>
              </a:spcBef>
              <a:buNone/>
            </a:pPr>
            <a:r>
              <a:rPr lang="en-US" sz="1600" b="1" u="none" strike="noStrike">
                <a:solidFill>
                  <a:srgbClr val="3d8b6b"/>
                </a:solidFill>
                <a:effectLst/>
                <a:uFillTx/>
                <a:latin typeface="Arial"/>
              </a:rPr>
              <a:t>Decision</a:t>
            </a:r>
            <a:endParaRPr lang="en-US" sz="16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Optie 2: whereHas-based scopes die door de relatie filteren</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Scope namen verduidelijkt (bijv. scopeWithOverdueFollowUps)</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FollowUpStatus enum i.p.v. hardcoded strings</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Trait nu daadwerkelijk gebruikt door Task en TeamMember</a:t>
            </a:r>
            <a:endParaRPr lang="en-US" sz="1300" b="0" u="none" strike="noStrike">
              <a:solidFill>
                <a:srgbClr val="000000"/>
              </a:solidFill>
              <a:effectLst/>
              <a:uFillTx/>
              <a:latin typeface="Arial"/>
            </a:endParaRPr>
          </a:p>
          <a:p>
            <a:pPr indent="0">
              <a:lnSpc>
                <a:spcPct val="100000"/>
              </a:lnSpc>
              <a:spcBef>
                <a:spcPts val="1001"/>
              </a:spcBef>
              <a:buNone/>
            </a:pPr>
            <a:r>
              <a:rPr lang="en-US" sz="1600" b="1" u="none" strike="noStrike">
                <a:solidFill>
                  <a:srgbClr val="3d8b6b"/>
                </a:solidFill>
                <a:effectLst/>
                <a:uFillTx/>
                <a:latin typeface="Arial"/>
              </a:rPr>
              <a:t>Consequences</a:t>
            </a:r>
            <a:endParaRPr lang="en-US" sz="16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Gewijzigd: HasFollowUp.php, Task.php, TeamMember.php</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Geen database- of migratiewijzigingen nodig</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Tests herschreven: testen nu whereHas scopes op Task als parent model</a:t>
            </a:r>
            <a:endParaRPr lang="en-US" sz="1300" b="0" u="none" strike="noStrike">
              <a:solidFill>
                <a:srgbClr val="000000"/>
              </a:solidFill>
              <a:effectLst/>
              <a:uFillTx/>
              <a:latin typeface="Arial"/>
            </a:endParaRPr>
          </a:p>
        </p:txBody>
      </p:sp>
    </p:spTree>
  </p:cSld>
  <mc:AlternateContent>
    <mc:Choice Requires="p14">
      <p:transition spd="slow" p14:dur="2000">
        <p14:vortex/>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163"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4"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Laag 4: ADRs; het geheugen</a:t>
            </a:r>
            <a:endParaRPr lang="en-US" sz="3800" b="0" u="none" strike="noStrike">
              <a:solidFill>
                <a:srgbClr val="000000"/>
              </a:solidFill>
              <a:effectLst/>
              <a:uFillTx/>
              <a:latin typeface="Arial"/>
            </a:endParaRPr>
          </a:p>
        </p:txBody>
      </p:sp>
      <p:sp>
        <p:nvSpPr>
          <p:cNvPr id="165" name="TextBox 3"/>
          <p:cNvSpPr/>
          <p:nvPr/>
        </p:nvSpPr>
        <p:spPr>
          <a:xfrm>
            <a:off x="914400" y="1280160"/>
            <a:ext cx="1005732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0" u="none" strike="noStrike">
                <a:solidFill>
                  <a:srgbClr val="6b655e"/>
                </a:solidFill>
                <a:effectLst/>
                <a:uFillTx/>
                <a:latin typeface="Calibri"/>
              </a:rPr>
              <a:t>Documenteert beslissingen die afwijken van het plan of niet-triviale trade-offs bevatten.</a:t>
            </a:r>
            <a:endParaRPr lang="en-US" sz="2200" b="0" u="none" strike="noStrike">
              <a:solidFill>
                <a:srgbClr val="000000"/>
              </a:solidFill>
              <a:effectLst/>
              <a:uFillTx/>
              <a:latin typeface="Arial"/>
            </a:endParaRPr>
          </a:p>
        </p:txBody>
      </p:sp>
      <p:sp>
        <p:nvSpPr>
          <p:cNvPr id="166" name="Rounded Rectangle 4"/>
          <p:cNvSpPr/>
          <p:nvPr/>
        </p:nvSpPr>
        <p:spPr>
          <a:xfrm>
            <a:off x="914400" y="2286000"/>
            <a:ext cx="3290760" cy="18277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7" name="TextBox 5"/>
          <p:cNvSpPr/>
          <p:nvPr/>
        </p:nvSpPr>
        <p:spPr>
          <a:xfrm>
            <a:off x="1188720" y="2468880"/>
            <a:ext cx="2742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3d8b6b"/>
                </a:solidFill>
                <a:effectLst/>
                <a:uFillTx/>
                <a:latin typeface="Calibri"/>
              </a:rPr>
              <a:t>Context</a:t>
            </a:r>
            <a:endParaRPr lang="en-US" sz="2400" b="0" u="none" strike="noStrike">
              <a:solidFill>
                <a:srgbClr val="000000"/>
              </a:solidFill>
              <a:effectLst/>
              <a:uFillTx/>
              <a:latin typeface="Arial"/>
            </a:endParaRPr>
          </a:p>
        </p:txBody>
      </p:sp>
      <p:sp>
        <p:nvSpPr>
          <p:cNvPr id="168" name="TextBox 6"/>
          <p:cNvSpPr/>
          <p:nvPr/>
        </p:nvSpPr>
        <p:spPr>
          <a:xfrm>
            <a:off x="1188720" y="3017520"/>
            <a:ext cx="27421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0" u="none" strike="noStrike">
                <a:solidFill>
                  <a:srgbClr val="4a4540"/>
                </a:solidFill>
                <a:effectLst/>
                <a:uFillTx/>
                <a:latin typeface="Calibri"/>
              </a:rPr>
              <a:t>Wat was het probleem?</a:t>
            </a:r>
            <a:endParaRPr lang="en-US" sz="2000" b="0" u="none" strike="noStrike">
              <a:solidFill>
                <a:srgbClr val="000000"/>
              </a:solidFill>
              <a:effectLst/>
              <a:uFillTx/>
              <a:latin typeface="Arial"/>
            </a:endParaRPr>
          </a:p>
        </p:txBody>
      </p:sp>
      <p:sp>
        <p:nvSpPr>
          <p:cNvPr id="169" name="Rounded Rectangle 7"/>
          <p:cNvSpPr/>
          <p:nvPr/>
        </p:nvSpPr>
        <p:spPr>
          <a:xfrm>
            <a:off x="4663440" y="2286000"/>
            <a:ext cx="3290760" cy="18277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0" name="TextBox 8"/>
          <p:cNvSpPr/>
          <p:nvPr/>
        </p:nvSpPr>
        <p:spPr>
          <a:xfrm>
            <a:off x="4937760" y="2468880"/>
            <a:ext cx="2742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3d8b6b"/>
                </a:solidFill>
                <a:effectLst/>
                <a:uFillTx/>
                <a:latin typeface="Calibri"/>
              </a:rPr>
              <a:t>Decision</a:t>
            </a:r>
            <a:endParaRPr lang="en-US" sz="2400" b="0" u="none" strike="noStrike">
              <a:solidFill>
                <a:srgbClr val="000000"/>
              </a:solidFill>
              <a:effectLst/>
              <a:uFillTx/>
              <a:latin typeface="Arial"/>
            </a:endParaRPr>
          </a:p>
        </p:txBody>
      </p:sp>
      <p:sp>
        <p:nvSpPr>
          <p:cNvPr id="171" name="TextBox 9"/>
          <p:cNvSpPr/>
          <p:nvPr/>
        </p:nvSpPr>
        <p:spPr>
          <a:xfrm>
            <a:off x="4937760" y="3017520"/>
            <a:ext cx="27421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0" u="none" strike="noStrike">
                <a:solidFill>
                  <a:srgbClr val="4a4540"/>
                </a:solidFill>
                <a:effectLst/>
                <a:uFillTx/>
                <a:latin typeface="Calibri"/>
              </a:rPr>
              <a:t>Wat is er besloten</a:t>
            </a:r>
            <a:br>
              <a:rPr sz="2000"/>
            </a:br>
            <a:r>
              <a:rPr lang="en-US" sz="2000" b="0" u="none" strike="noStrike">
                <a:solidFill>
                  <a:srgbClr val="4a4540"/>
                </a:solidFill>
                <a:effectLst/>
                <a:uFillTx/>
                <a:latin typeface="Calibri"/>
              </a:rPr>
              <a:t>en waarom?</a:t>
            </a:r>
            <a:endParaRPr lang="en-US" sz="2000" b="0" u="none" strike="noStrike">
              <a:solidFill>
                <a:srgbClr val="000000"/>
              </a:solidFill>
              <a:effectLst/>
              <a:uFillTx/>
              <a:latin typeface="Arial"/>
            </a:endParaRPr>
          </a:p>
        </p:txBody>
      </p:sp>
      <p:sp>
        <p:nvSpPr>
          <p:cNvPr id="172" name="Rounded Rectangle 10"/>
          <p:cNvSpPr/>
          <p:nvPr/>
        </p:nvSpPr>
        <p:spPr>
          <a:xfrm>
            <a:off x="8412480" y="2286000"/>
            <a:ext cx="3290760" cy="18277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3" name="TextBox 11"/>
          <p:cNvSpPr/>
          <p:nvPr/>
        </p:nvSpPr>
        <p:spPr>
          <a:xfrm>
            <a:off x="8686800" y="2468880"/>
            <a:ext cx="2742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3d8b6b"/>
                </a:solidFill>
                <a:effectLst/>
                <a:uFillTx/>
                <a:latin typeface="Calibri"/>
              </a:rPr>
              <a:t>Consequences</a:t>
            </a:r>
            <a:endParaRPr lang="en-US" sz="2400" b="0" u="none" strike="noStrike">
              <a:solidFill>
                <a:srgbClr val="000000"/>
              </a:solidFill>
              <a:effectLst/>
              <a:uFillTx/>
              <a:latin typeface="Arial"/>
            </a:endParaRPr>
          </a:p>
        </p:txBody>
      </p:sp>
      <p:sp>
        <p:nvSpPr>
          <p:cNvPr id="174" name="TextBox 12"/>
          <p:cNvSpPr/>
          <p:nvPr/>
        </p:nvSpPr>
        <p:spPr>
          <a:xfrm>
            <a:off x="8686800" y="3017520"/>
            <a:ext cx="27421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0" u="none" strike="noStrike">
                <a:solidFill>
                  <a:srgbClr val="4a4540"/>
                </a:solidFill>
                <a:effectLst/>
                <a:uFillTx/>
                <a:latin typeface="Calibri"/>
              </a:rPr>
              <a:t>Wat verandert er?</a:t>
            </a:r>
            <a:endParaRPr lang="en-US" sz="2000" b="0" u="none" strike="noStrike">
              <a:solidFill>
                <a:srgbClr val="000000"/>
              </a:solidFill>
              <a:effectLst/>
              <a:uFillTx/>
              <a:latin typeface="Arial"/>
            </a:endParaRPr>
          </a:p>
        </p:txBody>
      </p:sp>
      <p:sp>
        <p:nvSpPr>
          <p:cNvPr id="175" name="Rounded Rectangle 13"/>
          <p:cNvSpPr/>
          <p:nvPr/>
        </p:nvSpPr>
        <p:spPr>
          <a:xfrm>
            <a:off x="914400" y="4754880"/>
            <a:ext cx="10057320" cy="1187640"/>
          </a:xfrm>
          <a:prstGeom prst="roundRect">
            <a:avLst>
              <a:gd name="adj" fmla="val 16667"/>
            </a:avLst>
          </a:prstGeom>
          <a:solidFill>
            <a:srgbClr val="e8f0e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6" name="TextBox 14"/>
          <p:cNvSpPr/>
          <p:nvPr/>
        </p:nvSpPr>
        <p:spPr>
          <a:xfrm>
            <a:off x="1188720" y="4937760"/>
            <a:ext cx="9508680" cy="821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1" u="none" strike="noStrike">
                <a:solidFill>
                  <a:srgbClr val="2a5f4a"/>
                </a:solidFill>
                <a:effectLst/>
                <a:uFillTx/>
                <a:latin typeface="Calibri"/>
              </a:rPr>
              <a:t>Vuistregel: Als iemand later zou kunnen vragen "waarom is dit zo?"; schrijf een ADR.</a:t>
            </a:r>
            <a:endParaRPr lang="en-US" sz="22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177"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8"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400" b="1" u="none" strike="noStrike">
                <a:solidFill>
                  <a:srgbClr val="4a4540"/>
                </a:solidFill>
                <a:effectLst/>
                <a:uFillTx/>
                <a:latin typeface="Calibri"/>
              </a:rPr>
              <a:t>Case Study: Event Dispatch Gap (ADR-013)</a:t>
            </a:r>
            <a:endParaRPr lang="en-US" sz="3400" b="0" u="none" strike="noStrike">
              <a:solidFill>
                <a:srgbClr val="000000"/>
              </a:solidFill>
              <a:effectLst/>
              <a:uFillTx/>
              <a:latin typeface="Arial"/>
            </a:endParaRPr>
          </a:p>
        </p:txBody>
      </p:sp>
      <p:sp>
        <p:nvSpPr>
          <p:cNvPr id="179" name="Rounded Rectangle 3"/>
          <p:cNvSpPr/>
          <p:nvPr/>
        </p:nvSpPr>
        <p:spPr>
          <a:xfrm>
            <a:off x="914400" y="1463040"/>
            <a:ext cx="4845240" cy="22849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80" name="TextBox 4"/>
          <p:cNvSpPr/>
          <p:nvPr/>
        </p:nvSpPr>
        <p:spPr>
          <a:xfrm>
            <a:off x="1188720" y="1645920"/>
            <a:ext cx="42966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c0392b"/>
                </a:solidFill>
                <a:effectLst/>
                <a:uFillTx/>
                <a:latin typeface="Calibri"/>
              </a:rPr>
              <a:t>Het probleem</a:t>
            </a:r>
            <a:endParaRPr lang="en-US" sz="2000" b="0" u="none" strike="noStrike">
              <a:solidFill>
                <a:srgbClr val="000000"/>
              </a:solidFill>
              <a:effectLst/>
              <a:uFillTx/>
              <a:latin typeface="Arial"/>
            </a:endParaRPr>
          </a:p>
        </p:txBody>
      </p:sp>
      <p:sp>
        <p:nvSpPr>
          <p:cNvPr id="181" name="TextBox 5"/>
          <p:cNvSpPr/>
          <p:nvPr/>
        </p:nvSpPr>
        <p:spPr>
          <a:xfrm>
            <a:off x="1188720" y="2103120"/>
            <a:ext cx="4296600" cy="1461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4a4540"/>
                </a:solidFill>
                <a:effectLst/>
                <a:uFillTx/>
                <a:latin typeface="Calibri"/>
              </a:rPr>
              <a:t>TaskStatusChanged event alleen</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gefired vanuit expliciete dispatch</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3 andere code paths updaten status</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zonder event te dispatchen</a:t>
            </a:r>
            <a:endParaRPr lang="en-US" sz="1600" b="0" u="none" strike="noStrike">
              <a:solidFill>
                <a:srgbClr val="000000"/>
              </a:solidFill>
              <a:effectLst/>
              <a:uFillTx/>
              <a:latin typeface="Arial"/>
            </a:endParaRPr>
          </a:p>
        </p:txBody>
      </p:sp>
      <p:sp>
        <p:nvSpPr>
          <p:cNvPr id="182" name="Rounded Rectangle 6"/>
          <p:cNvSpPr/>
          <p:nvPr/>
        </p:nvSpPr>
        <p:spPr>
          <a:xfrm>
            <a:off x="6400800" y="1463040"/>
            <a:ext cx="4845240" cy="22849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83" name="TextBox 7"/>
          <p:cNvSpPr/>
          <p:nvPr/>
        </p:nvSpPr>
        <p:spPr>
          <a:xfrm>
            <a:off x="6675120" y="1645920"/>
            <a:ext cx="42966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3d8b6b"/>
                </a:solidFill>
                <a:effectLst/>
                <a:uFillTx/>
                <a:latin typeface="Calibri"/>
              </a:rPr>
              <a:t>De oplossing</a:t>
            </a:r>
            <a:endParaRPr lang="en-US" sz="2000" b="0" u="none" strike="noStrike">
              <a:solidFill>
                <a:srgbClr val="000000"/>
              </a:solidFill>
              <a:effectLst/>
              <a:uFillTx/>
              <a:latin typeface="Arial"/>
            </a:endParaRPr>
          </a:p>
        </p:txBody>
      </p:sp>
      <p:sp>
        <p:nvSpPr>
          <p:cNvPr id="184" name="TextBox 8"/>
          <p:cNvSpPr/>
          <p:nvPr/>
        </p:nvSpPr>
        <p:spPr>
          <a:xfrm>
            <a:off x="6675120" y="2103120"/>
            <a:ext cx="4296600" cy="1461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4a4540"/>
                </a:solidFill>
                <a:effectLst/>
                <a:uFillTx/>
                <a:latin typeface="Calibri"/>
              </a:rPr>
              <a:t>TaskObserver dispatcht event</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automatisch bij elke statuswijziging</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Handmatige dispatches verwijderd</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Loste ook pre-bestaand probleem op</a:t>
            </a:r>
            <a:endParaRPr lang="en-US" sz="1600" b="0" u="none" strike="noStrike">
              <a:solidFill>
                <a:srgbClr val="000000"/>
              </a:solidFill>
              <a:effectLst/>
              <a:uFillTx/>
              <a:latin typeface="Arial"/>
            </a:endParaRPr>
          </a:p>
        </p:txBody>
      </p:sp>
      <p:sp>
        <p:nvSpPr>
          <p:cNvPr id="185" name="TextBox 9"/>
          <p:cNvSpPr/>
          <p:nvPr/>
        </p:nvSpPr>
        <p:spPr>
          <a:xfrm>
            <a:off x="914400" y="4114800"/>
            <a:ext cx="100573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0" u="none" strike="noStrike">
                <a:solidFill>
                  <a:srgbClr val="4a4540"/>
                </a:solidFill>
                <a:effectLst/>
                <a:uFillTx/>
                <a:latin typeface="Calibri"/>
              </a:rPr>
              <a:t>Zonder ADR zou een volgende sessie niet weten:</a:t>
            </a:r>
            <a:endParaRPr lang="en-US" sz="2000" b="0" u="none" strike="noStrike">
              <a:solidFill>
                <a:srgbClr val="000000"/>
              </a:solidFill>
              <a:effectLst/>
              <a:uFillTx/>
              <a:latin typeface="Arial"/>
            </a:endParaRPr>
          </a:p>
        </p:txBody>
      </p:sp>
      <p:sp>
        <p:nvSpPr>
          <p:cNvPr id="186" name="TextBox 10"/>
          <p:cNvSpPr/>
          <p:nvPr/>
        </p:nvSpPr>
        <p:spPr>
          <a:xfrm>
            <a:off x="914400" y="4663440"/>
            <a:ext cx="10057320" cy="1827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lang="en-US" sz="1800" b="0" u="none" strike="noStrike">
                <a:solidFill>
                  <a:srgbClr val="4a4540"/>
                </a:solidFill>
                <a:effectLst/>
                <a:uFillTx/>
                <a:latin typeface="Calibri"/>
              </a:rPr>
              <a:t>Dat er bewust een Observer is gekozen boven handmatige dispatch calls</a:t>
            </a:r>
            <a:endParaRPr lang="en-US" sz="1800" b="0" u="none" strike="noStrike">
              <a:solidFill>
                <a:srgbClr val="000000"/>
              </a:solidFill>
              <a:effectLst/>
              <a:uFillTx/>
              <a:latin typeface="Arial"/>
            </a:endParaRPr>
          </a:p>
          <a:p>
            <a:pPr defTabSz="457200">
              <a:lnSpc>
                <a:spcPct val="100000"/>
              </a:lnSpc>
              <a:spcAft>
                <a:spcPts val="799"/>
              </a:spcAft>
            </a:pPr>
            <a:r>
              <a:rPr lang="en-US" sz="1800" b="0" u="none" strike="noStrike">
                <a:solidFill>
                  <a:srgbClr val="4a4540"/>
                </a:solidFill>
                <a:effectLst/>
                <a:uFillTx/>
                <a:latin typeface="Calibri"/>
              </a:rPr>
              <a:t>Dat handmatige dispatches bewust zijn verwijderd</a:t>
            </a:r>
            <a:endParaRPr lang="en-US" sz="1800" b="0" u="none" strike="noStrike">
              <a:solidFill>
                <a:srgbClr val="000000"/>
              </a:solidFill>
              <a:effectLst/>
              <a:uFillTx/>
              <a:latin typeface="Arial"/>
            </a:endParaRPr>
          </a:p>
          <a:p>
            <a:pPr defTabSz="457200">
              <a:lnSpc>
                <a:spcPct val="100000"/>
              </a:lnSpc>
              <a:spcAft>
                <a:spcPts val="799"/>
              </a:spcAft>
            </a:pPr>
            <a:r>
              <a:rPr lang="en-US" sz="1800" b="0" u="none" strike="noStrike">
                <a:solidFill>
                  <a:srgbClr val="4a4540"/>
                </a:solidFill>
                <a:effectLst/>
                <a:uFillTx/>
                <a:latin typeface="Calibri"/>
              </a:rPr>
              <a:t>Welke alternatieven zijn afgewezen en waarom</a:t>
            </a:r>
            <a:endParaRPr lang="en-US" sz="18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nSpc>
                <a:spcPct val="100000"/>
              </a:lnSpc>
              <a:buNone/>
            </a:pPr>
            <a:r>
              <a:rPr lang="en-US" sz="2800" b="1" u="none" strike="noStrike">
                <a:solidFill>
                  <a:srgbClr val="4a4540"/>
                </a:solidFill>
                <a:effectLst/>
                <a:uFillTx/>
                <a:latin typeface="Arial"/>
              </a:rPr>
              <a:t>ADR-013: Event Dispatch Gap &amp; Recurring Tasks</a:t>
            </a:r>
            <a:endParaRPr lang="en-US" sz="2800" b="0" u="none" strike="noStrike">
              <a:solidFill>
                <a:srgbClr val="000000"/>
              </a:solidFill>
              <a:effectLst/>
              <a:uFillTx/>
              <a:latin typeface="Arial"/>
            </a:endParaRPr>
          </a:p>
        </p:txBody>
      </p:sp>
      <p:sp>
        <p:nvSpPr>
          <p:cNvPr id="188" name="PlaceHolder 2"/>
          <p:cNvSpPr>
            <a:spLocks noGrp="1"/>
          </p:cNvSpPr>
          <p:nvPr>
            <p:ph/>
          </p:nvPr>
        </p:nvSpPr>
        <p:spPr>
          <a:xfrm>
            <a:off x="457200" y="1600200"/>
            <a:ext cx="8228520" cy="4524840"/>
          </a:xfrm>
          <a:prstGeom prst="rect">
            <a:avLst/>
          </a:prstGeom>
          <a:noFill/>
          <a:ln w="0">
            <a:noFill/>
          </a:ln>
        </p:spPr>
        <p:txBody>
          <a:bodyPr lIns="91440" rIns="91440" tIns="45720" bIns="45720" anchor="t">
            <a:noAutofit/>
          </a:bodyPr>
          <a:p>
            <a:pPr indent="0">
              <a:lnSpc>
                <a:spcPct val="100000"/>
              </a:lnSpc>
              <a:buNone/>
            </a:pPr>
            <a:r>
              <a:rPr lang="en-US" sz="1600" b="1" u="none" strike="noStrike">
                <a:solidFill>
                  <a:srgbClr val="3d8b6b"/>
                </a:solidFill>
                <a:effectLst/>
                <a:uFillTx/>
                <a:latin typeface="Arial"/>
              </a:rPr>
              <a:t>Context</a:t>
            </a:r>
            <a:endParaRPr lang="en-US" sz="16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TaskStatusChanged event alleen gefired vanuit expliciete dispatch calls</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AutoSaveController, bulkUpdate() en move() updaten status zonder event</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Recurring tasks listener en CreateFollowUpOnWaiting zouden niet vuren</a:t>
            </a:r>
            <a:endParaRPr lang="en-US" sz="1300" b="0" u="none" strike="noStrike">
              <a:solidFill>
                <a:srgbClr val="000000"/>
              </a:solidFill>
              <a:effectLst/>
              <a:uFillTx/>
              <a:latin typeface="Arial"/>
            </a:endParaRPr>
          </a:p>
          <a:p>
            <a:pPr indent="0">
              <a:lnSpc>
                <a:spcPct val="100000"/>
              </a:lnSpc>
              <a:spcBef>
                <a:spcPts val="1001"/>
              </a:spcBef>
              <a:buNone/>
            </a:pPr>
            <a:r>
              <a:rPr lang="en-US" sz="1600" b="1" u="none" strike="noStrike">
                <a:solidFill>
                  <a:srgbClr val="3d8b6b"/>
                </a:solidFill>
                <a:effectLst/>
                <a:uFillTx/>
                <a:latin typeface="Arial"/>
              </a:rPr>
              <a:t>Decision</a:t>
            </a:r>
            <a:endParaRPr lang="en-US" sz="16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TaskObserver dispatcht TaskStatusChanged automatisch bij elke statuswijziging</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Copy-on-complete: Done task -&gt; nieuw Open task met volgende deadline</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Recurrence velden op tasks tabel; geen apart model</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Handmatige event dispatches bewust verwijderd</a:t>
            </a:r>
            <a:endParaRPr lang="en-US" sz="1300" b="0" u="none" strike="noStrike">
              <a:solidFill>
                <a:srgbClr val="000000"/>
              </a:solidFill>
              <a:effectLst/>
              <a:uFillTx/>
              <a:latin typeface="Arial"/>
            </a:endParaRPr>
          </a:p>
          <a:p>
            <a:pPr indent="0">
              <a:lnSpc>
                <a:spcPct val="100000"/>
              </a:lnSpc>
              <a:spcBef>
                <a:spcPts val="1001"/>
              </a:spcBef>
              <a:buNone/>
            </a:pPr>
            <a:r>
              <a:rPr lang="en-US" sz="1600" b="1" u="none" strike="noStrike">
                <a:solidFill>
                  <a:srgbClr val="3d8b6b"/>
                </a:solidFill>
                <a:effectLst/>
                <a:uFillTx/>
                <a:latin typeface="Arial"/>
              </a:rPr>
              <a:t>Deviation from plan</a:t>
            </a:r>
            <a:endParaRPr lang="en-US" sz="16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Plan voorzag niet in de event dispatch gap</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TaskObserver toegevoegd als Phase 0 voor de recurrence implementatie</a:t>
            </a:r>
            <a:endParaRPr lang="en-US" sz="1300" b="0" u="none" strike="noStrike">
              <a:solidFill>
                <a:srgbClr val="000000"/>
              </a:solidFill>
              <a:effectLst/>
              <a:uFillTx/>
              <a:latin typeface="Arial"/>
            </a:endParaRPr>
          </a:p>
          <a:p>
            <a:pPr indent="0">
              <a:lnSpc>
                <a:spcPct val="100000"/>
              </a:lnSpc>
              <a:spcBef>
                <a:spcPts val="1001"/>
              </a:spcBef>
              <a:buNone/>
            </a:pPr>
            <a:r>
              <a:rPr lang="en-US" sz="1600" b="1" u="none" strike="noStrike">
                <a:solidFill>
                  <a:srgbClr val="3d8b6b"/>
                </a:solidFill>
                <a:effectLst/>
                <a:uFillTx/>
                <a:latin typeface="Arial"/>
              </a:rPr>
              <a:t>Consequences</a:t>
            </a:r>
            <a:endParaRPr lang="en-US" sz="16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Migratie: 5 kolommen op tasks tabel</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Alle Task::update() met statuswijziging vuren nu automatisch het event</a:t>
            </a:r>
            <a:endParaRPr lang="en-US" sz="1300" b="0" u="none" strike="noStrike">
              <a:solidFill>
                <a:srgbClr val="000000"/>
              </a:solidFill>
              <a:effectLst/>
              <a:uFillTx/>
              <a:latin typeface="Arial"/>
            </a:endParaRPr>
          </a:p>
          <a:p>
            <a:pPr indent="0">
              <a:lnSpc>
                <a:spcPct val="100000"/>
              </a:lnSpc>
              <a:spcBef>
                <a:spcPts val="201"/>
              </a:spcBef>
              <a:buNone/>
            </a:pPr>
            <a:r>
              <a:rPr lang="en-US" sz="1300" b="0" u="none" strike="noStrike">
                <a:solidFill>
                  <a:srgbClr val="4a4540"/>
                </a:solidFill>
                <a:effectLst/>
                <a:uFillTx/>
                <a:latin typeface="Arial"/>
              </a:rPr>
              <a:t>Lost ook pre-bestaand probleem op met CreateFollowUpOnWaiting listener</a:t>
            </a:r>
            <a:endParaRPr lang="en-US" sz="1300" b="0" u="none" strike="noStrike">
              <a:solidFill>
                <a:srgbClr val="000000"/>
              </a:solidFill>
              <a:effectLst/>
              <a:uFillTx/>
              <a:latin typeface="Arial"/>
            </a:endParaRPr>
          </a:p>
        </p:txBody>
      </p:sp>
    </p:spTree>
  </p:cSld>
  <mc:AlternateContent>
    <mc:Choice Requires="p14">
      <p:transition spd="slow" p14:dur="2000">
        <p14:vortex/>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189"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0"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De Feedback Loop</a:t>
            </a:r>
            <a:endParaRPr lang="en-US" sz="3800" b="0" u="none" strike="noStrike">
              <a:solidFill>
                <a:srgbClr val="000000"/>
              </a:solidFill>
              <a:effectLst/>
              <a:uFillTx/>
              <a:latin typeface="Arial"/>
            </a:endParaRPr>
          </a:p>
        </p:txBody>
      </p:sp>
      <p:sp>
        <p:nvSpPr>
          <p:cNvPr id="191" name="Rounded Rectangle 3"/>
          <p:cNvSpPr/>
          <p:nvPr/>
        </p:nvSpPr>
        <p:spPr>
          <a:xfrm>
            <a:off x="640080" y="1828800"/>
            <a:ext cx="1690560" cy="1279080"/>
          </a:xfrm>
          <a:prstGeom prst="roundRect">
            <a:avLst>
              <a:gd name="adj" fmla="val 16667"/>
            </a:avLst>
          </a:prstGeom>
          <a:solidFill>
            <a:srgbClr val="3d8b6b"/>
          </a:solidFill>
          <a:ln w="1905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400" b="1" u="none" strike="noStrike">
                <a:solidFill>
                  <a:srgbClr val="ffffff"/>
                </a:solidFill>
                <a:effectLst/>
                <a:uFillTx/>
                <a:latin typeface="Calibri"/>
              </a:rPr>
              <a:t>PRD definieert</a:t>
            </a:r>
            <a:br>
              <a:rPr sz="1400"/>
            </a:br>
            <a:r>
              <a:rPr lang="en-US" sz="1400" b="1" u="none" strike="noStrike">
                <a:solidFill>
                  <a:srgbClr val="ffffff"/>
                </a:solidFill>
                <a:effectLst/>
                <a:uFillTx/>
                <a:latin typeface="Calibri"/>
              </a:rPr>
              <a:t>wat en waarom</a:t>
            </a:r>
            <a:endParaRPr lang="en-US" sz="1400" b="0" u="none" strike="noStrike">
              <a:solidFill>
                <a:srgbClr val="ffffff"/>
              </a:solidFill>
              <a:effectLst/>
              <a:uFillTx/>
              <a:latin typeface="Arial"/>
            </a:endParaRPr>
          </a:p>
        </p:txBody>
      </p:sp>
      <p:sp>
        <p:nvSpPr>
          <p:cNvPr id="192" name="TextBox 4"/>
          <p:cNvSpPr/>
          <p:nvPr/>
        </p:nvSpPr>
        <p:spPr>
          <a:xfrm>
            <a:off x="2331720" y="2148840"/>
            <a:ext cx="27324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800" b="1" u="none" strike="noStrike">
                <a:solidFill>
                  <a:srgbClr val="3d8b6b"/>
                </a:solidFill>
                <a:effectLst/>
                <a:uFillTx/>
                <a:latin typeface="Calibri"/>
              </a:rPr>
              <a:t>&gt;</a:t>
            </a:r>
            <a:endParaRPr lang="en-US" sz="2800" b="0" u="none" strike="noStrike">
              <a:solidFill>
                <a:srgbClr val="000000"/>
              </a:solidFill>
              <a:effectLst/>
              <a:uFillTx/>
              <a:latin typeface="Arial"/>
            </a:endParaRPr>
          </a:p>
        </p:txBody>
      </p:sp>
      <p:sp>
        <p:nvSpPr>
          <p:cNvPr id="193" name="Rounded Rectangle 5"/>
          <p:cNvSpPr/>
          <p:nvPr/>
        </p:nvSpPr>
        <p:spPr>
          <a:xfrm>
            <a:off x="2560320" y="1828800"/>
            <a:ext cx="1690560" cy="1279080"/>
          </a:xfrm>
          <a:prstGeom prst="roundRect">
            <a:avLst>
              <a:gd name="adj" fmla="val 16667"/>
            </a:avLst>
          </a:prstGeom>
          <a:solidFill>
            <a:srgbClr val="ffffff"/>
          </a:solidFill>
          <a:ln w="1905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400" b="1" u="none" strike="noStrike">
                <a:solidFill>
                  <a:srgbClr val="3d8b6b"/>
                </a:solidFill>
                <a:effectLst/>
                <a:uFillTx/>
                <a:latin typeface="Calibri"/>
              </a:rPr>
              <a:t>Plan vertaalt naar</a:t>
            </a:r>
            <a:br>
              <a:rPr sz="1400"/>
            </a:br>
            <a:r>
              <a:rPr lang="en-US" sz="1400" b="1" u="none" strike="noStrike">
                <a:solidFill>
                  <a:srgbClr val="3d8b6b"/>
                </a:solidFill>
                <a:effectLst/>
                <a:uFillTx/>
                <a:latin typeface="Calibri"/>
              </a:rPr>
              <a:t>technische specs</a:t>
            </a:r>
            <a:endParaRPr lang="en-US" sz="1400" b="0" u="none" strike="noStrike">
              <a:solidFill>
                <a:srgbClr val="000000"/>
              </a:solidFill>
              <a:effectLst/>
              <a:uFillTx/>
              <a:latin typeface="Arial"/>
            </a:endParaRPr>
          </a:p>
        </p:txBody>
      </p:sp>
      <p:sp>
        <p:nvSpPr>
          <p:cNvPr id="194" name="TextBox 6"/>
          <p:cNvSpPr/>
          <p:nvPr/>
        </p:nvSpPr>
        <p:spPr>
          <a:xfrm>
            <a:off x="4251960" y="2148840"/>
            <a:ext cx="27324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800" b="1" u="none" strike="noStrike">
                <a:solidFill>
                  <a:srgbClr val="3d8b6b"/>
                </a:solidFill>
                <a:effectLst/>
                <a:uFillTx/>
                <a:latin typeface="Calibri"/>
              </a:rPr>
              <a:t>&gt;</a:t>
            </a:r>
            <a:endParaRPr lang="en-US" sz="2800" b="0" u="none" strike="noStrike">
              <a:solidFill>
                <a:srgbClr val="000000"/>
              </a:solidFill>
              <a:effectLst/>
              <a:uFillTx/>
              <a:latin typeface="Arial"/>
            </a:endParaRPr>
          </a:p>
        </p:txBody>
      </p:sp>
      <p:sp>
        <p:nvSpPr>
          <p:cNvPr id="195" name="Rounded Rectangle 7"/>
          <p:cNvSpPr/>
          <p:nvPr/>
        </p:nvSpPr>
        <p:spPr>
          <a:xfrm>
            <a:off x="4480560" y="1828800"/>
            <a:ext cx="1690560" cy="1279080"/>
          </a:xfrm>
          <a:prstGeom prst="roundRect">
            <a:avLst>
              <a:gd name="adj" fmla="val 16667"/>
            </a:avLst>
          </a:prstGeom>
          <a:solidFill>
            <a:srgbClr val="3d8b6b"/>
          </a:solidFill>
          <a:ln w="1905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400" b="1" u="none" strike="noStrike">
                <a:solidFill>
                  <a:srgbClr val="ffffff"/>
                </a:solidFill>
                <a:effectLst/>
                <a:uFillTx/>
                <a:latin typeface="Calibri"/>
              </a:rPr>
              <a:t>Specs worden</a:t>
            </a:r>
            <a:br>
              <a:rPr sz="1400"/>
            </a:br>
            <a:r>
              <a:rPr lang="en-US" sz="1400" b="1" u="none" strike="noStrike">
                <a:solidFill>
                  <a:srgbClr val="ffffff"/>
                </a:solidFill>
                <a:effectLst/>
                <a:uFillTx/>
                <a:latin typeface="Calibri"/>
              </a:rPr>
              <a:t>tests (TDD)</a:t>
            </a:r>
            <a:endParaRPr lang="en-US" sz="1400" b="0" u="none" strike="noStrike">
              <a:solidFill>
                <a:srgbClr val="ffffff"/>
              </a:solidFill>
              <a:effectLst/>
              <a:uFillTx/>
              <a:latin typeface="Arial"/>
            </a:endParaRPr>
          </a:p>
        </p:txBody>
      </p:sp>
      <p:sp>
        <p:nvSpPr>
          <p:cNvPr id="196" name="TextBox 8"/>
          <p:cNvSpPr/>
          <p:nvPr/>
        </p:nvSpPr>
        <p:spPr>
          <a:xfrm>
            <a:off x="6172200" y="2148840"/>
            <a:ext cx="27324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800" b="1" u="none" strike="noStrike">
                <a:solidFill>
                  <a:srgbClr val="3d8b6b"/>
                </a:solidFill>
                <a:effectLst/>
                <a:uFillTx/>
                <a:latin typeface="Calibri"/>
              </a:rPr>
              <a:t>&gt;</a:t>
            </a:r>
            <a:endParaRPr lang="en-US" sz="2800" b="0" u="none" strike="noStrike">
              <a:solidFill>
                <a:srgbClr val="000000"/>
              </a:solidFill>
              <a:effectLst/>
              <a:uFillTx/>
              <a:latin typeface="Arial"/>
            </a:endParaRPr>
          </a:p>
        </p:txBody>
      </p:sp>
      <p:sp>
        <p:nvSpPr>
          <p:cNvPr id="197" name="Rounded Rectangle 9"/>
          <p:cNvSpPr/>
          <p:nvPr/>
        </p:nvSpPr>
        <p:spPr>
          <a:xfrm>
            <a:off x="6400800" y="1828800"/>
            <a:ext cx="1690560" cy="1279080"/>
          </a:xfrm>
          <a:prstGeom prst="roundRect">
            <a:avLst>
              <a:gd name="adj" fmla="val 16667"/>
            </a:avLst>
          </a:prstGeom>
          <a:solidFill>
            <a:srgbClr val="ffffff"/>
          </a:solidFill>
          <a:ln w="1905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400" b="1" u="none" strike="noStrike">
                <a:solidFill>
                  <a:srgbClr val="3d8b6b"/>
                </a:solidFill>
                <a:effectLst/>
                <a:uFillTx/>
                <a:latin typeface="Calibri"/>
              </a:rPr>
              <a:t>Tests ontdekken</a:t>
            </a:r>
            <a:br>
              <a:rPr sz="1400"/>
            </a:br>
            <a:r>
              <a:rPr lang="en-US" sz="1400" b="1" u="none" strike="noStrike">
                <a:solidFill>
                  <a:srgbClr val="3d8b6b"/>
                </a:solidFill>
                <a:effectLst/>
                <a:uFillTx/>
                <a:latin typeface="Calibri"/>
              </a:rPr>
              <a:t>problemen</a:t>
            </a:r>
            <a:endParaRPr lang="en-US" sz="1400" b="0" u="none" strike="noStrike">
              <a:solidFill>
                <a:srgbClr val="000000"/>
              </a:solidFill>
              <a:effectLst/>
              <a:uFillTx/>
              <a:latin typeface="Arial"/>
            </a:endParaRPr>
          </a:p>
        </p:txBody>
      </p:sp>
      <p:sp>
        <p:nvSpPr>
          <p:cNvPr id="198" name="TextBox 10"/>
          <p:cNvSpPr/>
          <p:nvPr/>
        </p:nvSpPr>
        <p:spPr>
          <a:xfrm>
            <a:off x="8092440" y="2148840"/>
            <a:ext cx="27324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800" b="1" u="none" strike="noStrike">
                <a:solidFill>
                  <a:srgbClr val="3d8b6b"/>
                </a:solidFill>
                <a:effectLst/>
                <a:uFillTx/>
                <a:latin typeface="Calibri"/>
              </a:rPr>
              <a:t>&gt;</a:t>
            </a:r>
            <a:endParaRPr lang="en-US" sz="2800" b="0" u="none" strike="noStrike">
              <a:solidFill>
                <a:srgbClr val="000000"/>
              </a:solidFill>
              <a:effectLst/>
              <a:uFillTx/>
              <a:latin typeface="Arial"/>
            </a:endParaRPr>
          </a:p>
        </p:txBody>
      </p:sp>
      <p:sp>
        <p:nvSpPr>
          <p:cNvPr id="199" name="Rounded Rectangle 11"/>
          <p:cNvSpPr/>
          <p:nvPr/>
        </p:nvSpPr>
        <p:spPr>
          <a:xfrm>
            <a:off x="8321040" y="1828800"/>
            <a:ext cx="1690560" cy="1279080"/>
          </a:xfrm>
          <a:prstGeom prst="roundRect">
            <a:avLst>
              <a:gd name="adj" fmla="val 16667"/>
            </a:avLst>
          </a:prstGeom>
          <a:solidFill>
            <a:srgbClr val="3d8b6b"/>
          </a:solidFill>
          <a:ln w="1905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400" b="1" u="none" strike="noStrike">
                <a:solidFill>
                  <a:srgbClr val="ffffff"/>
                </a:solidFill>
                <a:effectLst/>
                <a:uFillTx/>
                <a:latin typeface="Calibri"/>
              </a:rPr>
              <a:t>Problemen</a:t>
            </a:r>
            <a:br>
              <a:rPr sz="1400"/>
            </a:br>
            <a:r>
              <a:rPr lang="en-US" sz="1400" b="1" u="none" strike="noStrike">
                <a:solidFill>
                  <a:srgbClr val="ffffff"/>
                </a:solidFill>
                <a:effectLst/>
                <a:uFillTx/>
                <a:latin typeface="Calibri"/>
              </a:rPr>
              <a:t>triggeren ADRs</a:t>
            </a:r>
            <a:endParaRPr lang="en-US" sz="1400" b="0" u="none" strike="noStrike">
              <a:solidFill>
                <a:srgbClr val="ffffff"/>
              </a:solidFill>
              <a:effectLst/>
              <a:uFillTx/>
              <a:latin typeface="Arial"/>
            </a:endParaRPr>
          </a:p>
        </p:txBody>
      </p:sp>
      <p:sp>
        <p:nvSpPr>
          <p:cNvPr id="200" name="TextBox 12"/>
          <p:cNvSpPr/>
          <p:nvPr/>
        </p:nvSpPr>
        <p:spPr>
          <a:xfrm>
            <a:off x="10012680" y="2148840"/>
            <a:ext cx="27324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800" b="1" u="none" strike="noStrike">
                <a:solidFill>
                  <a:srgbClr val="3d8b6b"/>
                </a:solidFill>
                <a:effectLst/>
                <a:uFillTx/>
                <a:latin typeface="Calibri"/>
              </a:rPr>
              <a:t>&gt;</a:t>
            </a:r>
            <a:endParaRPr lang="en-US" sz="2800" b="0" u="none" strike="noStrike">
              <a:solidFill>
                <a:srgbClr val="000000"/>
              </a:solidFill>
              <a:effectLst/>
              <a:uFillTx/>
              <a:latin typeface="Arial"/>
            </a:endParaRPr>
          </a:p>
        </p:txBody>
      </p:sp>
      <p:sp>
        <p:nvSpPr>
          <p:cNvPr id="201" name="Rounded Rectangle 13"/>
          <p:cNvSpPr/>
          <p:nvPr/>
        </p:nvSpPr>
        <p:spPr>
          <a:xfrm>
            <a:off x="10241280" y="1828800"/>
            <a:ext cx="1690560" cy="1279080"/>
          </a:xfrm>
          <a:prstGeom prst="roundRect">
            <a:avLst>
              <a:gd name="adj" fmla="val 16667"/>
            </a:avLst>
          </a:prstGeom>
          <a:solidFill>
            <a:srgbClr val="ffffff"/>
          </a:solidFill>
          <a:ln w="1905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400" b="1" u="none" strike="noStrike">
                <a:solidFill>
                  <a:srgbClr val="3d8b6b"/>
                </a:solidFill>
                <a:effectLst/>
                <a:uFillTx/>
                <a:latin typeface="Calibri"/>
              </a:rPr>
              <a:t>ADRs informeren</a:t>
            </a:r>
            <a:br>
              <a:rPr sz="1400"/>
            </a:br>
            <a:r>
              <a:rPr lang="en-US" sz="1400" b="1" u="none" strike="noStrike">
                <a:solidFill>
                  <a:srgbClr val="3d8b6b"/>
                </a:solidFill>
                <a:effectLst/>
                <a:uFillTx/>
                <a:latin typeface="Calibri"/>
              </a:rPr>
              <a:t>volgende sessies</a:t>
            </a:r>
            <a:endParaRPr lang="en-US" sz="1400" b="0" u="none" strike="noStrike">
              <a:solidFill>
                <a:srgbClr val="000000"/>
              </a:solidFill>
              <a:effectLst/>
              <a:uFillTx/>
              <a:latin typeface="Arial"/>
            </a:endParaRPr>
          </a:p>
        </p:txBody>
      </p:sp>
      <p:graphicFrame>
        <p:nvGraphicFramePr>
          <p:cNvPr id="202" name="Table 14"/>
          <p:cNvGraphicFramePr/>
          <p:nvPr/>
        </p:nvGraphicFramePr>
        <p:xfrm>
          <a:off x="1371600" y="3657600"/>
          <a:ext cx="9143640" cy="2743200"/>
        </p:xfrm>
        <a:graphic>
          <a:graphicData uri="http://schemas.openxmlformats.org/drawingml/2006/table">
            <a:tbl>
              <a:tblPr/>
              <a:tblGrid>
                <a:gridCol w="4572000"/>
                <a:gridCol w="4572000"/>
              </a:tblGrid>
              <a:tr h="457200">
                <a:tc>
                  <a:txBody>
                    <a:bodyPr anchor="t">
                      <a:noAutofit/>
                    </a:bodyPr>
                    <a:p>
                      <a:pPr defTabSz="457200">
                        <a:lnSpc>
                          <a:spcPct val="100000"/>
                        </a:lnSpc>
                      </a:pPr>
                      <a:r>
                        <a:rPr lang="en-US" sz="1600" b="1" u="none" strike="noStrike">
                          <a:solidFill>
                            <a:srgbClr val="ffffff"/>
                          </a:solidFill>
                          <a:effectLst/>
                          <a:uFillTx/>
                          <a:latin typeface="Calibri"/>
                        </a:rPr>
                        <a:t>Probleem</a:t>
                      </a:r>
                      <a:endParaRPr lang="en-US" sz="16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3d8b6b"/>
                    </a:solidFill>
                  </a:tcPr>
                </a:tc>
                <a:tc>
                  <a:txBody>
                    <a:bodyPr anchor="t">
                      <a:noAutofit/>
                    </a:bodyPr>
                    <a:p>
                      <a:pPr defTabSz="457200">
                        <a:lnSpc>
                          <a:spcPct val="100000"/>
                        </a:lnSpc>
                      </a:pPr>
                      <a:r>
                        <a:rPr lang="en-US" sz="1600" b="1" u="none" strike="noStrike">
                          <a:solidFill>
                            <a:srgbClr val="ffffff"/>
                          </a:solidFill>
                          <a:effectLst/>
                          <a:uFillTx/>
                          <a:latin typeface="Calibri"/>
                        </a:rPr>
                        <a:t>Oplossing</a:t>
                      </a:r>
                      <a:endParaRPr lang="en-US" sz="16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3d8b6b"/>
                    </a:solidFill>
                  </a:tcPr>
                </a:tc>
              </a:tr>
              <a:tr h="457200">
                <a:tc>
                  <a:txBody>
                    <a:bodyPr anchor="t">
                      <a:noAutofit/>
                    </a:bodyPr>
                    <a:p>
                      <a:pPr defTabSz="457200">
                        <a:lnSpc>
                          <a:spcPct val="100000"/>
                        </a:lnSpc>
                      </a:pPr>
                      <a:r>
                        <a:rPr lang="en-US" sz="1500" b="0" u="none" strike="noStrike">
                          <a:solidFill>
                            <a:srgbClr val="4a4540"/>
                          </a:solidFill>
                          <a:effectLst/>
                          <a:uFillTx/>
                          <a:latin typeface="Calibri"/>
                        </a:rPr>
                        <a:t>AI vergeet vorige sessie</a:t>
                      </a:r>
                      <a:endParaRPr lang="en-US" sz="15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500" b="0" u="none" strike="noStrike">
                          <a:solidFill>
                            <a:srgbClr val="4a4540"/>
                          </a:solidFill>
                          <a:effectLst/>
                          <a:uFillTx/>
                          <a:latin typeface="Calibri"/>
                        </a:rPr>
                        <a:t>ADRs + plan overleven sessies</a:t>
                      </a:r>
                      <a:endParaRPr lang="en-US" sz="15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anchor="t">
                      <a:noAutofit/>
                    </a:bodyPr>
                    <a:p>
                      <a:pPr defTabSz="457200">
                        <a:lnSpc>
                          <a:spcPct val="100000"/>
                        </a:lnSpc>
                      </a:pPr>
                      <a:r>
                        <a:rPr lang="en-US" sz="1500" b="0" u="none" strike="noStrike">
                          <a:solidFill>
                            <a:srgbClr val="4a4540"/>
                          </a:solidFill>
                          <a:effectLst/>
                          <a:uFillTx/>
                          <a:latin typeface="Calibri"/>
                        </a:rPr>
                        <a:t>AI breekt bestaande code</a:t>
                      </a:r>
                      <a:endParaRPr lang="en-US" sz="15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f0ec"/>
                    </a:solidFill>
                  </a:tcPr>
                </a:tc>
                <a:tc>
                  <a:txBody>
                    <a:bodyPr anchor="t">
                      <a:noAutofit/>
                    </a:bodyPr>
                    <a:p>
                      <a:pPr defTabSz="457200">
                        <a:lnSpc>
                          <a:spcPct val="100000"/>
                        </a:lnSpc>
                      </a:pPr>
                      <a:r>
                        <a:rPr lang="en-US" sz="1500" b="0" u="none" strike="noStrike">
                          <a:solidFill>
                            <a:srgbClr val="4a4540"/>
                          </a:solidFill>
                          <a:effectLst/>
                          <a:uFillTx/>
                          <a:latin typeface="Calibri"/>
                        </a:rPr>
                        <a:t>Tests vangen regressies direct</a:t>
                      </a:r>
                      <a:endParaRPr lang="en-US" sz="15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f0ec"/>
                    </a:solidFill>
                  </a:tcPr>
                </a:tc>
              </a:tr>
              <a:tr h="457200">
                <a:tc>
                  <a:txBody>
                    <a:bodyPr anchor="t">
                      <a:noAutofit/>
                    </a:bodyPr>
                    <a:p>
                      <a:pPr defTabSz="457200">
                        <a:lnSpc>
                          <a:spcPct val="100000"/>
                        </a:lnSpc>
                      </a:pPr>
                      <a:r>
                        <a:rPr lang="en-US" sz="1500" b="0" u="none" strike="noStrike">
                          <a:solidFill>
                            <a:srgbClr val="4a4540"/>
                          </a:solidFill>
                          <a:effectLst/>
                          <a:uFillTx/>
                          <a:latin typeface="Calibri"/>
                        </a:rPr>
                        <a:t>AI gebruikt andere patronen</a:t>
                      </a:r>
                      <a:endParaRPr lang="en-US" sz="15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500" b="0" u="none" strike="noStrike">
                          <a:solidFill>
                            <a:srgbClr val="4a4540"/>
                          </a:solidFill>
                          <a:effectLst/>
                          <a:uFillTx/>
                          <a:latin typeface="Calibri"/>
                        </a:rPr>
                        <a:t>Plan + codebase scan dwingen af</a:t>
                      </a:r>
                      <a:endParaRPr lang="en-US" sz="15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anchor="t">
                      <a:noAutofit/>
                    </a:bodyPr>
                    <a:p>
                      <a:pPr defTabSz="457200">
                        <a:lnSpc>
                          <a:spcPct val="100000"/>
                        </a:lnSpc>
                      </a:pPr>
                      <a:r>
                        <a:rPr lang="en-US" sz="1500" b="0" u="none" strike="noStrike">
                          <a:solidFill>
                            <a:srgbClr val="4a4540"/>
                          </a:solidFill>
                          <a:effectLst/>
                          <a:uFillTx/>
                          <a:latin typeface="Calibri"/>
                        </a:rPr>
                        <a:t>AI voegt ongeplande features toe</a:t>
                      </a:r>
                      <a:endParaRPr lang="en-US" sz="15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f0ec"/>
                    </a:solidFill>
                  </a:tcPr>
                </a:tc>
                <a:tc>
                  <a:txBody>
                    <a:bodyPr anchor="t">
                      <a:noAutofit/>
                    </a:bodyPr>
                    <a:p>
                      <a:pPr defTabSz="457200">
                        <a:lnSpc>
                          <a:spcPct val="100000"/>
                        </a:lnSpc>
                      </a:pPr>
                      <a:r>
                        <a:rPr lang="en-US" sz="1500" b="0" u="none" strike="noStrike">
                          <a:solidFill>
                            <a:srgbClr val="4a4540"/>
                          </a:solidFill>
                          <a:effectLst/>
                          <a:uFillTx/>
                          <a:latin typeface="Calibri"/>
                        </a:rPr>
                        <a:t>Plan met "Out of Scope" sectie</a:t>
                      </a:r>
                      <a:endParaRPr lang="en-US" sz="15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f0ec"/>
                    </a:solidFill>
                  </a:tcPr>
                </a:tc>
              </a:tr>
              <a:tr h="457200">
                <a:tc>
                  <a:txBody>
                    <a:bodyPr anchor="t">
                      <a:noAutofit/>
                    </a:bodyPr>
                    <a:p>
                      <a:pPr defTabSz="457200">
                        <a:lnSpc>
                          <a:spcPct val="100000"/>
                        </a:lnSpc>
                      </a:pPr>
                      <a:r>
                        <a:rPr lang="en-US" sz="1500" b="0" u="none" strike="noStrike">
                          <a:solidFill>
                            <a:srgbClr val="4a4540"/>
                          </a:solidFill>
                          <a:effectLst/>
                          <a:uFillTx/>
                          <a:latin typeface="Calibri"/>
                        </a:rPr>
                        <a:t>AI draait bewuste keuzes terug</a:t>
                      </a:r>
                      <a:endParaRPr lang="en-US" sz="15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500" b="0" u="none" strike="noStrike">
                          <a:solidFill>
                            <a:srgbClr val="4a4540"/>
                          </a:solidFill>
                          <a:effectLst/>
                          <a:uFillTx/>
                          <a:latin typeface="Calibri"/>
                        </a:rPr>
                        <a:t>ADRs documenteren het waarom</a:t>
                      </a:r>
                      <a:endParaRPr lang="en-US" sz="15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vortex/>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d8b6b"/>
        </a:solidFill>
      </p:bgPr>
    </p:bg>
    <p:spTree>
      <p:nvGrpSpPr>
        <p:cNvPr id="1" name=""/>
        <p:cNvGrpSpPr/>
        <p:nvPr/>
      </p:nvGrpSpPr>
      <p:grpSpPr>
        <a:xfrm>
          <a:off x="0" y="0"/>
          <a:ext cx="0" cy="0"/>
          <a:chOff x="0" y="0"/>
          <a:chExt cx="0" cy="0"/>
        </a:xfrm>
      </p:grpSpPr>
      <p:sp>
        <p:nvSpPr>
          <p:cNvPr id="203" name="TextBox 1"/>
          <p:cNvSpPr/>
          <p:nvPr/>
        </p:nvSpPr>
        <p:spPr>
          <a:xfrm>
            <a:off x="1371600" y="1828800"/>
            <a:ext cx="914292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c8ded2"/>
                </a:solidFill>
                <a:effectLst/>
                <a:uFillTx/>
                <a:latin typeface="Calibri"/>
              </a:rPr>
              <a:t>DEEL 3</a:t>
            </a:r>
            <a:endParaRPr lang="en-US" sz="2400" b="0" u="none" strike="noStrike">
              <a:solidFill>
                <a:srgbClr val="ffffff"/>
              </a:solidFill>
              <a:effectLst/>
              <a:uFillTx/>
              <a:latin typeface="Arial"/>
            </a:endParaRPr>
          </a:p>
        </p:txBody>
      </p:sp>
      <p:sp>
        <p:nvSpPr>
          <p:cNvPr id="204" name="TextBox 2"/>
          <p:cNvSpPr/>
          <p:nvPr/>
        </p:nvSpPr>
        <p:spPr>
          <a:xfrm>
            <a:off x="1371600" y="2468880"/>
            <a:ext cx="914292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800" b="1" u="none" strike="noStrike">
                <a:solidFill>
                  <a:srgbClr val="ffffff"/>
                </a:solidFill>
                <a:effectLst/>
                <a:uFillTx/>
                <a:latin typeface="Calibri"/>
              </a:rPr>
              <a:t>Toepassen en Valkuilen</a:t>
            </a:r>
            <a:endParaRPr lang="en-US" sz="4800" b="0" u="none" strike="noStrike">
              <a:solidFill>
                <a:srgbClr val="ffffff"/>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205"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06"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De vijf belangrijkste lessen</a:t>
            </a:r>
            <a:endParaRPr lang="en-US" sz="3800" b="0" u="none" strike="noStrike">
              <a:solidFill>
                <a:srgbClr val="000000"/>
              </a:solidFill>
              <a:effectLst/>
              <a:uFillTx/>
              <a:latin typeface="Arial"/>
            </a:endParaRPr>
          </a:p>
        </p:txBody>
      </p:sp>
      <p:sp>
        <p:nvSpPr>
          <p:cNvPr id="207" name="Oval 3"/>
          <p:cNvSpPr/>
          <p:nvPr/>
        </p:nvSpPr>
        <p:spPr>
          <a:xfrm>
            <a:off x="914400" y="1417320"/>
            <a:ext cx="501840" cy="50184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000" b="1" u="none" strike="noStrike">
                <a:solidFill>
                  <a:srgbClr val="ffffff"/>
                </a:solidFill>
                <a:effectLst/>
                <a:uFillTx/>
                <a:latin typeface="Calibri"/>
              </a:rPr>
              <a:t>1</a:t>
            </a:r>
            <a:endParaRPr lang="en-US" sz="2000" b="0" u="none" strike="noStrike">
              <a:solidFill>
                <a:srgbClr val="ffffff"/>
              </a:solidFill>
              <a:effectLst/>
              <a:uFillTx/>
              <a:latin typeface="Arial"/>
            </a:endParaRPr>
          </a:p>
        </p:txBody>
      </p:sp>
      <p:sp>
        <p:nvSpPr>
          <p:cNvPr id="208" name="TextBox 4"/>
          <p:cNvSpPr/>
          <p:nvPr/>
        </p:nvSpPr>
        <p:spPr>
          <a:xfrm>
            <a:off x="1645920" y="1371600"/>
            <a:ext cx="914292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1" u="none" strike="noStrike">
                <a:solidFill>
                  <a:srgbClr val="4a4540"/>
                </a:solidFill>
                <a:effectLst/>
                <a:uFillTx/>
                <a:latin typeface="Calibri"/>
              </a:rPr>
              <a:t>Als het niet in een bestand staat, bestaat het niet</a:t>
            </a:r>
            <a:endParaRPr lang="en-US" sz="2200" b="0" u="none" strike="noStrike">
              <a:solidFill>
                <a:srgbClr val="000000"/>
              </a:solidFill>
              <a:effectLst/>
              <a:uFillTx/>
              <a:latin typeface="Arial"/>
            </a:endParaRPr>
          </a:p>
        </p:txBody>
      </p:sp>
      <p:sp>
        <p:nvSpPr>
          <p:cNvPr id="209" name="TextBox 5"/>
          <p:cNvSpPr/>
          <p:nvPr/>
        </p:nvSpPr>
        <p:spPr>
          <a:xfrm>
            <a:off x="1645920" y="1783080"/>
            <a:ext cx="9142920" cy="364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6b655e"/>
                </a:solidFill>
                <a:effectLst/>
                <a:uFillTx/>
                <a:latin typeface="Calibri"/>
              </a:rPr>
              <a:t>Elke AI-sessie begint leeg. Context die alleen in je hoofd zit, gaat verloren.</a:t>
            </a:r>
            <a:endParaRPr lang="en-US" sz="1700" b="0" u="none" strike="noStrike">
              <a:solidFill>
                <a:srgbClr val="000000"/>
              </a:solidFill>
              <a:effectLst/>
              <a:uFillTx/>
              <a:latin typeface="Arial"/>
            </a:endParaRPr>
          </a:p>
        </p:txBody>
      </p:sp>
      <p:sp>
        <p:nvSpPr>
          <p:cNvPr id="210" name="Oval 6"/>
          <p:cNvSpPr/>
          <p:nvPr/>
        </p:nvSpPr>
        <p:spPr>
          <a:xfrm>
            <a:off x="914400" y="2468880"/>
            <a:ext cx="501840" cy="50184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000" b="1" u="none" strike="noStrike">
                <a:solidFill>
                  <a:srgbClr val="ffffff"/>
                </a:solidFill>
                <a:effectLst/>
                <a:uFillTx/>
                <a:latin typeface="Calibri"/>
              </a:rPr>
              <a:t>2</a:t>
            </a:r>
            <a:endParaRPr lang="en-US" sz="2000" b="0" u="none" strike="noStrike">
              <a:solidFill>
                <a:srgbClr val="ffffff"/>
              </a:solidFill>
              <a:effectLst/>
              <a:uFillTx/>
              <a:latin typeface="Arial"/>
            </a:endParaRPr>
          </a:p>
        </p:txBody>
      </p:sp>
      <p:sp>
        <p:nvSpPr>
          <p:cNvPr id="211" name="TextBox 7"/>
          <p:cNvSpPr/>
          <p:nvPr/>
        </p:nvSpPr>
        <p:spPr>
          <a:xfrm>
            <a:off x="1645920" y="2423160"/>
            <a:ext cx="914292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1" u="none" strike="noStrike">
                <a:solidFill>
                  <a:srgbClr val="4a4540"/>
                </a:solidFill>
                <a:effectLst/>
                <a:uFillTx/>
                <a:latin typeface="Calibri"/>
              </a:rPr>
              <a:t>Maak specs testbaar</a:t>
            </a:r>
            <a:endParaRPr lang="en-US" sz="2200" b="0" u="none" strike="noStrike">
              <a:solidFill>
                <a:srgbClr val="000000"/>
              </a:solidFill>
              <a:effectLst/>
              <a:uFillTx/>
              <a:latin typeface="Arial"/>
            </a:endParaRPr>
          </a:p>
        </p:txBody>
      </p:sp>
      <p:sp>
        <p:nvSpPr>
          <p:cNvPr id="212" name="TextBox 8"/>
          <p:cNvSpPr/>
          <p:nvPr/>
        </p:nvSpPr>
        <p:spPr>
          <a:xfrm>
            <a:off x="1645920" y="2834640"/>
            <a:ext cx="9142920" cy="364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6b655e"/>
                </a:solidFill>
                <a:effectLst/>
                <a:uFillTx/>
                <a:latin typeface="Calibri"/>
              </a:rPr>
              <a:t>Als je het niet in een test kunt uitdrukken, is de spec te vaag.</a:t>
            </a:r>
            <a:endParaRPr lang="en-US" sz="1700" b="0" u="none" strike="noStrike">
              <a:solidFill>
                <a:srgbClr val="000000"/>
              </a:solidFill>
              <a:effectLst/>
              <a:uFillTx/>
              <a:latin typeface="Arial"/>
            </a:endParaRPr>
          </a:p>
        </p:txBody>
      </p:sp>
      <p:sp>
        <p:nvSpPr>
          <p:cNvPr id="213" name="Oval 9"/>
          <p:cNvSpPr/>
          <p:nvPr/>
        </p:nvSpPr>
        <p:spPr>
          <a:xfrm>
            <a:off x="914400" y="3520440"/>
            <a:ext cx="501840" cy="50184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000" b="1" u="none" strike="noStrike">
                <a:solidFill>
                  <a:srgbClr val="ffffff"/>
                </a:solidFill>
                <a:effectLst/>
                <a:uFillTx/>
                <a:latin typeface="Calibri"/>
              </a:rPr>
              <a:t>3</a:t>
            </a:r>
            <a:endParaRPr lang="en-US" sz="2000" b="0" u="none" strike="noStrike">
              <a:solidFill>
                <a:srgbClr val="ffffff"/>
              </a:solidFill>
              <a:effectLst/>
              <a:uFillTx/>
              <a:latin typeface="Arial"/>
            </a:endParaRPr>
          </a:p>
        </p:txBody>
      </p:sp>
      <p:sp>
        <p:nvSpPr>
          <p:cNvPr id="214" name="TextBox 10"/>
          <p:cNvSpPr/>
          <p:nvPr/>
        </p:nvSpPr>
        <p:spPr>
          <a:xfrm>
            <a:off x="1645920" y="3474720"/>
            <a:ext cx="914292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1" u="none" strike="noStrike">
                <a:solidFill>
                  <a:srgbClr val="4a4540"/>
                </a:solidFill>
                <a:effectLst/>
                <a:uFillTx/>
                <a:latin typeface="Calibri"/>
              </a:rPr>
              <a:t>Schrijf ADRs op het moment van de beslissing</a:t>
            </a:r>
            <a:endParaRPr lang="en-US" sz="2200" b="0" u="none" strike="noStrike">
              <a:solidFill>
                <a:srgbClr val="000000"/>
              </a:solidFill>
              <a:effectLst/>
              <a:uFillTx/>
              <a:latin typeface="Arial"/>
            </a:endParaRPr>
          </a:p>
        </p:txBody>
      </p:sp>
      <p:sp>
        <p:nvSpPr>
          <p:cNvPr id="215" name="TextBox 11"/>
          <p:cNvSpPr/>
          <p:nvPr/>
        </p:nvSpPr>
        <p:spPr>
          <a:xfrm>
            <a:off x="1645920" y="3886200"/>
            <a:ext cx="9142920" cy="364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6b655e"/>
                </a:solidFill>
                <a:effectLst/>
                <a:uFillTx/>
                <a:latin typeface="Calibri"/>
              </a:rPr>
              <a:t>Achteraf mis je de alternatieven die je hebt overwogen.</a:t>
            </a:r>
            <a:endParaRPr lang="en-US" sz="1700" b="0" u="none" strike="noStrike">
              <a:solidFill>
                <a:srgbClr val="000000"/>
              </a:solidFill>
              <a:effectLst/>
              <a:uFillTx/>
              <a:latin typeface="Arial"/>
            </a:endParaRPr>
          </a:p>
        </p:txBody>
      </p:sp>
      <p:sp>
        <p:nvSpPr>
          <p:cNvPr id="216" name="Oval 12"/>
          <p:cNvSpPr/>
          <p:nvPr/>
        </p:nvSpPr>
        <p:spPr>
          <a:xfrm>
            <a:off x="914400" y="4572000"/>
            <a:ext cx="501840" cy="50184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000" b="1" u="none" strike="noStrike">
                <a:solidFill>
                  <a:srgbClr val="ffffff"/>
                </a:solidFill>
                <a:effectLst/>
                <a:uFillTx/>
                <a:latin typeface="Calibri"/>
              </a:rPr>
              <a:t>4</a:t>
            </a:r>
            <a:endParaRPr lang="en-US" sz="2000" b="0" u="none" strike="noStrike">
              <a:solidFill>
                <a:srgbClr val="ffffff"/>
              </a:solidFill>
              <a:effectLst/>
              <a:uFillTx/>
              <a:latin typeface="Arial"/>
            </a:endParaRPr>
          </a:p>
        </p:txBody>
      </p:sp>
      <p:sp>
        <p:nvSpPr>
          <p:cNvPr id="217" name="TextBox 13"/>
          <p:cNvSpPr/>
          <p:nvPr/>
        </p:nvSpPr>
        <p:spPr>
          <a:xfrm>
            <a:off x="1645920" y="4526280"/>
            <a:ext cx="914292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1" u="none" strike="noStrike">
                <a:solidFill>
                  <a:srgbClr val="4a4540"/>
                </a:solidFill>
                <a:effectLst/>
                <a:uFillTx/>
                <a:latin typeface="Calibri"/>
              </a:rPr>
              <a:t>Houd sessies klein</a:t>
            </a:r>
            <a:endParaRPr lang="en-US" sz="2200" b="0" u="none" strike="noStrike">
              <a:solidFill>
                <a:srgbClr val="000000"/>
              </a:solidFill>
              <a:effectLst/>
              <a:uFillTx/>
              <a:latin typeface="Arial"/>
            </a:endParaRPr>
          </a:p>
        </p:txBody>
      </p:sp>
      <p:sp>
        <p:nvSpPr>
          <p:cNvPr id="218" name="TextBox 14"/>
          <p:cNvSpPr/>
          <p:nvPr/>
        </p:nvSpPr>
        <p:spPr>
          <a:xfrm>
            <a:off x="1645920" y="4937760"/>
            <a:ext cx="9142920" cy="364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6b655e"/>
                </a:solidFill>
                <a:effectLst/>
                <a:uFillTx/>
                <a:latin typeface="Calibri"/>
              </a:rPr>
              <a:t>Kleine fases houden sessies beheersbaar en voorkomen context compressie.</a:t>
            </a:r>
            <a:endParaRPr lang="en-US" sz="1700" b="0" u="none" strike="noStrike">
              <a:solidFill>
                <a:srgbClr val="000000"/>
              </a:solidFill>
              <a:effectLst/>
              <a:uFillTx/>
              <a:latin typeface="Arial"/>
            </a:endParaRPr>
          </a:p>
        </p:txBody>
      </p:sp>
      <p:sp>
        <p:nvSpPr>
          <p:cNvPr id="219" name="Oval 15"/>
          <p:cNvSpPr/>
          <p:nvPr/>
        </p:nvSpPr>
        <p:spPr>
          <a:xfrm>
            <a:off x="914400" y="5623560"/>
            <a:ext cx="501840" cy="50184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000" b="1" u="none" strike="noStrike">
                <a:solidFill>
                  <a:srgbClr val="ffffff"/>
                </a:solidFill>
                <a:effectLst/>
                <a:uFillTx/>
                <a:latin typeface="Calibri"/>
              </a:rPr>
              <a:t>5</a:t>
            </a:r>
            <a:endParaRPr lang="en-US" sz="2000" b="0" u="none" strike="noStrike">
              <a:solidFill>
                <a:srgbClr val="ffffff"/>
              </a:solidFill>
              <a:effectLst/>
              <a:uFillTx/>
              <a:latin typeface="Arial"/>
            </a:endParaRPr>
          </a:p>
        </p:txBody>
      </p:sp>
      <p:sp>
        <p:nvSpPr>
          <p:cNvPr id="220" name="TextBox 16"/>
          <p:cNvSpPr/>
          <p:nvPr/>
        </p:nvSpPr>
        <p:spPr>
          <a:xfrm>
            <a:off x="1645920" y="5577840"/>
            <a:ext cx="914292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1" u="none" strike="noStrike">
                <a:solidFill>
                  <a:srgbClr val="4a4540"/>
                </a:solidFill>
                <a:effectLst/>
                <a:uFillTx/>
                <a:latin typeface="Calibri"/>
              </a:rPr>
              <a:t>Jij blijft de architect</a:t>
            </a:r>
            <a:endParaRPr lang="en-US" sz="2200" b="0" u="none" strike="noStrike">
              <a:solidFill>
                <a:srgbClr val="000000"/>
              </a:solidFill>
              <a:effectLst/>
              <a:uFillTx/>
              <a:latin typeface="Arial"/>
            </a:endParaRPr>
          </a:p>
        </p:txBody>
      </p:sp>
      <p:sp>
        <p:nvSpPr>
          <p:cNvPr id="221" name="TextBox 17"/>
          <p:cNvSpPr/>
          <p:nvPr/>
        </p:nvSpPr>
        <p:spPr>
          <a:xfrm>
            <a:off x="1645920" y="5989320"/>
            <a:ext cx="9142920" cy="364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6b655e"/>
                </a:solidFill>
                <a:effectLst/>
                <a:uFillTx/>
                <a:latin typeface="Calibri"/>
              </a:rPr>
              <a:t>Review, denk mee, stel vragen. Blind vertrouwen leidt tot blinde vlekken.</a:t>
            </a:r>
            <a:endParaRPr lang="en-US" sz="17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222"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23"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Hoe begin je?</a:t>
            </a:r>
            <a:endParaRPr lang="en-US" sz="3800" b="0" u="none" strike="noStrike">
              <a:solidFill>
                <a:srgbClr val="000000"/>
              </a:solidFill>
              <a:effectLst/>
              <a:uFillTx/>
              <a:latin typeface="Arial"/>
            </a:endParaRPr>
          </a:p>
        </p:txBody>
      </p:sp>
      <p:sp>
        <p:nvSpPr>
          <p:cNvPr id="224" name="TextBox 3"/>
          <p:cNvSpPr/>
          <p:nvPr/>
        </p:nvSpPr>
        <p:spPr>
          <a:xfrm>
            <a:off x="914400" y="1280160"/>
            <a:ext cx="1005732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0" u="none" strike="noStrike">
                <a:solidFill>
                  <a:srgbClr val="6b655e"/>
                </a:solidFill>
                <a:effectLst/>
                <a:uFillTx/>
                <a:latin typeface="Calibri"/>
              </a:rPr>
              <a:t>Je hebt geen speciale tooling nodig</a:t>
            </a:r>
            <a:endParaRPr lang="en-US" sz="2200" b="0" u="none" strike="noStrike">
              <a:solidFill>
                <a:srgbClr val="000000"/>
              </a:solidFill>
              <a:effectLst/>
              <a:uFillTx/>
              <a:latin typeface="Arial"/>
            </a:endParaRPr>
          </a:p>
        </p:txBody>
      </p:sp>
      <p:sp>
        <p:nvSpPr>
          <p:cNvPr id="225" name="TextBox 4"/>
          <p:cNvSpPr/>
          <p:nvPr/>
        </p:nvSpPr>
        <p:spPr>
          <a:xfrm>
            <a:off x="914400" y="2286000"/>
            <a:ext cx="10057320" cy="3656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2001"/>
              </a:spcAft>
            </a:pPr>
            <a:r>
              <a:rPr lang="en-US" sz="2200" b="0" u="none" strike="noStrike">
                <a:solidFill>
                  <a:srgbClr val="4a4540"/>
                </a:solidFill>
                <a:effectLst/>
                <a:uFillTx/>
                <a:latin typeface="Calibri"/>
              </a:rPr>
              <a:t>Start elke AI-sessie met context laden; geef relevante ADRs, het plan, en laat tests lezen</a:t>
            </a:r>
            <a:endParaRPr lang="en-US" sz="2200" b="0" u="none" strike="noStrike">
              <a:solidFill>
                <a:srgbClr val="000000"/>
              </a:solidFill>
              <a:effectLst/>
              <a:uFillTx/>
              <a:latin typeface="Arial"/>
            </a:endParaRPr>
          </a:p>
          <a:p>
            <a:pPr defTabSz="457200">
              <a:lnSpc>
                <a:spcPct val="100000"/>
              </a:lnSpc>
              <a:spcAft>
                <a:spcPts val="2001"/>
              </a:spcAft>
            </a:pPr>
            <a:r>
              <a:rPr lang="en-US" sz="2200" b="0" u="none" strike="noStrike">
                <a:solidFill>
                  <a:srgbClr val="4a4540"/>
                </a:solidFill>
                <a:effectLst/>
                <a:uFillTx/>
                <a:latin typeface="Calibri"/>
              </a:rPr>
              <a:t>Gebruik een CLAUDE.md (of equivalent); conventies, actieve plannen, verwijzingen naar ADRs</a:t>
            </a:r>
            <a:endParaRPr lang="en-US" sz="2200" b="0" u="none" strike="noStrike">
              <a:solidFill>
                <a:srgbClr val="000000"/>
              </a:solidFill>
              <a:effectLst/>
              <a:uFillTx/>
              <a:latin typeface="Arial"/>
            </a:endParaRPr>
          </a:p>
          <a:p>
            <a:pPr defTabSz="457200">
              <a:lnSpc>
                <a:spcPct val="100000"/>
              </a:lnSpc>
              <a:spcAft>
                <a:spcPts val="2001"/>
              </a:spcAft>
            </a:pPr>
            <a:r>
              <a:rPr lang="en-US" sz="2200" b="0" u="none" strike="noStrike">
                <a:solidFill>
                  <a:srgbClr val="4a4540"/>
                </a:solidFill>
                <a:effectLst/>
                <a:uFillTx/>
                <a:latin typeface="Calibri"/>
              </a:rPr>
              <a:t>Houd ADRs klein; een ADR per beslissing, niet een mega-document per feature</a:t>
            </a:r>
            <a:endParaRPr lang="en-US" sz="2200" b="0" u="none" strike="noStrike">
              <a:solidFill>
                <a:srgbClr val="000000"/>
              </a:solidFill>
              <a:effectLst/>
              <a:uFillTx/>
              <a:latin typeface="Arial"/>
            </a:endParaRPr>
          </a:p>
          <a:p>
            <a:pPr defTabSz="457200">
              <a:lnSpc>
                <a:spcPct val="100000"/>
              </a:lnSpc>
              <a:spcAft>
                <a:spcPts val="2001"/>
              </a:spcAft>
            </a:pPr>
            <a:r>
              <a:rPr lang="en-US" sz="2200" b="0" u="none" strike="noStrike">
                <a:solidFill>
                  <a:srgbClr val="4a4540"/>
                </a:solidFill>
                <a:effectLst/>
                <a:uFillTx/>
                <a:latin typeface="Calibri"/>
              </a:rPr>
              <a:t>Gebruik het plan als communicatiemiddel; niet alleen voor de AI, maar ook voor je team</a:t>
            </a:r>
            <a:endParaRPr lang="en-US" sz="22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226"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27"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Mithril in cijfers</a:t>
            </a:r>
            <a:endParaRPr lang="en-US" sz="3800" b="0" u="none" strike="noStrike">
              <a:solidFill>
                <a:srgbClr val="000000"/>
              </a:solidFill>
              <a:effectLst/>
              <a:uFillTx/>
              <a:latin typeface="Arial"/>
            </a:endParaRPr>
          </a:p>
        </p:txBody>
      </p:sp>
      <p:sp>
        <p:nvSpPr>
          <p:cNvPr id="228" name="TextBox 3"/>
          <p:cNvSpPr/>
          <p:nvPr/>
        </p:nvSpPr>
        <p:spPr>
          <a:xfrm>
            <a:off x="914400" y="1188720"/>
            <a:ext cx="1005732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0" u="none" strike="noStrike">
                <a:solidFill>
                  <a:srgbClr val="6b655e"/>
                </a:solidFill>
                <a:effectLst/>
                <a:uFillTx/>
                <a:latin typeface="Calibri"/>
              </a:rPr>
              <a:t>Gebouwd met consistente architectuur ondanks tientallen sessiewisselingen</a:t>
            </a:r>
            <a:endParaRPr lang="en-US" sz="2000" b="0" u="none" strike="noStrike">
              <a:solidFill>
                <a:srgbClr val="000000"/>
              </a:solidFill>
              <a:effectLst/>
              <a:uFillTx/>
              <a:latin typeface="Arial"/>
            </a:endParaRPr>
          </a:p>
        </p:txBody>
      </p:sp>
      <p:sp>
        <p:nvSpPr>
          <p:cNvPr id="229" name="Rounded Rectangle 4"/>
          <p:cNvSpPr/>
          <p:nvPr/>
        </p:nvSpPr>
        <p:spPr>
          <a:xfrm>
            <a:off x="914400" y="2286000"/>
            <a:ext cx="1644840" cy="22849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30" name="TextBox 5"/>
          <p:cNvSpPr/>
          <p:nvPr/>
        </p:nvSpPr>
        <p:spPr>
          <a:xfrm>
            <a:off x="1005840" y="2651760"/>
            <a:ext cx="146196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400" b="1" u="none" strike="noStrike">
                <a:solidFill>
                  <a:srgbClr val="3d8b6b"/>
                </a:solidFill>
                <a:effectLst/>
                <a:uFillTx/>
                <a:latin typeface="Calibri"/>
              </a:rPr>
              <a:t>418</a:t>
            </a:r>
            <a:endParaRPr lang="en-US" sz="4400" b="0" u="none" strike="noStrike">
              <a:solidFill>
                <a:srgbClr val="000000"/>
              </a:solidFill>
              <a:effectLst/>
              <a:uFillTx/>
              <a:latin typeface="Arial"/>
            </a:endParaRPr>
          </a:p>
        </p:txBody>
      </p:sp>
      <p:sp>
        <p:nvSpPr>
          <p:cNvPr id="231" name="TextBox 6"/>
          <p:cNvSpPr/>
          <p:nvPr/>
        </p:nvSpPr>
        <p:spPr>
          <a:xfrm>
            <a:off x="1005840" y="3657600"/>
            <a:ext cx="1461960" cy="547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800" b="0" u="none" strike="noStrike">
                <a:solidFill>
                  <a:srgbClr val="4a4540"/>
                </a:solidFill>
                <a:effectLst/>
                <a:uFillTx/>
                <a:latin typeface="Calibri"/>
              </a:rPr>
              <a:t>Commits</a:t>
            </a:r>
            <a:endParaRPr lang="en-US" sz="1800" b="0" u="none" strike="noStrike">
              <a:solidFill>
                <a:srgbClr val="000000"/>
              </a:solidFill>
              <a:effectLst/>
              <a:uFillTx/>
              <a:latin typeface="Arial"/>
            </a:endParaRPr>
          </a:p>
        </p:txBody>
      </p:sp>
      <p:sp>
        <p:nvSpPr>
          <p:cNvPr id="232" name="Rounded Rectangle 7"/>
          <p:cNvSpPr/>
          <p:nvPr/>
        </p:nvSpPr>
        <p:spPr>
          <a:xfrm>
            <a:off x="2788920" y="2286000"/>
            <a:ext cx="1644840" cy="22849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33" name="TextBox 8"/>
          <p:cNvSpPr/>
          <p:nvPr/>
        </p:nvSpPr>
        <p:spPr>
          <a:xfrm>
            <a:off x="2880360" y="2651760"/>
            <a:ext cx="146196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400" b="1" u="none" strike="noStrike">
                <a:solidFill>
                  <a:srgbClr val="3d8b6b"/>
                </a:solidFill>
                <a:effectLst/>
                <a:uFillTx/>
                <a:latin typeface="Calibri"/>
              </a:rPr>
              <a:t>4602</a:t>
            </a:r>
            <a:endParaRPr lang="en-US" sz="4400" b="0" u="none" strike="noStrike">
              <a:solidFill>
                <a:srgbClr val="000000"/>
              </a:solidFill>
              <a:effectLst/>
              <a:uFillTx/>
              <a:latin typeface="Arial"/>
            </a:endParaRPr>
          </a:p>
        </p:txBody>
      </p:sp>
      <p:sp>
        <p:nvSpPr>
          <p:cNvPr id="234" name="TextBox 9"/>
          <p:cNvSpPr/>
          <p:nvPr/>
        </p:nvSpPr>
        <p:spPr>
          <a:xfrm>
            <a:off x="2880360" y="3657600"/>
            <a:ext cx="1461960" cy="547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800" b="0" u="none" strike="noStrike">
                <a:solidFill>
                  <a:srgbClr val="4a4540"/>
                </a:solidFill>
                <a:effectLst/>
                <a:uFillTx/>
                <a:latin typeface="Calibri"/>
              </a:rPr>
              <a:t>Assertions</a:t>
            </a:r>
            <a:endParaRPr lang="en-US" sz="1800" b="0" u="none" strike="noStrike">
              <a:solidFill>
                <a:srgbClr val="000000"/>
              </a:solidFill>
              <a:effectLst/>
              <a:uFillTx/>
              <a:latin typeface="Arial"/>
            </a:endParaRPr>
          </a:p>
        </p:txBody>
      </p:sp>
      <p:sp>
        <p:nvSpPr>
          <p:cNvPr id="235" name="Rounded Rectangle 10"/>
          <p:cNvSpPr/>
          <p:nvPr/>
        </p:nvSpPr>
        <p:spPr>
          <a:xfrm>
            <a:off x="4663440" y="2286000"/>
            <a:ext cx="1644840" cy="22849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36" name="TextBox 11"/>
          <p:cNvSpPr/>
          <p:nvPr/>
        </p:nvSpPr>
        <p:spPr>
          <a:xfrm>
            <a:off x="4754880" y="2651760"/>
            <a:ext cx="146196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400" b="1" u="none" strike="noStrike">
                <a:solidFill>
                  <a:srgbClr val="3d8b6b"/>
                </a:solidFill>
                <a:effectLst/>
                <a:uFillTx/>
                <a:latin typeface="Calibri"/>
              </a:rPr>
              <a:t>2142</a:t>
            </a:r>
            <a:endParaRPr lang="en-US" sz="4400" b="0" u="none" strike="noStrike">
              <a:solidFill>
                <a:srgbClr val="000000"/>
              </a:solidFill>
              <a:effectLst/>
              <a:uFillTx/>
              <a:latin typeface="Arial"/>
            </a:endParaRPr>
          </a:p>
        </p:txBody>
      </p:sp>
      <p:sp>
        <p:nvSpPr>
          <p:cNvPr id="237" name="TextBox 12"/>
          <p:cNvSpPr/>
          <p:nvPr/>
        </p:nvSpPr>
        <p:spPr>
          <a:xfrm>
            <a:off x="4754880" y="3657600"/>
            <a:ext cx="1461960" cy="547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800" b="0" u="none" strike="noStrike">
                <a:solidFill>
                  <a:srgbClr val="4a4540"/>
                </a:solidFill>
                <a:effectLst/>
                <a:uFillTx/>
                <a:latin typeface="Calibri"/>
              </a:rPr>
              <a:t>Tests</a:t>
            </a:r>
            <a:endParaRPr lang="en-US" sz="1800" b="0" u="none" strike="noStrike">
              <a:solidFill>
                <a:srgbClr val="000000"/>
              </a:solidFill>
              <a:effectLst/>
              <a:uFillTx/>
              <a:latin typeface="Arial"/>
            </a:endParaRPr>
          </a:p>
        </p:txBody>
      </p:sp>
      <p:sp>
        <p:nvSpPr>
          <p:cNvPr id="238" name="Rounded Rectangle 13"/>
          <p:cNvSpPr/>
          <p:nvPr/>
        </p:nvSpPr>
        <p:spPr>
          <a:xfrm>
            <a:off x="6537960" y="2286000"/>
            <a:ext cx="1644840" cy="22849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39" name="TextBox 14"/>
          <p:cNvSpPr/>
          <p:nvPr/>
        </p:nvSpPr>
        <p:spPr>
          <a:xfrm>
            <a:off x="6629400" y="2651760"/>
            <a:ext cx="146196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400" b="1" u="none" strike="noStrike">
                <a:solidFill>
                  <a:srgbClr val="3d8b6b"/>
                </a:solidFill>
                <a:effectLst/>
                <a:uFillTx/>
                <a:latin typeface="Calibri"/>
              </a:rPr>
              <a:t>28</a:t>
            </a:r>
            <a:endParaRPr lang="en-US" sz="4400" b="0" u="none" strike="noStrike">
              <a:solidFill>
                <a:srgbClr val="000000"/>
              </a:solidFill>
              <a:effectLst/>
              <a:uFillTx/>
              <a:latin typeface="Arial"/>
            </a:endParaRPr>
          </a:p>
        </p:txBody>
      </p:sp>
      <p:sp>
        <p:nvSpPr>
          <p:cNvPr id="240" name="TextBox 15"/>
          <p:cNvSpPr/>
          <p:nvPr/>
        </p:nvSpPr>
        <p:spPr>
          <a:xfrm>
            <a:off x="6629400" y="3657600"/>
            <a:ext cx="1461960" cy="547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800" b="0" u="none" strike="noStrike">
                <a:solidFill>
                  <a:srgbClr val="4a4540"/>
                </a:solidFill>
                <a:effectLst/>
                <a:uFillTx/>
                <a:latin typeface="Calibri"/>
              </a:rPr>
              <a:t>ADRs</a:t>
            </a:r>
            <a:endParaRPr lang="en-US" sz="1800" b="0" u="none" strike="noStrike">
              <a:solidFill>
                <a:srgbClr val="000000"/>
              </a:solidFill>
              <a:effectLst/>
              <a:uFillTx/>
              <a:latin typeface="Arial"/>
            </a:endParaRPr>
          </a:p>
        </p:txBody>
      </p:sp>
      <p:sp>
        <p:nvSpPr>
          <p:cNvPr id="241" name="Rounded Rectangle 16"/>
          <p:cNvSpPr/>
          <p:nvPr/>
        </p:nvSpPr>
        <p:spPr>
          <a:xfrm>
            <a:off x="8412480" y="2286000"/>
            <a:ext cx="1644840" cy="22849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42" name="TextBox 17"/>
          <p:cNvSpPr/>
          <p:nvPr/>
        </p:nvSpPr>
        <p:spPr>
          <a:xfrm>
            <a:off x="8503920" y="2651760"/>
            <a:ext cx="146196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400" b="1" u="none" strike="noStrike">
                <a:solidFill>
                  <a:srgbClr val="3d8b6b"/>
                </a:solidFill>
                <a:effectLst/>
                <a:uFillTx/>
                <a:latin typeface="Calibri"/>
              </a:rPr>
              <a:t>19</a:t>
            </a:r>
            <a:endParaRPr lang="en-US" sz="4400" b="0" u="none" strike="noStrike">
              <a:solidFill>
                <a:srgbClr val="000000"/>
              </a:solidFill>
              <a:effectLst/>
              <a:uFillTx/>
              <a:latin typeface="Arial"/>
            </a:endParaRPr>
          </a:p>
        </p:txBody>
      </p:sp>
      <p:sp>
        <p:nvSpPr>
          <p:cNvPr id="243" name="TextBox 18"/>
          <p:cNvSpPr/>
          <p:nvPr/>
        </p:nvSpPr>
        <p:spPr>
          <a:xfrm>
            <a:off x="8503920" y="3657600"/>
            <a:ext cx="1461960" cy="547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800" b="0" u="none" strike="noStrike">
                <a:solidFill>
                  <a:srgbClr val="4a4540"/>
                </a:solidFill>
                <a:effectLst/>
                <a:uFillTx/>
                <a:latin typeface="Calibri"/>
              </a:rPr>
              <a:t>Plannen</a:t>
            </a:r>
            <a:endParaRPr lang="en-US" sz="1800" b="0" u="none" strike="noStrike">
              <a:solidFill>
                <a:srgbClr val="000000"/>
              </a:solidFill>
              <a:effectLst/>
              <a:uFillTx/>
              <a:latin typeface="Arial"/>
            </a:endParaRPr>
          </a:p>
        </p:txBody>
      </p:sp>
      <p:sp>
        <p:nvSpPr>
          <p:cNvPr id="244" name="Rounded Rectangle 19"/>
          <p:cNvSpPr/>
          <p:nvPr/>
        </p:nvSpPr>
        <p:spPr>
          <a:xfrm>
            <a:off x="10287000" y="2286000"/>
            <a:ext cx="1644840" cy="228492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45" name="TextBox 20"/>
          <p:cNvSpPr/>
          <p:nvPr/>
        </p:nvSpPr>
        <p:spPr>
          <a:xfrm>
            <a:off x="10378440" y="2651760"/>
            <a:ext cx="146196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400" b="1" u="none" strike="noStrike">
                <a:solidFill>
                  <a:srgbClr val="3d8b6b"/>
                </a:solidFill>
                <a:effectLst/>
                <a:uFillTx/>
                <a:latin typeface="Calibri"/>
              </a:rPr>
              <a:t>3</a:t>
            </a:r>
            <a:endParaRPr lang="en-US" sz="4400" b="0" u="none" strike="noStrike">
              <a:solidFill>
                <a:srgbClr val="000000"/>
              </a:solidFill>
              <a:effectLst/>
              <a:uFillTx/>
              <a:latin typeface="Arial"/>
            </a:endParaRPr>
          </a:p>
        </p:txBody>
      </p:sp>
      <p:sp>
        <p:nvSpPr>
          <p:cNvPr id="246" name="TextBox 21"/>
          <p:cNvSpPr/>
          <p:nvPr/>
        </p:nvSpPr>
        <p:spPr>
          <a:xfrm>
            <a:off x="10378440" y="3657600"/>
            <a:ext cx="1461960" cy="547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800" b="0" u="none" strike="noStrike">
                <a:solidFill>
                  <a:srgbClr val="4a4540"/>
                </a:solidFill>
                <a:effectLst/>
                <a:uFillTx/>
                <a:latin typeface="Calibri"/>
              </a:rPr>
              <a:t>Weken</a:t>
            </a:r>
            <a:endParaRPr lang="en-US" sz="18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d8b6b"/>
        </a:solidFill>
      </p:bgPr>
    </p:bg>
    <p:spTree>
      <p:nvGrpSpPr>
        <p:cNvPr id="1" name=""/>
        <p:cNvGrpSpPr/>
        <p:nvPr/>
      </p:nvGrpSpPr>
      <p:grpSpPr>
        <a:xfrm>
          <a:off x="0" y="0"/>
          <a:ext cx="0" cy="0"/>
          <a:chOff x="0" y="0"/>
          <a:chExt cx="0" cy="0"/>
        </a:xfrm>
      </p:grpSpPr>
      <p:sp>
        <p:nvSpPr>
          <p:cNvPr id="247" name="TextBox 1"/>
          <p:cNvSpPr/>
          <p:nvPr/>
        </p:nvSpPr>
        <p:spPr>
          <a:xfrm>
            <a:off x="1371600" y="1828800"/>
            <a:ext cx="914292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c8ded2"/>
                </a:solidFill>
                <a:effectLst/>
                <a:uFillTx/>
                <a:latin typeface="Calibri"/>
              </a:rPr>
              <a:t>DEEL 4</a:t>
            </a:r>
            <a:endParaRPr lang="en-US" sz="2400" b="0" u="none" strike="noStrike">
              <a:solidFill>
                <a:srgbClr val="ffffff"/>
              </a:solidFill>
              <a:effectLst/>
              <a:uFillTx/>
              <a:latin typeface="Arial"/>
            </a:endParaRPr>
          </a:p>
        </p:txBody>
      </p:sp>
      <p:sp>
        <p:nvSpPr>
          <p:cNvPr id="248" name="TextBox 2"/>
          <p:cNvSpPr/>
          <p:nvPr/>
        </p:nvSpPr>
        <p:spPr>
          <a:xfrm>
            <a:off x="1371600" y="2468880"/>
            <a:ext cx="914292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800" b="1" u="none" strike="noStrike">
                <a:solidFill>
                  <a:srgbClr val="ffffff"/>
                </a:solidFill>
                <a:effectLst/>
                <a:uFillTx/>
                <a:latin typeface="Calibri"/>
              </a:rPr>
              <a:t>ANVIL</a:t>
            </a:r>
            <a:endParaRPr lang="en-US" sz="4800" b="0" u="none" strike="noStrike">
              <a:solidFill>
                <a:srgbClr val="ffffff"/>
              </a:solidFill>
              <a:effectLst/>
              <a:uFillTx/>
              <a:latin typeface="Arial"/>
            </a:endParaRPr>
          </a:p>
        </p:txBody>
      </p:sp>
      <p:sp>
        <p:nvSpPr>
          <p:cNvPr id="249" name="TextBox 3"/>
          <p:cNvSpPr/>
          <p:nvPr/>
        </p:nvSpPr>
        <p:spPr>
          <a:xfrm>
            <a:off x="1371600" y="3931920"/>
            <a:ext cx="731412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0" u="none" strike="noStrike">
                <a:solidFill>
                  <a:srgbClr val="c8ded2"/>
                </a:solidFill>
                <a:effectLst/>
                <a:uFillTx/>
                <a:latin typeface="Calibri"/>
              </a:rPr>
              <a:t>Automated Nexus for Verified Iterative Lifecycles</a:t>
            </a:r>
            <a:endParaRPr lang="en-US" sz="2200" b="0" u="none" strike="noStrike">
              <a:solidFill>
                <a:srgbClr val="ffffff"/>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250"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51"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Van handmatig naar georchestreerd</a:t>
            </a:r>
            <a:endParaRPr lang="en-US" sz="3800" b="0" u="none" strike="noStrike">
              <a:solidFill>
                <a:srgbClr val="000000"/>
              </a:solidFill>
              <a:effectLst/>
              <a:uFillTx/>
              <a:latin typeface="Arial"/>
            </a:endParaRPr>
          </a:p>
        </p:txBody>
      </p:sp>
      <p:sp>
        <p:nvSpPr>
          <p:cNvPr id="252" name="TextBox 3"/>
          <p:cNvSpPr/>
          <p:nvPr/>
        </p:nvSpPr>
        <p:spPr>
          <a:xfrm>
            <a:off x="914400" y="1280160"/>
            <a:ext cx="1005732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200" b="0" u="none" strike="noStrike">
                <a:solidFill>
                  <a:srgbClr val="6b655e"/>
                </a:solidFill>
                <a:effectLst/>
                <a:uFillTx/>
                <a:latin typeface="Calibri"/>
              </a:rPr>
              <a:t>De vier lagen werken, maar vereisen discipline. Onder tijdsdruk slipt dat.</a:t>
            </a:r>
            <a:endParaRPr lang="en-US" sz="2200" b="0" u="none" strike="noStrike">
              <a:solidFill>
                <a:srgbClr val="000000"/>
              </a:solidFill>
              <a:effectLst/>
              <a:uFillTx/>
              <a:latin typeface="Arial"/>
            </a:endParaRPr>
          </a:p>
        </p:txBody>
      </p:sp>
      <p:sp>
        <p:nvSpPr>
          <p:cNvPr id="253" name="Rounded Rectangle 4"/>
          <p:cNvSpPr/>
          <p:nvPr/>
        </p:nvSpPr>
        <p:spPr>
          <a:xfrm>
            <a:off x="731520" y="2560320"/>
            <a:ext cx="1919160" cy="1461960"/>
          </a:xfrm>
          <a:prstGeom prst="roundRect">
            <a:avLst>
              <a:gd name="adj" fmla="val 16667"/>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000" b="1" u="none" strike="noStrike">
                <a:solidFill>
                  <a:srgbClr val="ffffff"/>
                </a:solidFill>
                <a:effectLst/>
                <a:uFillTx/>
                <a:latin typeface="Calibri"/>
              </a:rPr>
              <a:t>Research</a:t>
            </a:r>
            <a:endParaRPr lang="en-US" sz="2000" b="0" u="none" strike="noStrike">
              <a:solidFill>
                <a:srgbClr val="ffffff"/>
              </a:solidFill>
              <a:effectLst/>
              <a:uFillTx/>
              <a:latin typeface="Arial"/>
            </a:endParaRPr>
          </a:p>
          <a:p>
            <a:pPr algn="ctr" defTabSz="457200">
              <a:lnSpc>
                <a:spcPct val="100000"/>
              </a:lnSpc>
            </a:pPr>
            <a:r>
              <a:rPr lang="en-US" sz="1400" b="0" u="none" strike="noStrike">
                <a:solidFill>
                  <a:srgbClr val="c8ded2"/>
                </a:solidFill>
                <a:effectLst/>
                <a:uFillTx/>
                <a:latin typeface="Calibri"/>
              </a:rPr>
              <a:t>Analyst</a:t>
            </a:r>
            <a:endParaRPr lang="en-US" sz="1400" b="0" u="none" strike="noStrike">
              <a:solidFill>
                <a:srgbClr val="ffffff"/>
              </a:solidFill>
              <a:effectLst/>
              <a:uFillTx/>
              <a:latin typeface="Arial"/>
            </a:endParaRPr>
          </a:p>
        </p:txBody>
      </p:sp>
      <p:sp>
        <p:nvSpPr>
          <p:cNvPr id="254" name="TextBox 5"/>
          <p:cNvSpPr/>
          <p:nvPr/>
        </p:nvSpPr>
        <p:spPr>
          <a:xfrm>
            <a:off x="2651760" y="2926080"/>
            <a:ext cx="36468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800" b="1" u="none" strike="noStrike">
                <a:solidFill>
                  <a:srgbClr val="3d8b6b"/>
                </a:solidFill>
                <a:effectLst/>
                <a:uFillTx/>
                <a:latin typeface="Calibri"/>
              </a:rPr>
              <a:t>&gt;</a:t>
            </a:r>
            <a:endParaRPr lang="en-US" sz="2800" b="0" u="none" strike="noStrike">
              <a:solidFill>
                <a:srgbClr val="000000"/>
              </a:solidFill>
              <a:effectLst/>
              <a:uFillTx/>
              <a:latin typeface="Arial"/>
            </a:endParaRPr>
          </a:p>
        </p:txBody>
      </p:sp>
      <p:sp>
        <p:nvSpPr>
          <p:cNvPr id="255" name="Rounded Rectangle 6"/>
          <p:cNvSpPr/>
          <p:nvPr/>
        </p:nvSpPr>
        <p:spPr>
          <a:xfrm>
            <a:off x="3017520" y="2560320"/>
            <a:ext cx="1919160" cy="1461960"/>
          </a:xfrm>
          <a:prstGeom prst="roundRect">
            <a:avLst>
              <a:gd name="adj" fmla="val 16667"/>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000" b="1" u="none" strike="noStrike">
                <a:solidFill>
                  <a:srgbClr val="ffffff"/>
                </a:solidFill>
                <a:effectLst/>
                <a:uFillTx/>
                <a:latin typeface="Calibri"/>
              </a:rPr>
              <a:t>PRD</a:t>
            </a:r>
            <a:endParaRPr lang="en-US" sz="2000" b="0" u="none" strike="noStrike">
              <a:solidFill>
                <a:srgbClr val="ffffff"/>
              </a:solidFill>
              <a:effectLst/>
              <a:uFillTx/>
              <a:latin typeface="Arial"/>
            </a:endParaRPr>
          </a:p>
          <a:p>
            <a:pPr algn="ctr" defTabSz="457200">
              <a:lnSpc>
                <a:spcPct val="100000"/>
              </a:lnSpc>
            </a:pPr>
            <a:r>
              <a:rPr lang="en-US" sz="1400" b="0" u="none" strike="noStrike">
                <a:solidFill>
                  <a:srgbClr val="c8ded2"/>
                </a:solidFill>
                <a:effectLst/>
                <a:uFillTx/>
                <a:latin typeface="Calibri"/>
              </a:rPr>
              <a:t>Specifier</a:t>
            </a:r>
            <a:endParaRPr lang="en-US" sz="1400" b="0" u="none" strike="noStrike">
              <a:solidFill>
                <a:srgbClr val="ffffff"/>
              </a:solidFill>
              <a:effectLst/>
              <a:uFillTx/>
              <a:latin typeface="Arial"/>
            </a:endParaRPr>
          </a:p>
        </p:txBody>
      </p:sp>
      <p:sp>
        <p:nvSpPr>
          <p:cNvPr id="256" name="TextBox 7"/>
          <p:cNvSpPr/>
          <p:nvPr/>
        </p:nvSpPr>
        <p:spPr>
          <a:xfrm>
            <a:off x="4937760" y="2926080"/>
            <a:ext cx="36468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800" b="1" u="none" strike="noStrike">
                <a:solidFill>
                  <a:srgbClr val="3d8b6b"/>
                </a:solidFill>
                <a:effectLst/>
                <a:uFillTx/>
                <a:latin typeface="Calibri"/>
              </a:rPr>
              <a:t>&gt;</a:t>
            </a:r>
            <a:endParaRPr lang="en-US" sz="2800" b="0" u="none" strike="noStrike">
              <a:solidFill>
                <a:srgbClr val="000000"/>
              </a:solidFill>
              <a:effectLst/>
              <a:uFillTx/>
              <a:latin typeface="Arial"/>
            </a:endParaRPr>
          </a:p>
        </p:txBody>
      </p:sp>
      <p:sp>
        <p:nvSpPr>
          <p:cNvPr id="257" name="Rounded Rectangle 8"/>
          <p:cNvSpPr/>
          <p:nvPr/>
        </p:nvSpPr>
        <p:spPr>
          <a:xfrm>
            <a:off x="5303520" y="2560320"/>
            <a:ext cx="1919160" cy="1461960"/>
          </a:xfrm>
          <a:prstGeom prst="roundRect">
            <a:avLst>
              <a:gd name="adj" fmla="val 16667"/>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000" b="1" u="none" strike="noStrike">
                <a:solidFill>
                  <a:srgbClr val="ffffff"/>
                </a:solidFill>
                <a:effectLst/>
                <a:uFillTx/>
                <a:latin typeface="Calibri"/>
              </a:rPr>
              <a:t>Plan</a:t>
            </a:r>
            <a:endParaRPr lang="en-US" sz="2000" b="0" u="none" strike="noStrike">
              <a:solidFill>
                <a:srgbClr val="ffffff"/>
              </a:solidFill>
              <a:effectLst/>
              <a:uFillTx/>
              <a:latin typeface="Arial"/>
            </a:endParaRPr>
          </a:p>
          <a:p>
            <a:pPr algn="ctr" defTabSz="457200">
              <a:lnSpc>
                <a:spcPct val="100000"/>
              </a:lnSpc>
            </a:pPr>
            <a:r>
              <a:rPr lang="en-US" sz="1400" b="0" u="none" strike="noStrike">
                <a:solidFill>
                  <a:srgbClr val="c8ded2"/>
                </a:solidFill>
                <a:effectLst/>
                <a:uFillTx/>
                <a:latin typeface="Calibri"/>
              </a:rPr>
              <a:t>Architect</a:t>
            </a:r>
            <a:endParaRPr lang="en-US" sz="1400" b="0" u="none" strike="noStrike">
              <a:solidFill>
                <a:srgbClr val="ffffff"/>
              </a:solidFill>
              <a:effectLst/>
              <a:uFillTx/>
              <a:latin typeface="Arial"/>
            </a:endParaRPr>
          </a:p>
        </p:txBody>
      </p:sp>
      <p:sp>
        <p:nvSpPr>
          <p:cNvPr id="258" name="TextBox 9"/>
          <p:cNvSpPr/>
          <p:nvPr/>
        </p:nvSpPr>
        <p:spPr>
          <a:xfrm>
            <a:off x="7223760" y="2926080"/>
            <a:ext cx="36468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800" b="1" u="none" strike="noStrike">
                <a:solidFill>
                  <a:srgbClr val="3d8b6b"/>
                </a:solidFill>
                <a:effectLst/>
                <a:uFillTx/>
                <a:latin typeface="Calibri"/>
              </a:rPr>
              <a:t>&gt;</a:t>
            </a:r>
            <a:endParaRPr lang="en-US" sz="2800" b="0" u="none" strike="noStrike">
              <a:solidFill>
                <a:srgbClr val="000000"/>
              </a:solidFill>
              <a:effectLst/>
              <a:uFillTx/>
              <a:latin typeface="Arial"/>
            </a:endParaRPr>
          </a:p>
        </p:txBody>
      </p:sp>
      <p:sp>
        <p:nvSpPr>
          <p:cNvPr id="259" name="Rounded Rectangle 10"/>
          <p:cNvSpPr/>
          <p:nvPr/>
        </p:nvSpPr>
        <p:spPr>
          <a:xfrm>
            <a:off x="7589520" y="2560320"/>
            <a:ext cx="1919160" cy="1461960"/>
          </a:xfrm>
          <a:prstGeom prst="roundRect">
            <a:avLst>
              <a:gd name="adj" fmla="val 16667"/>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000" b="1" u="none" strike="noStrike">
                <a:solidFill>
                  <a:srgbClr val="ffffff"/>
                </a:solidFill>
                <a:effectLst/>
                <a:uFillTx/>
                <a:latin typeface="Calibri"/>
              </a:rPr>
              <a:t>Build</a:t>
            </a:r>
            <a:endParaRPr lang="en-US" sz="2000" b="0" u="none" strike="noStrike">
              <a:solidFill>
                <a:srgbClr val="ffffff"/>
              </a:solidFill>
              <a:effectLst/>
              <a:uFillTx/>
              <a:latin typeface="Arial"/>
            </a:endParaRPr>
          </a:p>
          <a:p>
            <a:pPr algn="ctr" defTabSz="457200">
              <a:lnSpc>
                <a:spcPct val="100000"/>
              </a:lnSpc>
            </a:pPr>
            <a:r>
              <a:rPr lang="en-US" sz="1400" b="0" u="none" strike="noStrike">
                <a:solidFill>
                  <a:srgbClr val="c8ded2"/>
                </a:solidFill>
                <a:effectLst/>
                <a:uFillTx/>
                <a:latin typeface="Calibri"/>
              </a:rPr>
              <a:t>Builder (TDD)</a:t>
            </a:r>
            <a:endParaRPr lang="en-US" sz="1400" b="0" u="none" strike="noStrike">
              <a:solidFill>
                <a:srgbClr val="ffffff"/>
              </a:solidFill>
              <a:effectLst/>
              <a:uFillTx/>
              <a:latin typeface="Arial"/>
            </a:endParaRPr>
          </a:p>
        </p:txBody>
      </p:sp>
      <p:sp>
        <p:nvSpPr>
          <p:cNvPr id="260" name="TextBox 11"/>
          <p:cNvSpPr/>
          <p:nvPr/>
        </p:nvSpPr>
        <p:spPr>
          <a:xfrm>
            <a:off x="9509760" y="2926080"/>
            <a:ext cx="36468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800" b="1" u="none" strike="noStrike">
                <a:solidFill>
                  <a:srgbClr val="3d8b6b"/>
                </a:solidFill>
                <a:effectLst/>
                <a:uFillTx/>
                <a:latin typeface="Calibri"/>
              </a:rPr>
              <a:t>&gt;</a:t>
            </a:r>
            <a:endParaRPr lang="en-US" sz="2800" b="0" u="none" strike="noStrike">
              <a:solidFill>
                <a:srgbClr val="000000"/>
              </a:solidFill>
              <a:effectLst/>
              <a:uFillTx/>
              <a:latin typeface="Arial"/>
            </a:endParaRPr>
          </a:p>
        </p:txBody>
      </p:sp>
      <p:sp>
        <p:nvSpPr>
          <p:cNvPr id="261" name="Rounded Rectangle 12"/>
          <p:cNvSpPr/>
          <p:nvPr/>
        </p:nvSpPr>
        <p:spPr>
          <a:xfrm>
            <a:off x="9875520" y="2560320"/>
            <a:ext cx="1919160" cy="1461960"/>
          </a:xfrm>
          <a:prstGeom prst="roundRect">
            <a:avLst>
              <a:gd name="adj" fmla="val 16667"/>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2000" b="1" u="none" strike="noStrike">
                <a:solidFill>
                  <a:srgbClr val="ffffff"/>
                </a:solidFill>
                <a:effectLst/>
                <a:uFillTx/>
                <a:latin typeface="Calibri"/>
              </a:rPr>
              <a:t>ADRs</a:t>
            </a:r>
            <a:endParaRPr lang="en-US" sz="2000" b="0" u="none" strike="noStrike">
              <a:solidFill>
                <a:srgbClr val="ffffff"/>
              </a:solidFill>
              <a:effectLst/>
              <a:uFillTx/>
              <a:latin typeface="Arial"/>
            </a:endParaRPr>
          </a:p>
          <a:p>
            <a:pPr algn="ctr" defTabSz="457200">
              <a:lnSpc>
                <a:spcPct val="100000"/>
              </a:lnSpc>
            </a:pPr>
            <a:r>
              <a:rPr lang="en-US" sz="1400" b="0" u="none" strike="noStrike">
                <a:solidFill>
                  <a:srgbClr val="c8ded2"/>
                </a:solidFill>
                <a:effectLst/>
                <a:uFillTx/>
                <a:latin typeface="Calibri"/>
              </a:rPr>
              <a:t>Automatisch</a:t>
            </a:r>
            <a:endParaRPr lang="en-US" sz="1400" b="0" u="none" strike="noStrike">
              <a:solidFill>
                <a:srgbClr val="ffffff"/>
              </a:solidFill>
              <a:effectLst/>
              <a:uFillTx/>
              <a:latin typeface="Arial"/>
            </a:endParaRPr>
          </a:p>
        </p:txBody>
      </p:sp>
      <p:sp>
        <p:nvSpPr>
          <p:cNvPr id="262" name="TextBox 13"/>
          <p:cNvSpPr/>
          <p:nvPr/>
        </p:nvSpPr>
        <p:spPr>
          <a:xfrm>
            <a:off x="914400" y="4572000"/>
            <a:ext cx="1005732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0" u="none" strike="noStrike">
                <a:solidFill>
                  <a:srgbClr val="4a4540"/>
                </a:solidFill>
                <a:effectLst/>
                <a:uFillTx/>
                <a:latin typeface="Calibri"/>
              </a:rPr>
              <a:t>Elke rol is een AI-agent met specifieke opdracht en regels.</a:t>
            </a:r>
            <a:br>
              <a:rPr sz="2000"/>
            </a:br>
            <a:r>
              <a:rPr lang="en-US" sz="2000" b="0" u="none" strike="noStrike">
                <a:solidFill>
                  <a:srgbClr val="4a4540"/>
                </a:solidFill>
                <a:effectLst/>
                <a:uFillTx/>
                <a:latin typeface="Calibri"/>
              </a:rPr>
              <a:t>De orchestrator stuurt aan, bewaakt voortgang, en houdt de gebruiker in controle.</a:t>
            </a:r>
            <a:endParaRPr lang="en-US" sz="20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263"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64"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Zes gespecialiseerde rollen</a:t>
            </a:r>
            <a:endParaRPr lang="en-US" sz="3800" b="0" u="none" strike="noStrike">
              <a:solidFill>
                <a:srgbClr val="000000"/>
              </a:solidFill>
              <a:effectLst/>
              <a:uFillTx/>
              <a:latin typeface="Arial"/>
            </a:endParaRPr>
          </a:p>
        </p:txBody>
      </p:sp>
      <p:sp>
        <p:nvSpPr>
          <p:cNvPr id="265" name="Rounded Rectangle 3"/>
          <p:cNvSpPr/>
          <p:nvPr/>
        </p:nvSpPr>
        <p:spPr>
          <a:xfrm>
            <a:off x="914400" y="1463040"/>
            <a:ext cx="3199320" cy="201060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66" name="TextBox 4"/>
          <p:cNvSpPr/>
          <p:nvPr/>
        </p:nvSpPr>
        <p:spPr>
          <a:xfrm>
            <a:off x="1188720" y="1645920"/>
            <a:ext cx="2742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3d8b6b"/>
                </a:solidFill>
                <a:effectLst/>
                <a:uFillTx/>
                <a:latin typeface="Calibri"/>
              </a:rPr>
              <a:t>Analyst</a:t>
            </a:r>
            <a:endParaRPr lang="en-US" sz="2400" b="0" u="none" strike="noStrike">
              <a:solidFill>
                <a:srgbClr val="000000"/>
              </a:solidFill>
              <a:effectLst/>
              <a:uFillTx/>
              <a:latin typeface="Arial"/>
            </a:endParaRPr>
          </a:p>
        </p:txBody>
      </p:sp>
      <p:sp>
        <p:nvSpPr>
          <p:cNvPr id="267" name="TextBox 5"/>
          <p:cNvSpPr/>
          <p:nvPr/>
        </p:nvSpPr>
        <p:spPr>
          <a:xfrm>
            <a:off x="1188720" y="2194560"/>
            <a:ext cx="2742120" cy="1096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4a4540"/>
                </a:solidFill>
                <a:effectLst/>
                <a:uFillTx/>
                <a:latin typeface="Calibri"/>
              </a:rPr>
              <a:t>Haalt requirements op uit</a:t>
            </a:r>
            <a:br>
              <a:rPr sz="1700"/>
            </a:br>
            <a:r>
              <a:rPr lang="en-US" sz="1700" b="0" u="none" strike="noStrike">
                <a:solidFill>
                  <a:srgbClr val="4a4540"/>
                </a:solidFill>
                <a:effectLst/>
                <a:uFillTx/>
                <a:latin typeface="Calibri"/>
              </a:rPr>
              <a:t>externe bronnen (bijv. Jira)</a:t>
            </a:r>
            <a:endParaRPr lang="en-US" sz="1700" b="0" u="none" strike="noStrike">
              <a:solidFill>
                <a:srgbClr val="000000"/>
              </a:solidFill>
              <a:effectLst/>
              <a:uFillTx/>
              <a:latin typeface="Arial"/>
            </a:endParaRPr>
          </a:p>
        </p:txBody>
      </p:sp>
      <p:sp>
        <p:nvSpPr>
          <p:cNvPr id="268" name="Rounded Rectangle 6"/>
          <p:cNvSpPr/>
          <p:nvPr/>
        </p:nvSpPr>
        <p:spPr>
          <a:xfrm>
            <a:off x="4572000" y="1463040"/>
            <a:ext cx="3199320" cy="201060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69" name="TextBox 7"/>
          <p:cNvSpPr/>
          <p:nvPr/>
        </p:nvSpPr>
        <p:spPr>
          <a:xfrm>
            <a:off x="4846320" y="1645920"/>
            <a:ext cx="2742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3d8b6b"/>
                </a:solidFill>
                <a:effectLst/>
                <a:uFillTx/>
                <a:latin typeface="Calibri"/>
              </a:rPr>
              <a:t>Specifier</a:t>
            </a:r>
            <a:endParaRPr lang="en-US" sz="2400" b="0" u="none" strike="noStrike">
              <a:solidFill>
                <a:srgbClr val="000000"/>
              </a:solidFill>
              <a:effectLst/>
              <a:uFillTx/>
              <a:latin typeface="Arial"/>
            </a:endParaRPr>
          </a:p>
        </p:txBody>
      </p:sp>
      <p:sp>
        <p:nvSpPr>
          <p:cNvPr id="270" name="TextBox 8"/>
          <p:cNvSpPr/>
          <p:nvPr/>
        </p:nvSpPr>
        <p:spPr>
          <a:xfrm>
            <a:off x="4846320" y="2194560"/>
            <a:ext cx="2742120" cy="1096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4a4540"/>
                </a:solidFill>
                <a:effectLst/>
                <a:uFillTx/>
                <a:latin typeface="Calibri"/>
              </a:rPr>
              <a:t>Schrijft en reviewt PRDs</a:t>
            </a:r>
            <a:endParaRPr lang="en-US" sz="1700" b="0" u="none" strike="noStrike">
              <a:solidFill>
                <a:srgbClr val="000000"/>
              </a:solidFill>
              <a:effectLst/>
              <a:uFillTx/>
              <a:latin typeface="Arial"/>
            </a:endParaRPr>
          </a:p>
        </p:txBody>
      </p:sp>
      <p:sp>
        <p:nvSpPr>
          <p:cNvPr id="271" name="Rounded Rectangle 9"/>
          <p:cNvSpPr/>
          <p:nvPr/>
        </p:nvSpPr>
        <p:spPr>
          <a:xfrm>
            <a:off x="8229600" y="1463040"/>
            <a:ext cx="3199320" cy="201060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72" name="TextBox 10"/>
          <p:cNvSpPr/>
          <p:nvPr/>
        </p:nvSpPr>
        <p:spPr>
          <a:xfrm>
            <a:off x="8503920" y="1645920"/>
            <a:ext cx="2742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3d8b6b"/>
                </a:solidFill>
                <a:effectLst/>
                <a:uFillTx/>
                <a:latin typeface="Calibri"/>
              </a:rPr>
              <a:t>Architect</a:t>
            </a:r>
            <a:endParaRPr lang="en-US" sz="2400" b="0" u="none" strike="noStrike">
              <a:solidFill>
                <a:srgbClr val="000000"/>
              </a:solidFill>
              <a:effectLst/>
              <a:uFillTx/>
              <a:latin typeface="Arial"/>
            </a:endParaRPr>
          </a:p>
        </p:txBody>
      </p:sp>
      <p:sp>
        <p:nvSpPr>
          <p:cNvPr id="273" name="TextBox 11"/>
          <p:cNvSpPr/>
          <p:nvPr/>
        </p:nvSpPr>
        <p:spPr>
          <a:xfrm>
            <a:off x="8503920" y="2194560"/>
            <a:ext cx="2742120" cy="1096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4a4540"/>
                </a:solidFill>
                <a:effectLst/>
                <a:uFillTx/>
                <a:latin typeface="Calibri"/>
              </a:rPr>
              <a:t>Maakt implementatieplannen</a:t>
            </a:r>
            <a:br>
              <a:rPr sz="1700"/>
            </a:br>
            <a:r>
              <a:rPr lang="en-US" sz="1700" b="0" u="none" strike="noStrike">
                <a:solidFill>
                  <a:srgbClr val="4a4540"/>
                </a:solidFill>
                <a:effectLst/>
                <a:uFillTx/>
                <a:latin typeface="Calibri"/>
              </a:rPr>
              <a:t>met fases en specs</a:t>
            </a:r>
            <a:endParaRPr lang="en-US" sz="1700" b="0" u="none" strike="noStrike">
              <a:solidFill>
                <a:srgbClr val="000000"/>
              </a:solidFill>
              <a:effectLst/>
              <a:uFillTx/>
              <a:latin typeface="Arial"/>
            </a:endParaRPr>
          </a:p>
        </p:txBody>
      </p:sp>
      <p:sp>
        <p:nvSpPr>
          <p:cNvPr id="274" name="Rounded Rectangle 12"/>
          <p:cNvSpPr/>
          <p:nvPr/>
        </p:nvSpPr>
        <p:spPr>
          <a:xfrm>
            <a:off x="914400" y="4023360"/>
            <a:ext cx="3199320" cy="201060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75" name="TextBox 13"/>
          <p:cNvSpPr/>
          <p:nvPr/>
        </p:nvSpPr>
        <p:spPr>
          <a:xfrm>
            <a:off x="1188720" y="4206240"/>
            <a:ext cx="2742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3d8b6b"/>
                </a:solidFill>
                <a:effectLst/>
                <a:uFillTx/>
                <a:latin typeface="Calibri"/>
              </a:rPr>
              <a:t>Builder</a:t>
            </a:r>
            <a:endParaRPr lang="en-US" sz="2400" b="0" u="none" strike="noStrike">
              <a:solidFill>
                <a:srgbClr val="000000"/>
              </a:solidFill>
              <a:effectLst/>
              <a:uFillTx/>
              <a:latin typeface="Arial"/>
            </a:endParaRPr>
          </a:p>
        </p:txBody>
      </p:sp>
      <p:sp>
        <p:nvSpPr>
          <p:cNvPr id="276" name="TextBox 14"/>
          <p:cNvSpPr/>
          <p:nvPr/>
        </p:nvSpPr>
        <p:spPr>
          <a:xfrm>
            <a:off x="1188720" y="4754880"/>
            <a:ext cx="2742120" cy="1096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4a4540"/>
                </a:solidFill>
                <a:effectLst/>
                <a:uFillTx/>
                <a:latin typeface="Calibri"/>
              </a:rPr>
              <a:t>Bouwt via TDD, kan parallel</a:t>
            </a:r>
            <a:br>
              <a:rPr sz="1700"/>
            </a:br>
            <a:r>
              <a:rPr lang="en-US" sz="1700" b="0" u="none" strike="noStrike">
                <a:solidFill>
                  <a:srgbClr val="4a4540"/>
                </a:solidFill>
                <a:effectLst/>
                <a:uFillTx/>
                <a:latin typeface="Calibri"/>
              </a:rPr>
              <a:t>werken in agent teams</a:t>
            </a:r>
            <a:endParaRPr lang="en-US" sz="1700" b="0" u="none" strike="noStrike">
              <a:solidFill>
                <a:srgbClr val="000000"/>
              </a:solidFill>
              <a:effectLst/>
              <a:uFillTx/>
              <a:latin typeface="Arial"/>
            </a:endParaRPr>
          </a:p>
        </p:txBody>
      </p:sp>
      <p:sp>
        <p:nvSpPr>
          <p:cNvPr id="277" name="Rounded Rectangle 15"/>
          <p:cNvSpPr/>
          <p:nvPr/>
        </p:nvSpPr>
        <p:spPr>
          <a:xfrm>
            <a:off x="4572000" y="4023360"/>
            <a:ext cx="3199320" cy="201060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78" name="TextBox 16"/>
          <p:cNvSpPr/>
          <p:nvPr/>
        </p:nvSpPr>
        <p:spPr>
          <a:xfrm>
            <a:off x="4846320" y="4206240"/>
            <a:ext cx="2742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3d8b6b"/>
                </a:solidFill>
                <a:effectLst/>
                <a:uFillTx/>
                <a:latin typeface="Calibri"/>
              </a:rPr>
              <a:t>Auditor</a:t>
            </a:r>
            <a:endParaRPr lang="en-US" sz="2400" b="0" u="none" strike="noStrike">
              <a:solidFill>
                <a:srgbClr val="000000"/>
              </a:solidFill>
              <a:effectLst/>
              <a:uFillTx/>
              <a:latin typeface="Arial"/>
            </a:endParaRPr>
          </a:p>
        </p:txBody>
      </p:sp>
      <p:sp>
        <p:nvSpPr>
          <p:cNvPr id="279" name="TextBox 17"/>
          <p:cNvSpPr/>
          <p:nvPr/>
        </p:nvSpPr>
        <p:spPr>
          <a:xfrm>
            <a:off x="4846320" y="4754880"/>
            <a:ext cx="2742120" cy="1096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4a4540"/>
                </a:solidFill>
                <a:effectLst/>
                <a:uFillTx/>
                <a:latin typeface="Calibri"/>
              </a:rPr>
              <a:t>OWASP security scans</a:t>
            </a:r>
            <a:br>
              <a:rPr sz="1700"/>
            </a:br>
            <a:r>
              <a:rPr lang="en-US" sz="1700" b="0" u="none" strike="noStrike">
                <a:solidFill>
                  <a:srgbClr val="4a4540"/>
                </a:solidFill>
                <a:effectLst/>
                <a:uFillTx/>
                <a:latin typeface="Calibri"/>
              </a:rPr>
              <a:t>op de codebase</a:t>
            </a:r>
            <a:endParaRPr lang="en-US" sz="1700" b="0" u="none" strike="noStrike">
              <a:solidFill>
                <a:srgbClr val="000000"/>
              </a:solidFill>
              <a:effectLst/>
              <a:uFillTx/>
              <a:latin typeface="Arial"/>
            </a:endParaRPr>
          </a:p>
        </p:txBody>
      </p:sp>
      <p:sp>
        <p:nvSpPr>
          <p:cNvPr id="280" name="Rounded Rectangle 18"/>
          <p:cNvSpPr/>
          <p:nvPr/>
        </p:nvSpPr>
        <p:spPr>
          <a:xfrm>
            <a:off x="8229600" y="4023360"/>
            <a:ext cx="3199320" cy="201060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81" name="TextBox 19"/>
          <p:cNvSpPr/>
          <p:nvPr/>
        </p:nvSpPr>
        <p:spPr>
          <a:xfrm>
            <a:off x="8503920" y="4206240"/>
            <a:ext cx="27421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3d8b6b"/>
                </a:solidFill>
                <a:effectLst/>
                <a:uFillTx/>
                <a:latin typeface="Calibri"/>
              </a:rPr>
              <a:t>Scribe</a:t>
            </a:r>
            <a:endParaRPr lang="en-US" sz="2400" b="0" u="none" strike="noStrike">
              <a:solidFill>
                <a:srgbClr val="000000"/>
              </a:solidFill>
              <a:effectLst/>
              <a:uFillTx/>
              <a:latin typeface="Arial"/>
            </a:endParaRPr>
          </a:p>
        </p:txBody>
      </p:sp>
      <p:sp>
        <p:nvSpPr>
          <p:cNvPr id="282" name="TextBox 20"/>
          <p:cNvSpPr/>
          <p:nvPr/>
        </p:nvSpPr>
        <p:spPr>
          <a:xfrm>
            <a:off x="8503920" y="4754880"/>
            <a:ext cx="2742120" cy="1096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4a4540"/>
                </a:solidFill>
                <a:effectLst/>
                <a:uFillTx/>
                <a:latin typeface="Calibri"/>
              </a:rPr>
              <a:t>Genereert documenten vanuit</a:t>
            </a:r>
            <a:br>
              <a:rPr sz="1700"/>
            </a:br>
            <a:r>
              <a:rPr lang="en-US" sz="1700" b="0" u="none" strike="noStrike">
                <a:solidFill>
                  <a:srgbClr val="4a4540"/>
                </a:solidFill>
                <a:effectLst/>
                <a:uFillTx/>
                <a:latin typeface="Calibri"/>
              </a:rPr>
              <a:t>de opgeleverde resultaten</a:t>
            </a:r>
            <a:endParaRPr lang="en-US" sz="17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283"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84"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Automatische bewaking via Hooks</a:t>
            </a:r>
            <a:endParaRPr lang="en-US" sz="3800" b="0" u="none" strike="noStrike">
              <a:solidFill>
                <a:srgbClr val="000000"/>
              </a:solidFill>
              <a:effectLst/>
              <a:uFillTx/>
              <a:latin typeface="Arial"/>
            </a:endParaRPr>
          </a:p>
        </p:txBody>
      </p:sp>
      <p:sp>
        <p:nvSpPr>
          <p:cNvPr id="285" name="TextBox 3"/>
          <p:cNvSpPr/>
          <p:nvPr/>
        </p:nvSpPr>
        <p:spPr>
          <a:xfrm>
            <a:off x="914400" y="1280160"/>
            <a:ext cx="1005732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0" u="none" strike="noStrike">
                <a:solidFill>
                  <a:srgbClr val="6b655e"/>
                </a:solidFill>
                <a:effectLst/>
                <a:uFillTx/>
                <a:latin typeface="Calibri"/>
              </a:rPr>
              <a:t>Twee PostToolUse hooks die real-time afdwingen wat anders op discipline leunt</a:t>
            </a:r>
            <a:endParaRPr lang="en-US" sz="2000" b="0" u="none" strike="noStrike">
              <a:solidFill>
                <a:srgbClr val="000000"/>
              </a:solidFill>
              <a:effectLst/>
              <a:uFillTx/>
              <a:latin typeface="Arial"/>
            </a:endParaRPr>
          </a:p>
        </p:txBody>
      </p:sp>
      <p:sp>
        <p:nvSpPr>
          <p:cNvPr id="286" name="Rounded Rectangle 4"/>
          <p:cNvSpPr/>
          <p:nvPr/>
        </p:nvSpPr>
        <p:spPr>
          <a:xfrm>
            <a:off x="914400" y="2103120"/>
            <a:ext cx="4845240" cy="292500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87" name="TextBox 5"/>
          <p:cNvSpPr/>
          <p:nvPr/>
        </p:nvSpPr>
        <p:spPr>
          <a:xfrm>
            <a:off x="1188720" y="2286000"/>
            <a:ext cx="42966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c0392b"/>
                </a:solidFill>
                <a:effectLst/>
                <a:uFillTx/>
                <a:latin typeface="Calibri"/>
              </a:rPr>
              <a:t>TDD Enforce</a:t>
            </a:r>
            <a:endParaRPr lang="en-US" sz="2000" b="0" u="none" strike="noStrike">
              <a:solidFill>
                <a:srgbClr val="000000"/>
              </a:solidFill>
              <a:effectLst/>
              <a:uFillTx/>
              <a:latin typeface="Arial"/>
            </a:endParaRPr>
          </a:p>
        </p:txBody>
      </p:sp>
      <p:sp>
        <p:nvSpPr>
          <p:cNvPr id="288" name="TextBox 6"/>
          <p:cNvSpPr/>
          <p:nvPr/>
        </p:nvSpPr>
        <p:spPr>
          <a:xfrm>
            <a:off x="1188720" y="2743200"/>
            <a:ext cx="4296600" cy="2102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4a4540"/>
                </a:solidFill>
                <a:effectLst/>
                <a:uFillTx/>
                <a:latin typeface="Calibri"/>
              </a:rPr>
              <a:t>Waarschuwt wanneer bronbestand</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gewijzigd wordt zonder testwijzigingen</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Dwingt Red-Green volgorde af:</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eerst tests, dan implementatie</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Melding op moment van edit,</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niet pas bij commit</a:t>
            </a:r>
            <a:endParaRPr lang="en-US" sz="1600" b="0" u="none" strike="noStrike">
              <a:solidFill>
                <a:srgbClr val="000000"/>
              </a:solidFill>
              <a:effectLst/>
              <a:uFillTx/>
              <a:latin typeface="Arial"/>
            </a:endParaRPr>
          </a:p>
        </p:txBody>
      </p:sp>
      <p:sp>
        <p:nvSpPr>
          <p:cNvPr id="289" name="Rounded Rectangle 7"/>
          <p:cNvSpPr/>
          <p:nvPr/>
        </p:nvSpPr>
        <p:spPr>
          <a:xfrm>
            <a:off x="6400800" y="2103120"/>
            <a:ext cx="4845240" cy="2925000"/>
          </a:xfrm>
          <a:prstGeom prst="roundRect">
            <a:avLst>
              <a:gd name="adj" fmla="val 16667"/>
            </a:avLst>
          </a:prstGeom>
          <a:solidFill>
            <a:srgbClr val="ffffff"/>
          </a:solidFill>
          <a:ln w="12700">
            <a:solidFill>
              <a:srgbClr val="d8d3c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90" name="TextBox 8"/>
          <p:cNvSpPr/>
          <p:nvPr/>
        </p:nvSpPr>
        <p:spPr>
          <a:xfrm>
            <a:off x="6675120" y="2286000"/>
            <a:ext cx="42966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c49a3c"/>
                </a:solidFill>
                <a:effectLst/>
                <a:uFillTx/>
                <a:latin typeface="Calibri"/>
              </a:rPr>
              <a:t>ADR Watch</a:t>
            </a:r>
            <a:endParaRPr lang="en-US" sz="2000" b="0" u="none" strike="noStrike">
              <a:solidFill>
                <a:srgbClr val="000000"/>
              </a:solidFill>
              <a:effectLst/>
              <a:uFillTx/>
              <a:latin typeface="Arial"/>
            </a:endParaRPr>
          </a:p>
        </p:txBody>
      </p:sp>
      <p:sp>
        <p:nvSpPr>
          <p:cNvPr id="291" name="TextBox 9"/>
          <p:cNvSpPr/>
          <p:nvPr/>
        </p:nvSpPr>
        <p:spPr>
          <a:xfrm>
            <a:off x="6675120" y="2743200"/>
            <a:ext cx="4296600" cy="2102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lang="en-US" sz="1600" b="0" u="none" strike="noStrike">
                <a:solidFill>
                  <a:srgbClr val="4a4540"/>
                </a:solidFill>
                <a:effectLst/>
                <a:uFillTx/>
                <a:latin typeface="Calibri"/>
              </a:rPr>
              <a:t>Waarschuwt wanneer bestand</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buiten actief plan wordt gewijzigd</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Voorkomt onbewuste scope creep</a:t>
            </a:r>
            <a:endParaRPr lang="en-US" sz="1600" b="0" u="none" strike="noStrike">
              <a:solidFill>
                <a:srgbClr val="000000"/>
              </a:solidFill>
              <a:effectLst/>
              <a:uFillTx/>
              <a:latin typeface="Arial"/>
            </a:endParaRPr>
          </a:p>
          <a:p>
            <a:pPr defTabSz="457200">
              <a:lnSpc>
                <a:spcPct val="100000"/>
              </a:lnSpc>
              <a:spcAft>
                <a:spcPts val="400"/>
              </a:spcAft>
            </a:pPr>
            <a:r>
              <a:rPr lang="en-US" sz="1600" b="0" u="none" strike="noStrike">
                <a:solidFill>
                  <a:srgbClr val="4a4540"/>
                </a:solidFill>
                <a:effectLst/>
                <a:uFillTx/>
                <a:latin typeface="Calibri"/>
              </a:rPr>
              <a:t>Informatief; blokkeert niet</a:t>
            </a:r>
            <a:endParaRPr lang="en-US" sz="1600" b="0" u="none" strike="noStrike">
              <a:solidFill>
                <a:srgbClr val="000000"/>
              </a:solidFill>
              <a:effectLst/>
              <a:uFillTx/>
              <a:latin typeface="Arial"/>
            </a:endParaRPr>
          </a:p>
        </p:txBody>
      </p:sp>
      <p:sp>
        <p:nvSpPr>
          <p:cNvPr id="292" name="TextBox 10"/>
          <p:cNvSpPr/>
          <p:nvPr/>
        </p:nvSpPr>
        <p:spPr>
          <a:xfrm>
            <a:off x="914400" y="5486400"/>
            <a:ext cx="10057320" cy="91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i="1" u="none" strike="noStrike">
                <a:solidFill>
                  <a:srgbClr val="6b655e"/>
                </a:solidFill>
                <a:effectLst/>
                <a:uFillTx/>
                <a:latin typeface="Calibri"/>
              </a:rPr>
              <a:t>Beide hooks zijn informatief (ze blokkeren niet) en worden automatisch geinstalleerd.</a:t>
            </a:r>
            <a:br>
              <a:rPr sz="1800"/>
            </a:br>
            <a:r>
              <a:rPr lang="en-US" sz="1800" b="0" i="1" u="none" strike="noStrike">
                <a:solidFill>
                  <a:srgbClr val="6b655e"/>
                </a:solidFill>
                <a:effectLst/>
                <a:uFillTx/>
                <a:latin typeface="Calibri"/>
              </a:rPr>
              <a:t>Dit zijn mechanische checks die onafhankelijk van de AI draaien.</a:t>
            </a:r>
            <a:endParaRPr lang="en-US" sz="18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293"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94"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rgbClr val="4a4540"/>
                </a:solidFill>
                <a:effectLst/>
                <a:uFillTx/>
                <a:latin typeface="Calibri"/>
              </a:rPr>
              <a:t>Hoe ANVIL context rot minimaliseert</a:t>
            </a:r>
            <a:endParaRPr lang="en-US" sz="3600" b="0" u="none" strike="noStrike">
              <a:solidFill>
                <a:srgbClr val="000000"/>
              </a:solidFill>
              <a:effectLst/>
              <a:uFillTx/>
              <a:latin typeface="Arial"/>
            </a:endParaRPr>
          </a:p>
        </p:txBody>
      </p:sp>
      <p:sp>
        <p:nvSpPr>
          <p:cNvPr id="295" name="Rounded Rectangle 3"/>
          <p:cNvSpPr/>
          <p:nvPr/>
        </p:nvSpPr>
        <p:spPr>
          <a:xfrm>
            <a:off x="914400" y="1645920"/>
            <a:ext cx="3290760" cy="2559240"/>
          </a:xfrm>
          <a:prstGeom prst="roundRect">
            <a:avLst>
              <a:gd name="adj" fmla="val 16667"/>
            </a:avLst>
          </a:prstGeom>
          <a:solidFill>
            <a:srgbClr val="ffffff"/>
          </a:solidFill>
          <a:ln w="1905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96" name="Oval 4"/>
          <p:cNvSpPr/>
          <p:nvPr/>
        </p:nvSpPr>
        <p:spPr>
          <a:xfrm>
            <a:off x="1097280" y="1828800"/>
            <a:ext cx="456120" cy="45612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800" b="1" u="none" strike="noStrike">
                <a:solidFill>
                  <a:srgbClr val="ffffff"/>
                </a:solidFill>
                <a:effectLst/>
                <a:uFillTx/>
                <a:latin typeface="Calibri"/>
              </a:rPr>
              <a:t>1</a:t>
            </a:r>
            <a:endParaRPr lang="en-US" sz="1800" b="0" u="none" strike="noStrike">
              <a:solidFill>
                <a:srgbClr val="ffffff"/>
              </a:solidFill>
              <a:effectLst/>
              <a:uFillTx/>
              <a:latin typeface="Arial"/>
            </a:endParaRPr>
          </a:p>
        </p:txBody>
      </p:sp>
      <p:sp>
        <p:nvSpPr>
          <p:cNvPr id="297" name="TextBox 5"/>
          <p:cNvSpPr/>
          <p:nvPr/>
        </p:nvSpPr>
        <p:spPr>
          <a:xfrm>
            <a:off x="1645920" y="1828800"/>
            <a:ext cx="22849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4a4540"/>
                </a:solidFill>
                <a:effectLst/>
                <a:uFillTx/>
                <a:latin typeface="Calibri"/>
              </a:rPr>
              <a:t>State op disk</a:t>
            </a:r>
            <a:endParaRPr lang="en-US" sz="2000" b="0" u="none" strike="noStrike">
              <a:solidFill>
                <a:srgbClr val="000000"/>
              </a:solidFill>
              <a:effectLst/>
              <a:uFillTx/>
              <a:latin typeface="Arial"/>
            </a:endParaRPr>
          </a:p>
        </p:txBody>
      </p:sp>
      <p:sp>
        <p:nvSpPr>
          <p:cNvPr id="298" name="TextBox 6"/>
          <p:cNvSpPr/>
          <p:nvPr/>
        </p:nvSpPr>
        <p:spPr>
          <a:xfrm>
            <a:off x="1188720" y="2468880"/>
            <a:ext cx="274212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4a4540"/>
                </a:solidFill>
                <a:effectLst/>
                <a:uFillTx/>
                <a:latin typeface="Calibri"/>
              </a:rPr>
              <a:t>Lifecycle state afgeleid uit</a:t>
            </a:r>
            <a:br>
              <a:rPr sz="1600"/>
            </a:br>
            <a:r>
              <a:rPr lang="en-US" sz="1600" b="0" u="none" strike="noStrike">
                <a:solidFill>
                  <a:srgbClr val="4a4540"/>
                </a:solidFill>
                <a:effectLst/>
                <a:uFillTx/>
                <a:latin typeface="Calibri"/>
              </a:rPr>
              <a:t>bestanden, niet uit geheugen.</a:t>
            </a:r>
            <a:br>
              <a:rPr sz="1600"/>
            </a:br>
            <a:r>
              <a:rPr lang="en-US" sz="1600" b="0" u="none" strike="noStrike">
                <a:solidFill>
                  <a:srgbClr val="4a4540"/>
                </a:solidFill>
                <a:effectLst/>
                <a:uFillTx/>
                <a:latin typeface="Calibri"/>
              </a:rPr>
              <a:t>Session handoff bij einde sessie.</a:t>
            </a:r>
            <a:endParaRPr lang="en-US" sz="1600" b="0" u="none" strike="noStrike">
              <a:solidFill>
                <a:srgbClr val="000000"/>
              </a:solidFill>
              <a:effectLst/>
              <a:uFillTx/>
              <a:latin typeface="Arial"/>
            </a:endParaRPr>
          </a:p>
        </p:txBody>
      </p:sp>
      <p:sp>
        <p:nvSpPr>
          <p:cNvPr id="299" name="Rounded Rectangle 7"/>
          <p:cNvSpPr/>
          <p:nvPr/>
        </p:nvSpPr>
        <p:spPr>
          <a:xfrm>
            <a:off x="4663440" y="1645920"/>
            <a:ext cx="3290760" cy="2559240"/>
          </a:xfrm>
          <a:prstGeom prst="roundRect">
            <a:avLst>
              <a:gd name="adj" fmla="val 16667"/>
            </a:avLst>
          </a:prstGeom>
          <a:solidFill>
            <a:srgbClr val="ffffff"/>
          </a:solidFill>
          <a:ln w="1905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00" name="Oval 8"/>
          <p:cNvSpPr/>
          <p:nvPr/>
        </p:nvSpPr>
        <p:spPr>
          <a:xfrm>
            <a:off x="4846320" y="1828800"/>
            <a:ext cx="456120" cy="45612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800" b="1" u="none" strike="noStrike">
                <a:solidFill>
                  <a:srgbClr val="ffffff"/>
                </a:solidFill>
                <a:effectLst/>
                <a:uFillTx/>
                <a:latin typeface="Calibri"/>
              </a:rPr>
              <a:t>2</a:t>
            </a:r>
            <a:endParaRPr lang="en-US" sz="1800" b="0" u="none" strike="noStrike">
              <a:solidFill>
                <a:srgbClr val="ffffff"/>
              </a:solidFill>
              <a:effectLst/>
              <a:uFillTx/>
              <a:latin typeface="Arial"/>
            </a:endParaRPr>
          </a:p>
        </p:txBody>
      </p:sp>
      <p:sp>
        <p:nvSpPr>
          <p:cNvPr id="301" name="TextBox 9"/>
          <p:cNvSpPr/>
          <p:nvPr/>
        </p:nvSpPr>
        <p:spPr>
          <a:xfrm>
            <a:off x="5394960" y="1828800"/>
            <a:ext cx="22849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4a4540"/>
                </a:solidFill>
                <a:effectLst/>
                <a:uFillTx/>
                <a:latin typeface="Calibri"/>
              </a:rPr>
              <a:t>Kleine, gefocuste agents</a:t>
            </a:r>
            <a:endParaRPr lang="en-US" sz="2000" b="0" u="none" strike="noStrike">
              <a:solidFill>
                <a:srgbClr val="000000"/>
              </a:solidFill>
              <a:effectLst/>
              <a:uFillTx/>
              <a:latin typeface="Arial"/>
            </a:endParaRPr>
          </a:p>
        </p:txBody>
      </p:sp>
      <p:sp>
        <p:nvSpPr>
          <p:cNvPr id="302" name="TextBox 10"/>
          <p:cNvSpPr/>
          <p:nvPr/>
        </p:nvSpPr>
        <p:spPr>
          <a:xfrm>
            <a:off x="4937760" y="2468880"/>
            <a:ext cx="274212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4a4540"/>
                </a:solidFill>
                <a:effectLst/>
                <a:uFillTx/>
                <a:latin typeface="Calibri"/>
              </a:rPr>
              <a:t>Elke agent krijgt alleen wat</a:t>
            </a:r>
            <a:br>
              <a:rPr sz="1600"/>
            </a:br>
            <a:r>
              <a:rPr lang="en-US" sz="1600" b="0" u="none" strike="noStrike">
                <a:solidFill>
                  <a:srgbClr val="4a4540"/>
                </a:solidFill>
                <a:effectLst/>
                <a:uFillTx/>
                <a:latin typeface="Calibri"/>
              </a:rPr>
              <a:t>hij nodig heeft. Kort window =</a:t>
            </a:r>
            <a:br>
              <a:rPr sz="1600"/>
            </a:br>
            <a:r>
              <a:rPr lang="en-US" sz="1600" b="0" u="none" strike="noStrike">
                <a:solidFill>
                  <a:srgbClr val="4a4540"/>
                </a:solidFill>
                <a:effectLst/>
                <a:uFillTx/>
                <a:latin typeface="Calibri"/>
              </a:rPr>
              <a:t>minder attention decay.</a:t>
            </a:r>
            <a:endParaRPr lang="en-US" sz="1600" b="0" u="none" strike="noStrike">
              <a:solidFill>
                <a:srgbClr val="000000"/>
              </a:solidFill>
              <a:effectLst/>
              <a:uFillTx/>
              <a:latin typeface="Arial"/>
            </a:endParaRPr>
          </a:p>
        </p:txBody>
      </p:sp>
      <p:sp>
        <p:nvSpPr>
          <p:cNvPr id="303" name="Rounded Rectangle 11"/>
          <p:cNvSpPr/>
          <p:nvPr/>
        </p:nvSpPr>
        <p:spPr>
          <a:xfrm>
            <a:off x="8412480" y="1645920"/>
            <a:ext cx="3290760" cy="2559240"/>
          </a:xfrm>
          <a:prstGeom prst="roundRect">
            <a:avLst>
              <a:gd name="adj" fmla="val 16667"/>
            </a:avLst>
          </a:prstGeom>
          <a:solidFill>
            <a:srgbClr val="ffffff"/>
          </a:solidFill>
          <a:ln w="1905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04" name="Oval 12"/>
          <p:cNvSpPr/>
          <p:nvPr/>
        </p:nvSpPr>
        <p:spPr>
          <a:xfrm>
            <a:off x="8595360" y="1828800"/>
            <a:ext cx="456120" cy="456120"/>
          </a:xfrm>
          <a:prstGeom prst="ellipse">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800" b="1" u="none" strike="noStrike">
                <a:solidFill>
                  <a:srgbClr val="ffffff"/>
                </a:solidFill>
                <a:effectLst/>
                <a:uFillTx/>
                <a:latin typeface="Calibri"/>
              </a:rPr>
              <a:t>3</a:t>
            </a:r>
            <a:endParaRPr lang="en-US" sz="1800" b="0" u="none" strike="noStrike">
              <a:solidFill>
                <a:srgbClr val="ffffff"/>
              </a:solidFill>
              <a:effectLst/>
              <a:uFillTx/>
              <a:latin typeface="Arial"/>
            </a:endParaRPr>
          </a:p>
        </p:txBody>
      </p:sp>
      <p:sp>
        <p:nvSpPr>
          <p:cNvPr id="305" name="TextBox 13"/>
          <p:cNvSpPr/>
          <p:nvPr/>
        </p:nvSpPr>
        <p:spPr>
          <a:xfrm>
            <a:off x="9144000" y="1828800"/>
            <a:ext cx="2284920" cy="45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000" b="1" u="none" strike="noStrike">
                <a:solidFill>
                  <a:srgbClr val="4a4540"/>
                </a:solidFill>
                <a:effectLst/>
                <a:uFillTx/>
                <a:latin typeface="Calibri"/>
              </a:rPr>
              <a:t>Mechanische bewaking</a:t>
            </a:r>
            <a:endParaRPr lang="en-US" sz="2000" b="0" u="none" strike="noStrike">
              <a:solidFill>
                <a:srgbClr val="000000"/>
              </a:solidFill>
              <a:effectLst/>
              <a:uFillTx/>
              <a:latin typeface="Arial"/>
            </a:endParaRPr>
          </a:p>
        </p:txBody>
      </p:sp>
      <p:sp>
        <p:nvSpPr>
          <p:cNvPr id="306" name="TextBox 14"/>
          <p:cNvSpPr/>
          <p:nvPr/>
        </p:nvSpPr>
        <p:spPr>
          <a:xfrm>
            <a:off x="8686800" y="2468880"/>
            <a:ext cx="2742120" cy="1370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4a4540"/>
                </a:solidFill>
                <a:effectLst/>
                <a:uFillTx/>
                <a:latin typeface="Calibri"/>
              </a:rPr>
              <a:t>Hooks vangen fouten door</a:t>
            </a:r>
            <a:br>
              <a:rPr sz="1600"/>
            </a:br>
            <a:r>
              <a:rPr lang="en-US" sz="1600" b="0" u="none" strike="noStrike">
                <a:solidFill>
                  <a:srgbClr val="4a4540"/>
                </a:solidFill>
                <a:effectLst/>
                <a:uFillTx/>
                <a:latin typeface="Calibri"/>
              </a:rPr>
              <a:t>context rot op het moment</a:t>
            </a:r>
            <a:br>
              <a:rPr sz="1600"/>
            </a:br>
            <a:r>
              <a:rPr lang="en-US" sz="1600" b="0" u="none" strike="noStrike">
                <a:solidFill>
                  <a:srgbClr val="4a4540"/>
                </a:solidFill>
                <a:effectLst/>
                <a:uFillTx/>
                <a:latin typeface="Calibri"/>
              </a:rPr>
              <a:t>dat ze gebeuren.</a:t>
            </a:r>
            <a:endParaRPr lang="en-US" sz="1600" b="0" u="none" strike="noStrike">
              <a:solidFill>
                <a:srgbClr val="000000"/>
              </a:solidFill>
              <a:effectLst/>
              <a:uFillTx/>
              <a:latin typeface="Arial"/>
            </a:endParaRPr>
          </a:p>
        </p:txBody>
      </p:sp>
      <p:graphicFrame>
        <p:nvGraphicFramePr>
          <p:cNvPr id="307" name="Table 15"/>
          <p:cNvGraphicFramePr/>
          <p:nvPr/>
        </p:nvGraphicFramePr>
        <p:xfrm>
          <a:off x="914400" y="4572000"/>
          <a:ext cx="10058040" cy="2101680"/>
        </p:xfrm>
        <a:graphic>
          <a:graphicData uri="http://schemas.openxmlformats.org/drawingml/2006/table">
            <a:tbl>
              <a:tblPr/>
              <a:tblGrid>
                <a:gridCol w="5029200"/>
                <a:gridCol w="5029200"/>
              </a:tblGrid>
              <a:tr h="350280">
                <a:tc>
                  <a:txBody>
                    <a:bodyPr anchor="t">
                      <a:noAutofit/>
                    </a:bodyPr>
                    <a:p>
                      <a:pPr defTabSz="457200">
                        <a:lnSpc>
                          <a:spcPct val="100000"/>
                        </a:lnSpc>
                      </a:pPr>
                      <a:r>
                        <a:rPr lang="en-US" sz="1400" b="1" u="none" strike="noStrike">
                          <a:solidFill>
                            <a:srgbClr val="ffffff"/>
                          </a:solidFill>
                          <a:effectLst/>
                          <a:uFillTx/>
                          <a:latin typeface="Calibri"/>
                        </a:rPr>
                        <a:t>Context rot probleem</a:t>
                      </a:r>
                      <a:endParaRPr lang="en-US"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3d8b6b"/>
                    </a:solidFill>
                  </a:tcPr>
                </a:tc>
                <a:tc>
                  <a:txBody>
                    <a:bodyPr anchor="t">
                      <a:noAutofit/>
                    </a:bodyPr>
                    <a:p>
                      <a:pPr defTabSz="457200">
                        <a:lnSpc>
                          <a:spcPct val="100000"/>
                        </a:lnSpc>
                      </a:pPr>
                      <a:r>
                        <a:rPr lang="en-US" sz="1400" b="1" u="none" strike="noStrike">
                          <a:solidFill>
                            <a:srgbClr val="ffffff"/>
                          </a:solidFill>
                          <a:effectLst/>
                          <a:uFillTx/>
                          <a:latin typeface="Calibri"/>
                        </a:rPr>
                        <a:t>ANVIL oplossing</a:t>
                      </a:r>
                      <a:endParaRPr lang="en-US"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3d8b6b"/>
                    </a:solidFill>
                  </a:tcPr>
                </a:tc>
              </a:tr>
              <a:tr h="350280">
                <a:tc>
                  <a:txBody>
                    <a:bodyPr anchor="t">
                      <a:noAutofit/>
                    </a:bodyPr>
                    <a:p>
                      <a:pPr defTabSz="457200">
                        <a:lnSpc>
                          <a:spcPct val="100000"/>
                        </a:lnSpc>
                      </a:pPr>
                      <a:r>
                        <a:rPr lang="en-US" sz="1400" b="0" u="none" strike="noStrike">
                          <a:solidFill>
                            <a:srgbClr val="4a4540"/>
                          </a:solidFill>
                          <a:effectLst/>
                          <a:uFillTx/>
                          <a:latin typeface="Calibri"/>
                        </a:rPr>
                        <a:t>Sessiewissel verliest voortgang</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400" b="0" u="none" strike="noStrike">
                          <a:solidFill>
                            <a:srgbClr val="4a4540"/>
                          </a:solidFill>
                          <a:effectLst/>
                          <a:uFillTx/>
                          <a:latin typeface="Calibri"/>
                        </a:rPr>
                        <a:t>Session handoff + state op disk</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50280">
                <a:tc>
                  <a:txBody>
                    <a:bodyPr anchor="t">
                      <a:noAutofit/>
                    </a:bodyPr>
                    <a:p>
                      <a:pPr defTabSz="457200">
                        <a:lnSpc>
                          <a:spcPct val="100000"/>
                        </a:lnSpc>
                      </a:pPr>
                      <a:r>
                        <a:rPr lang="en-US" sz="1400" b="0" u="none" strike="noStrike">
                          <a:solidFill>
                            <a:srgbClr val="4a4540"/>
                          </a:solidFill>
                          <a:effectLst/>
                          <a:uFillTx/>
                          <a:latin typeface="Calibri"/>
                        </a:rPr>
                        <a:t>Lang window; attention decay</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f0ec"/>
                    </a:solidFill>
                  </a:tcPr>
                </a:tc>
                <a:tc>
                  <a:txBody>
                    <a:bodyPr anchor="t">
                      <a:noAutofit/>
                    </a:bodyPr>
                    <a:p>
                      <a:pPr defTabSz="457200">
                        <a:lnSpc>
                          <a:spcPct val="100000"/>
                        </a:lnSpc>
                      </a:pPr>
                      <a:r>
                        <a:rPr lang="en-US" sz="1400" b="0" u="none" strike="noStrike">
                          <a:solidFill>
                            <a:srgbClr val="4a4540"/>
                          </a:solidFill>
                          <a:effectLst/>
                          <a:uFillTx/>
                          <a:latin typeface="Calibri"/>
                        </a:rPr>
                        <a:t>Kleine agents met gefocuste context</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f0ec"/>
                    </a:solidFill>
                  </a:tcPr>
                </a:tc>
              </a:tr>
              <a:tr h="350280">
                <a:tc>
                  <a:txBody>
                    <a:bodyPr anchor="t">
                      <a:noAutofit/>
                    </a:bodyPr>
                    <a:p>
                      <a:pPr defTabSz="457200">
                        <a:lnSpc>
                          <a:spcPct val="100000"/>
                        </a:lnSpc>
                      </a:pPr>
                      <a:r>
                        <a:rPr lang="en-US" sz="1400" b="0" u="none" strike="noStrike">
                          <a:solidFill>
                            <a:srgbClr val="4a4540"/>
                          </a:solidFill>
                          <a:effectLst/>
                          <a:uFillTx/>
                          <a:latin typeface="Calibri"/>
                        </a:rPr>
                        <a:t>AI vergeet eigen regels</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400" b="0" u="none" strike="noStrike">
                          <a:solidFill>
                            <a:srgbClr val="4a4540"/>
                          </a:solidFill>
                          <a:effectLst/>
                          <a:uFillTx/>
                          <a:latin typeface="Calibri"/>
                        </a:rPr>
                        <a:t>Hooks onafhankelijk van de AI</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50280">
                <a:tc>
                  <a:txBody>
                    <a:bodyPr anchor="t">
                      <a:noAutofit/>
                    </a:bodyPr>
                    <a:p>
                      <a:pPr defTabSz="457200">
                        <a:lnSpc>
                          <a:spcPct val="100000"/>
                        </a:lnSpc>
                      </a:pPr>
                      <a:r>
                        <a:rPr lang="en-US" sz="1400" b="0" u="none" strike="noStrike">
                          <a:solidFill>
                            <a:srgbClr val="4a4540"/>
                          </a:solidFill>
                          <a:effectLst/>
                          <a:uFillTx/>
                          <a:latin typeface="Calibri"/>
                        </a:rPr>
                        <a:t>AI herhaalt afgewezen keuzes</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f0ec"/>
                    </a:solidFill>
                  </a:tcPr>
                </a:tc>
                <a:tc>
                  <a:txBody>
                    <a:bodyPr anchor="t">
                      <a:noAutofit/>
                    </a:bodyPr>
                    <a:p>
                      <a:pPr defTabSz="457200">
                        <a:lnSpc>
                          <a:spcPct val="100000"/>
                        </a:lnSpc>
                      </a:pPr>
                      <a:r>
                        <a:rPr lang="en-US" sz="1400" b="0" u="none" strike="noStrike">
                          <a:solidFill>
                            <a:srgbClr val="4a4540"/>
                          </a:solidFill>
                          <a:effectLst/>
                          <a:uFillTx/>
                          <a:latin typeface="Calibri"/>
                        </a:rPr>
                        <a:t>ADRs geladen in elke agent prompt</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f0ec"/>
                    </a:solidFill>
                  </a:tcPr>
                </a:tc>
              </a:tr>
              <a:tr h="350280">
                <a:tc>
                  <a:txBody>
                    <a:bodyPr anchor="t">
                      <a:noAutofit/>
                    </a:bodyPr>
                    <a:p>
                      <a:pPr defTabSz="457200">
                        <a:lnSpc>
                          <a:spcPct val="100000"/>
                        </a:lnSpc>
                      </a:pPr>
                      <a:r>
                        <a:rPr lang="en-US" sz="1400" b="0" u="none" strike="noStrike">
                          <a:solidFill>
                            <a:srgbClr val="4a4540"/>
                          </a:solidFill>
                          <a:effectLst/>
                          <a:uFillTx/>
                          <a:latin typeface="Calibri"/>
                        </a:rPr>
                        <a:t>Scope creep</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400" b="0" u="none" strike="noStrike">
                          <a:solidFill>
                            <a:srgbClr val="4a4540"/>
                          </a:solidFill>
                          <a:effectLst/>
                          <a:uFillTx/>
                          <a:latin typeface="Calibri"/>
                        </a:rPr>
                        <a:t>ADR Watch detecteert out-of-plan edits</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vortex/>
      </p:transition>
    </mc:Choice>
    <mc:Fallback>
      <p:transition spd="slow">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d"/>
        </a:solidFill>
      </p:bgPr>
    </p:bg>
    <p:spTree>
      <p:nvGrpSpPr>
        <p:cNvPr id="1" name=""/>
        <p:cNvGrpSpPr/>
        <p:nvPr/>
      </p:nvGrpSpPr>
      <p:grpSpPr>
        <a:xfrm>
          <a:off x="0" y="0"/>
          <a:ext cx="0" cy="0"/>
          <a:chOff x="0" y="0"/>
          <a:chExt cx="0" cy="0"/>
        </a:xfrm>
      </p:grpSpPr>
      <p:sp>
        <p:nvSpPr>
          <p:cNvPr id="308" name="Rectangle 1"/>
          <p:cNvSpPr/>
          <p:nvPr/>
        </p:nvSpPr>
        <p:spPr>
          <a:xfrm>
            <a:off x="0" y="0"/>
            <a:ext cx="12190680" cy="72000"/>
          </a:xfrm>
          <a:prstGeom prst="rect">
            <a:avLst/>
          </a:prstGeom>
          <a:solidFill>
            <a:srgbClr val="3d8b6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09" name="TextBox 2"/>
          <p:cNvSpPr/>
          <p:nvPr/>
        </p:nvSpPr>
        <p:spPr>
          <a:xfrm>
            <a:off x="914400" y="457200"/>
            <a:ext cx="10057320" cy="730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800" b="1" u="none" strike="noStrike">
                <a:solidFill>
                  <a:srgbClr val="4a4540"/>
                </a:solidFill>
                <a:effectLst/>
                <a:uFillTx/>
                <a:latin typeface="Calibri"/>
              </a:rPr>
              <a:t>De kern blijft</a:t>
            </a:r>
            <a:endParaRPr lang="en-US" sz="3800" b="0" u="none" strike="noStrike">
              <a:solidFill>
                <a:srgbClr val="000000"/>
              </a:solidFill>
              <a:effectLst/>
              <a:uFillTx/>
              <a:latin typeface="Arial"/>
            </a:endParaRPr>
          </a:p>
        </p:txBody>
      </p:sp>
      <p:sp>
        <p:nvSpPr>
          <p:cNvPr id="310" name="Rounded Rectangle 3"/>
          <p:cNvSpPr/>
          <p:nvPr/>
        </p:nvSpPr>
        <p:spPr>
          <a:xfrm>
            <a:off x="1371600" y="1828800"/>
            <a:ext cx="9142920" cy="2742120"/>
          </a:xfrm>
          <a:prstGeom prst="roundRect">
            <a:avLst>
              <a:gd name="adj" fmla="val 16667"/>
            </a:avLst>
          </a:prstGeom>
          <a:solidFill>
            <a:srgbClr val="ffffff"/>
          </a:solidFill>
          <a:ln w="25400">
            <a:solidFill>
              <a:srgbClr val="3d8b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11" name="TextBox 4"/>
          <p:cNvSpPr/>
          <p:nvPr/>
        </p:nvSpPr>
        <p:spPr>
          <a:xfrm>
            <a:off x="1828800" y="2286000"/>
            <a:ext cx="8228520" cy="1370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2600" b="0" u="none" strike="noStrike">
                <a:solidFill>
                  <a:srgbClr val="4a4540"/>
                </a:solidFill>
                <a:effectLst/>
                <a:uFillTx/>
                <a:latin typeface="Calibri"/>
              </a:rPr>
              <a:t>ANVIL automatiseert de flow, maar de principes zijn dezelfde:</a:t>
            </a:r>
            <a:br>
              <a:rPr sz="2600"/>
            </a:br>
            <a:r>
              <a:rPr lang="en-US" sz="2600" b="0" u="none" strike="noStrike">
                <a:solidFill>
                  <a:srgbClr val="4a4540"/>
                </a:solidFill>
                <a:effectLst/>
                <a:uFillTx/>
                <a:latin typeface="Calibri"/>
              </a:rPr>
              <a:t>PRDs, plannen, tests en beslissingen; vastgelegd in bestanden</a:t>
            </a:r>
            <a:br>
              <a:rPr sz="2600"/>
            </a:br>
            <a:r>
              <a:rPr lang="en-US" sz="2600" b="0" u="none" strike="noStrike">
                <a:solidFill>
                  <a:srgbClr val="4a4540"/>
                </a:solidFill>
                <a:effectLst/>
                <a:uFillTx/>
                <a:latin typeface="Calibri"/>
              </a:rPr>
              <a:t>die elke sessie overleven.</a:t>
            </a:r>
            <a:endParaRPr lang="en-US" sz="2600" b="0" u="none" strike="noStrike">
              <a:solidFill>
                <a:srgbClr val="000000"/>
              </a:solidFill>
              <a:effectLst/>
              <a:uFillTx/>
              <a:latin typeface="Arial"/>
            </a:endParaRPr>
          </a:p>
        </p:txBody>
      </p:sp>
      <p:sp>
        <p:nvSpPr>
          <p:cNvPr id="312" name="TextBox 5"/>
          <p:cNvSpPr/>
          <p:nvPr/>
        </p:nvSpPr>
        <p:spPr>
          <a:xfrm>
            <a:off x="1828800" y="3474720"/>
            <a:ext cx="8228520" cy="10962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2000" b="0" u="none" strike="noStrike">
                <a:solidFill>
                  <a:srgbClr val="6b655e"/>
                </a:solidFill>
                <a:effectLst/>
                <a:uFillTx/>
                <a:latin typeface="Calibri"/>
              </a:rPr>
              <a:t>De tooling maakt het makkelijker om de discipline vol te houden,</a:t>
            </a:r>
            <a:br>
              <a:rPr sz="2000"/>
            </a:br>
            <a:r>
              <a:rPr lang="en-US" sz="2000" b="0" u="none" strike="noStrike">
                <a:solidFill>
                  <a:srgbClr val="6b655e"/>
                </a:solidFill>
                <a:effectLst/>
                <a:uFillTx/>
                <a:latin typeface="Calibri"/>
              </a:rPr>
              <a:t>maar je kunt dezelfde aanpak toepassen met elk AI-hulpmiddel</a:t>
            </a:r>
            <a:br>
              <a:rPr sz="2000"/>
            </a:br>
            <a:r>
              <a:rPr lang="en-US" sz="2000" b="0" u="none" strike="noStrike">
                <a:solidFill>
                  <a:srgbClr val="6b655e"/>
                </a:solidFill>
                <a:effectLst/>
                <a:uFillTx/>
                <a:latin typeface="Calibri"/>
              </a:rPr>
              <a:t>en een teksteditor.</a:t>
            </a:r>
            <a:endParaRPr lang="en-US" sz="2000" b="0" u="none" strike="noStrike">
              <a:solidFill>
                <a:srgbClr val="000000"/>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d8b6b"/>
        </a:solidFill>
      </p:bgPr>
    </p:bg>
    <p:spTree>
      <p:nvGrpSpPr>
        <p:cNvPr id="1" name=""/>
        <p:cNvGrpSpPr/>
        <p:nvPr/>
      </p:nvGrpSpPr>
      <p:grpSpPr>
        <a:xfrm>
          <a:off x="0" y="0"/>
          <a:ext cx="0" cy="0"/>
          <a:chOff x="0" y="0"/>
          <a:chExt cx="0" cy="0"/>
        </a:xfrm>
      </p:grpSpPr>
      <p:sp>
        <p:nvSpPr>
          <p:cNvPr id="313" name="TextBox 1"/>
          <p:cNvSpPr/>
          <p:nvPr/>
        </p:nvSpPr>
        <p:spPr>
          <a:xfrm>
            <a:off x="1371600" y="1371600"/>
            <a:ext cx="9142920" cy="1096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800" b="1" u="none" strike="noStrike">
                <a:solidFill>
                  <a:srgbClr val="ffffff"/>
                </a:solidFill>
                <a:effectLst/>
                <a:uFillTx/>
                <a:latin typeface="Calibri"/>
              </a:rPr>
              <a:t>Discussie / Q&amp;A</a:t>
            </a:r>
            <a:endParaRPr lang="en-US" sz="4800" b="0" u="none" strike="noStrike">
              <a:solidFill>
                <a:srgbClr val="ffffff"/>
              </a:solidFill>
              <a:effectLst/>
              <a:uFillTx/>
              <a:latin typeface="Arial"/>
            </a:endParaRPr>
          </a:p>
        </p:txBody>
      </p:sp>
      <p:sp>
        <p:nvSpPr>
          <p:cNvPr id="314" name="Rectangle 2"/>
          <p:cNvSpPr/>
          <p:nvPr/>
        </p:nvSpPr>
        <p:spPr>
          <a:xfrm>
            <a:off x="1371600" y="2743200"/>
            <a:ext cx="1827720" cy="35640"/>
          </a:xfrm>
          <a:prstGeom prst="rect">
            <a:avLst/>
          </a:prstGeom>
          <a:solidFill>
            <a:srgbClr val="c49a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8280" bIns="-82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15" name="TextBox 3"/>
          <p:cNvSpPr/>
          <p:nvPr/>
        </p:nvSpPr>
        <p:spPr>
          <a:xfrm>
            <a:off x="1371600" y="3200400"/>
            <a:ext cx="8228520" cy="2742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2001"/>
              </a:spcAft>
            </a:pPr>
            <a:r>
              <a:rPr lang="en-US" sz="2400" b="0" u="none" strike="noStrike">
                <a:solidFill>
                  <a:srgbClr val="c8ded2"/>
                </a:solidFill>
                <a:effectLst/>
                <a:uFillTx/>
                <a:latin typeface="Calibri"/>
              </a:rPr>
              <a:t>Hoe past dit in jullie huidige workflow?</a:t>
            </a:r>
            <a:endParaRPr lang="en-US" sz="2400" b="0" u="none" strike="noStrike">
              <a:solidFill>
                <a:srgbClr val="ffffff"/>
              </a:solidFill>
              <a:effectLst/>
              <a:uFillTx/>
              <a:latin typeface="Arial"/>
            </a:endParaRPr>
          </a:p>
          <a:p>
            <a:pPr defTabSz="457200">
              <a:lnSpc>
                <a:spcPct val="100000"/>
              </a:lnSpc>
              <a:spcAft>
                <a:spcPts val="2001"/>
              </a:spcAft>
            </a:pPr>
            <a:r>
              <a:rPr lang="en-US" sz="2400" b="0" u="none" strike="noStrike">
                <a:solidFill>
                  <a:srgbClr val="c8ded2"/>
                </a:solidFill>
                <a:effectLst/>
                <a:uFillTx/>
                <a:latin typeface="Calibri"/>
              </a:rPr>
              <a:t>Welke onderdelen zijn direct toepasbaar; ook zonder AI?</a:t>
            </a:r>
            <a:endParaRPr lang="en-US" sz="2400" b="0" u="none" strike="noStrike">
              <a:solidFill>
                <a:srgbClr val="ffffff"/>
              </a:solidFill>
              <a:effectLst/>
              <a:uFillTx/>
              <a:latin typeface="Arial"/>
            </a:endParaRPr>
          </a:p>
          <a:p>
            <a:pPr defTabSz="457200">
              <a:lnSpc>
                <a:spcPct val="100000"/>
              </a:lnSpc>
              <a:spcAft>
                <a:spcPts val="2001"/>
              </a:spcAft>
            </a:pPr>
            <a:r>
              <a:rPr lang="en-US" sz="2400" b="0" u="none" strike="noStrike">
                <a:solidFill>
                  <a:srgbClr val="c8ded2"/>
                </a:solidFill>
                <a:effectLst/>
                <a:uFillTx/>
                <a:latin typeface="Calibri"/>
              </a:rPr>
              <a:t>Wat is de overhead vs. de tijdsbesparing?</a:t>
            </a:r>
            <a:endParaRPr lang="en-US" sz="2400" b="0" u="none" strike="noStrike">
              <a:solidFill>
                <a:srgbClr val="ffffff"/>
              </a:solidFill>
              <a:effectLst/>
              <a:uFillTx/>
              <a:latin typeface="Arial"/>
            </a:endParaRPr>
          </a:p>
        </p:txBody>
      </p:sp>
    </p:spTree>
  </p:cSld>
  <mc:AlternateContent>
    <mc:Choice Requires="p14">
      <p:transition spd="slow">
        <p14:vortex/>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TotalTime>
  <Application>LibreOffice/25.8.5.2$Linux_X86_64 LibreOffice_project/580$Build-2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2026-03-25T16:48:02Z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